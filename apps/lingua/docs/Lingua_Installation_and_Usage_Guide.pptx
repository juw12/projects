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" y="1737360"/>
            <a:ext cx="1097280" cy="1097280"/>
          </a:xfrm>
          <a:prstGeom prst="ellipse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4800" b="1">
                <a:solidFill>
                  <a:srgbClr val="FFFFFF"/>
                </a:solidFill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0" y="1600200"/>
            <a:ext cx="64008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Segoe UI"/>
              </a:rPr>
              <a:t>Lingua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94560" y="2514600"/>
            <a:ext cx="6400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7DD3FC"/>
                </a:solidFill>
                <a:latin typeface="Segoe UI"/>
              </a:rPr>
              <a:t>Installation &amp; Usage Guide  ·  Windows · v2.3.1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71323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Translate live Teams captions, typed text and pictures —</a:t>
            </a:r>
          </a:p>
          <a:p>
            <a:pPr algn="l">
              <a:spcAft>
                <a:spcPts val="600"/>
              </a:spcAft>
            </a:pPr>
            <a:r>
              <a:rPr sz="2000" b="0">
                <a:solidFill>
                  <a:srgbClr val="FFFFFF"/>
                </a:solidFill>
                <a:latin typeface="Segoe UI"/>
              </a:rPr>
              <a:t>English · 繁體中文 · Bahasa Indonesia and more.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852160"/>
            <a:ext cx="71323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Prepared by Juwen Lie</a:t>
            </a:r>
          </a:p>
        </p:txBody>
      </p:sp>
      <p:pic>
        <p:nvPicPr>
          <p:cNvPr id="8" name="Picture 7" descr="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901041"/>
            <a:ext cx="3566160" cy="3147358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What Lingua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09728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7DD3FC"/>
                </a:solidFill>
                <a:latin typeface="Segoe U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Lingua 2.3.1  ·  Installation &amp; Usage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51760" cy="2194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2860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E86D4"/>
                </a:solidFill>
                <a:latin typeface="Segoe UI"/>
              </a:rPr>
              <a:t>Live captions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Reads the Microsoft Teams live-caption strip and shows it translated, as people talk.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1371600"/>
            <a:ext cx="2651760" cy="2194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1508760"/>
            <a:ext cx="22860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E86D4"/>
                </a:solidFill>
                <a:latin typeface="Segoe UI"/>
              </a:rPr>
              <a:t>Text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Paste or type text → translation with tone, context, glossary, alternatives &amp; word notes.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1371600"/>
            <a:ext cx="2651760" cy="2194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64224" y="1508760"/>
            <a:ext cx="22860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E86D4"/>
                </a:solidFill>
                <a:latin typeface="Segoe UI"/>
              </a:rPr>
              <a:t>Read picture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Photo, screenshot or screen area → the text in it (OCR), optionally translated.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43416" y="1371600"/>
            <a:ext cx="2651760" cy="2194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26296" y="1508760"/>
            <a:ext cx="228600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E86D4"/>
                </a:solidFill>
                <a:latin typeface="Segoe UI"/>
              </a:rPr>
              <a:t>Phone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Scan a QR code to use your phone camera; the API key stays on the laptop.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31920"/>
            <a:ext cx="10972800" cy="2377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700" b="1">
                <a:solidFill>
                  <a:srgbClr val="1F2937"/>
                </a:solidFill>
                <a:latin typeface="Segoe UI"/>
              </a:rPr>
              <a:t>Languages: </a:t>
            </a:r>
            <a:r>
              <a:rPr sz="1700" b="0">
                <a:solidFill>
                  <a:srgbClr val="1F2937"/>
                </a:solidFill>
                <a:latin typeface="Segoe UI"/>
              </a:rPr>
              <a:t>Auto-detect, English, 繁體中文, Bahasa Indonesia (16 targets for pictures).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700" b="1">
                <a:solidFill>
                  <a:srgbClr val="1F2937"/>
                </a:solidFill>
                <a:latin typeface="Segoe UI"/>
              </a:rPr>
              <a:t>Engines: </a:t>
            </a:r>
            <a:r>
              <a:rPr sz="1700" b="0">
                <a:solidFill>
                  <a:srgbClr val="1F2937"/>
                </a:solidFill>
                <a:latin typeface="Segoe UI"/>
              </a:rPr>
              <a:t>company AI models first → local AI on your PC (Ollama, optional) → offline packs.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700" b="1">
                <a:solidFill>
                  <a:srgbClr val="1F2937"/>
                </a:solidFill>
                <a:latin typeface="Segoe UI"/>
              </a:rPr>
              <a:t>Privacy: </a:t>
            </a:r>
            <a:r>
              <a:rPr sz="1700" b="0">
                <a:solidFill>
                  <a:srgbClr val="1F2937"/>
                </a:solidFill>
                <a:latin typeface="Segoe UI"/>
              </a:rPr>
              <a:t>online services (Google/MyMemory) are OFF by default; nothing typed in Text is saved.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700" b="1">
                <a:solidFill>
                  <a:srgbClr val="1F2937"/>
                </a:solidFill>
                <a:latin typeface="Segoe UI"/>
              </a:rPr>
              <a:t>Updates: </a:t>
            </a:r>
            <a:r>
              <a:rPr sz="1700" b="0">
                <a:solidFill>
                  <a:srgbClr val="1F2937"/>
                </a:solidFill>
                <a:latin typeface="Segoe UI"/>
              </a:rPr>
              <a:t>built-in — Lingua checks GitHub on start and every 4 h; one click to update.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Before you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09728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7DD3FC"/>
                </a:solidFill>
                <a:latin typeface="Segoe UI"/>
              </a:rPr>
              <a:t>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Lingua 2.3.1  ·  Installation &amp; Usage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6858000" cy="5029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700" b="1">
                <a:solidFill>
                  <a:srgbClr val="1F2937"/>
                </a:solidFill>
                <a:latin typeface="Segoe UI"/>
              </a:rPr>
              <a:t>Windows 10 / 11 laptop. </a:t>
            </a:r>
            <a:r>
              <a:rPr sz="1700" b="0">
                <a:solidFill>
                  <a:srgbClr val="1F2937"/>
                </a:solidFill>
                <a:latin typeface="Segoe UI"/>
              </a:rPr>
              <a:t>No admin rights and no Python needed.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700" b="1">
                <a:solidFill>
                  <a:srgbClr val="1F2937"/>
                </a:solidFill>
                <a:latin typeface="Segoe UI"/>
              </a:rPr>
              <a:t>Office network or VPN. </a:t>
            </a:r>
            <a:r>
              <a:rPr sz="1700" b="0">
                <a:solidFill>
                  <a:srgbClr val="1F2937"/>
                </a:solidFill>
                <a:latin typeface="Segoe UI"/>
              </a:rPr>
              <a:t>The company AI gateway is only reachable from inside.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700" b="1">
                <a:solidFill>
                  <a:srgbClr val="1F2937"/>
                </a:solidFill>
                <a:latin typeface="Segoe UI"/>
              </a:rPr>
              <a:t>lingua.env </a:t>
            </a:r>
            <a:r>
              <a:rPr sz="1700" b="0">
                <a:solidFill>
                  <a:srgbClr val="1F2937"/>
                </a:solidFill>
                <a:latin typeface="Segoe UI"/>
              </a:rPr>
              <a:t>— gateway settings file, from the first Lingua e-mail (contains NO API key).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700" b="1">
                <a:solidFill>
                  <a:srgbClr val="1F2937"/>
                </a:solidFill>
                <a:latin typeface="Segoe UI"/>
              </a:rPr>
              <a:t>Your own MaaS API key. </a:t>
            </a:r>
            <a:r>
              <a:rPr sz="1700" b="0">
                <a:solidFill>
                  <a:srgbClr val="1F2937"/>
                </a:solidFill>
                <a:latin typeface="Segoe UI"/>
              </a:rPr>
              <a:t>If you already use OpenCode with the company gateway, Lingua finds it automatically. Otherwise see 'Connect your API key'.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700" b="1">
                <a:solidFill>
                  <a:srgbClr val="1F2937"/>
                </a:solidFill>
                <a:latin typeface="Segoe UI"/>
              </a:rPr>
              <a:t>Microsoft Teams </a:t>
            </a:r>
            <a:r>
              <a:rPr sz="1700" b="0">
                <a:solidFill>
                  <a:srgbClr val="1F2937"/>
                </a:solidFill>
                <a:latin typeface="Segoe UI"/>
              </a:rPr>
              <a:t>with Live captions, for caption translation.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700" b="1">
                <a:solidFill>
                  <a:srgbClr val="1F2937"/>
                </a:solidFill>
                <a:latin typeface="Segoe UI"/>
              </a:rPr>
              <a:t>Optional: Ollama </a:t>
            </a:r>
            <a:r>
              <a:rPr sz="1700" b="0">
                <a:solidFill>
                  <a:srgbClr val="1F2937"/>
                </a:solidFill>
                <a:latin typeface="Segoe UI"/>
              </a:rPr>
              <a:t>(ollama.com) + 'ollama pull qwen3:8b' — local AI when company models are down.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371600"/>
            <a:ext cx="3931920" cy="2286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0E8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0" y="1481328"/>
            <a:ext cx="3566160" cy="2103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Download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Lingua-windows.zip on GitHub: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github.com/juw12/projects/releases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→ lingua-v2.3.1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(direct link is in the e-mail)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931920"/>
            <a:ext cx="3931920" cy="2103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4041648"/>
            <a:ext cx="356616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45309"/>
                </a:solidFill>
                <a:latin typeface="Segoe UI"/>
              </a:rPr>
              <a:t>Keep your key private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Never forward a lingua.env that has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your MAAS_API_KEY filled in —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anyone with the file can use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Install in 4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09728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7DD3FC"/>
                </a:solidFill>
                <a:latin typeface="Segoe UI"/>
              </a:rPr>
              <a:t>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Lingua 2.3.1  ·  Installation &amp; Usage Guide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280160"/>
            <a:ext cx="63550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Segoe UI"/>
              </a:rPr>
              <a:t>Download Lingua-windows.zip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Click the link in the e-mail (GitHub release lingua-v2.3.1).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68880"/>
            <a:ext cx="63550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Segoe UI"/>
              </a:rPr>
              <a:t>Unzip it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Right-click the zip → Extract All…  You get a folder called Lingua.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57600"/>
            <a:ext cx="63550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Segoe UI"/>
              </a:rPr>
              <a:t>Put lingua.env inside that folder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Save the e-mail attachment next to Lingua.exe. Keep the name exactly 'lingua.env'.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846320"/>
            <a:ext cx="63550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Segoe UI"/>
              </a:rPr>
              <a:t>Double-click 'Install Lingua.cmd'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Installs to %LOCALAPPDATA%\Programs\Lingua with Start-menu + Desktop shortcuts and an entry in Settings → Apps. Then you can delete the zip.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71600"/>
            <a:ext cx="3840480" cy="21945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481328"/>
            <a:ext cx="3474720" cy="2011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B45309"/>
                </a:solidFill>
                <a:latin typeface="Segoe UI"/>
              </a:rPr>
              <a:t>SmartScreen warning?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The app is not code-signed, so you may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see 'Windows protected your PC'.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Click  More info  →  Run anyway.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3840480"/>
            <a:ext cx="3840480" cy="210312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0E8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3950208"/>
            <a:ext cx="3474720" cy="19202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Firewall prompt?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When you use the Phone button,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Windows may ask to allow Lingua.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Allow on Private networks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What the folder should look like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09728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7DD3FC"/>
                </a:solidFill>
                <a:latin typeface="Segoe UI"/>
              </a:rPr>
              <a:t>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Lingua 2.3.1  ·  Installation &amp; Usage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6309360" cy="4297680"/>
          </a:xfrm>
          <a:prstGeom prst="roundRect">
            <a:avLst>
              <a:gd name="adj" fmla="val 4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5943600" cy="4023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7DD3FC"/>
                </a:solidFill>
                <a:latin typeface="Consolas"/>
              </a:rPr>
              <a:t>Lingua\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onsolas"/>
              </a:rPr>
              <a:t>   _internal\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onsolas"/>
              </a:rPr>
              <a:t>   Install Lingua.cmd   ← double-click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onsolas"/>
              </a:rPr>
              <a:t>   Lingua.exe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FDE68A"/>
                </a:solidFill>
                <a:latin typeface="Consolas"/>
              </a:rPr>
              <a:t>   lingua.env           ← from the e-mail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onsolas"/>
              </a:rPr>
              <a:t>   lingua.env.example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onsolas"/>
              </a:rPr>
              <a:t>   README.txt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FFFFFF"/>
                </a:solidFill>
                <a:latin typeface="Consolas"/>
              </a:rPr>
              <a:t>   THIRD_PARTY_NOTICES.txt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1371600"/>
            <a:ext cx="457200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700" b="1">
                <a:solidFill>
                  <a:srgbClr val="1F2937"/>
                </a:solidFill>
                <a:latin typeface="Segoe UI"/>
              </a:rPr>
              <a:t>Portable option: </a:t>
            </a:r>
            <a:r>
              <a:rPr sz="1700" b="0">
                <a:solidFill>
                  <a:srgbClr val="1F2937"/>
                </a:solidFill>
                <a:latin typeface="Segoe UI"/>
              </a:rPr>
              <a:t>skip the installer and just double-click Lingua.exe in this folder.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700" b="1">
                <a:solidFill>
                  <a:srgbClr val="1F2937"/>
                </a:solidFill>
                <a:latin typeface="Segoe UI"/>
              </a:rPr>
              <a:t>Alternative location: </a:t>
            </a:r>
            <a:r>
              <a:rPr sz="1700" b="0">
                <a:solidFill>
                  <a:srgbClr val="1F2937"/>
                </a:solidFill>
                <a:latin typeface="Segoe UI"/>
              </a:rPr>
              <a:t>lingua.env also works in %APPDATA%\lingua\lingua.env.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700" b="1">
                <a:solidFill>
                  <a:srgbClr val="1F2937"/>
                </a:solidFill>
                <a:latin typeface="Segoe UI"/>
              </a:rPr>
              <a:t>Uninstall: </a:t>
            </a:r>
            <a:r>
              <a:rPr sz="1700" b="0">
                <a:solidFill>
                  <a:srgbClr val="1F2937"/>
                </a:solidFill>
                <a:latin typeface="Segoe UI"/>
              </a:rPr>
              <a:t>Settings → Apps → Lingua → Uninstall.</a:t>
            </a:r>
          </a:p>
          <a:p>
            <a:pPr algn="l">
              <a:spcAft>
                <a:spcPts val="600"/>
              </a:spcAft>
            </a:pPr>
            <a:r>
              <a:rPr sz="17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700" b="1">
                <a:solidFill>
                  <a:srgbClr val="1F2937"/>
                </a:solidFill>
                <a:latin typeface="Segoe UI"/>
              </a:rPr>
              <a:t>Updates keep </a:t>
            </a:r>
            <a:r>
              <a:rPr sz="1700" b="0">
                <a:solidFill>
                  <a:srgbClr val="1F2937"/>
                </a:solidFill>
                <a:latin typeface="Segoe UI"/>
              </a:rPr>
              <a:t>your settings, history and lingua.env.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Connect your API key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09728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7DD3FC"/>
                </a:solidFill>
                <a:latin typeface="Segoe UI"/>
              </a:rPr>
              <a:t>INSTALLATION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Lingua 2.3.1  ·  Installation &amp; Usage Guide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09728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4748B"/>
                </a:solidFill>
                <a:latin typeface="Segoe UI"/>
              </a:rPr>
              <a:t>Lingua looks for your MaaS key in this order — use whichever is easiest: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874519"/>
            <a:ext cx="502920" cy="502920"/>
          </a:xfrm>
          <a:prstGeom prst="ellipse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28799"/>
            <a:ext cx="102870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Segoe UI"/>
              </a:rPr>
              <a:t>OpenCode already set up?  Nothing to do.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Lingua reads the key from %USERPROFILE%\.config\opencode\opencode.json automatically.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063239"/>
            <a:ext cx="502920" cy="502920"/>
          </a:xfrm>
          <a:prstGeom prst="ellipse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17519"/>
            <a:ext cx="102870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Segoe UI"/>
              </a:rPr>
              <a:t>Or set a Windows environment variable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Start → 'Edit environment variables for your account' → New → Name: MAAS_API_KEY, Value: your key. Restart Lingua.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59"/>
            <a:ext cx="502920" cy="502920"/>
          </a:xfrm>
          <a:prstGeom prst="ellipse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206239"/>
            <a:ext cx="1028700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Segoe UI"/>
              </a:rPr>
              <a:t>Or paste it into lingua.env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Open lingua.env in Notepad, fill in the line  MAAS_API_KEY=your-key  and save. Keep this file private.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44068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0E8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550408"/>
            <a:ext cx="10698480" cy="685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No key yet?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Text translation still works with local AI (Ollama) or offline language packs — slower, lower quality.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The main window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09728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7DD3FC"/>
                </a:solidFill>
                <a:latin typeface="Segoe UI"/>
              </a:rPr>
              <a:t>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Lingua 2.3.1  ·  Installation &amp; Usage Guide</a:t>
            </a:r>
          </a:p>
        </p:txBody>
      </p:sp>
      <p:pic>
        <p:nvPicPr>
          <p:cNvPr id="6" name="Picture 5" descr="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72" y="1234440"/>
            <a:ext cx="5802015" cy="512064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583680" y="1234440"/>
            <a:ext cx="5303520" cy="5120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Start </a:t>
            </a:r>
            <a:r>
              <a:rPr sz="1600" b="0">
                <a:solidFill>
                  <a:srgbClr val="1F2937"/>
                </a:solidFill>
                <a:latin typeface="Segoe UI"/>
              </a:rPr>
              <a:t>— begin / pause live caption translation.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Region </a:t>
            </a:r>
            <a:r>
              <a:rPr sz="1600" b="0">
                <a:solidFill>
                  <a:srgbClr val="1F2937"/>
                </a:solidFill>
                <a:latin typeface="Segoe UI"/>
              </a:rPr>
              <a:t>— drag a box around the Teams caption strip (once).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Read picture </a:t>
            </a:r>
            <a:r>
              <a:rPr sz="1600" b="0">
                <a:solidFill>
                  <a:srgbClr val="1F2937"/>
                </a:solidFill>
                <a:latin typeface="Segoe UI"/>
              </a:rPr>
              <a:t>— OCR a photo, screenshot or screen area.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Text </a:t>
            </a:r>
            <a:r>
              <a:rPr sz="1600" b="0">
                <a:solidFill>
                  <a:srgbClr val="1F2937"/>
                </a:solidFill>
                <a:latin typeface="Segoe UI"/>
              </a:rPr>
              <a:t>— text translation desk (since 2.3, next to Read picture).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Phone </a:t>
            </a:r>
            <a:r>
              <a:rPr sz="1600" b="0">
                <a:solidFill>
                  <a:srgbClr val="1F2937"/>
                </a:solidFill>
                <a:latin typeface="Segoe UI"/>
              </a:rPr>
              <a:t>— QR code to use your phone camera.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From / To </a:t>
            </a:r>
            <a:r>
              <a:rPr sz="1600" b="0">
                <a:solidFill>
                  <a:srgbClr val="1F2937"/>
                </a:solidFill>
                <a:latin typeface="Segoe UI"/>
              </a:rPr>
              <a:t>— source (Auto-detect) and target language.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More ▾ </a:t>
            </a:r>
            <a:r>
              <a:rPr sz="1600" b="0">
                <a:solidFill>
                  <a:srgbClr val="1F2937"/>
                </a:solidFill>
                <a:latin typeface="Segoe UI"/>
              </a:rPr>
              <a:t>— model, opacity, font size, click-through.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ⓘ  /  ☀ </a:t>
            </a:r>
            <a:r>
              <a:rPr sz="1600" b="0">
                <a:solidFill>
                  <a:srgbClr val="1F2937"/>
                </a:solidFill>
                <a:latin typeface="Segoe UI"/>
              </a:rPr>
              <a:t>— settings, offline packs, updates · light/dark.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Translate a Teams meeting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09728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7DD3FC"/>
                </a:solidFill>
                <a:latin typeface="Segoe UI"/>
              </a:rPr>
              <a:t>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Lingua 2.3.1  ·  Installation &amp; Usage Guide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325880"/>
            <a:ext cx="502920" cy="502920"/>
          </a:xfrm>
          <a:prstGeom prst="ellipse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280160"/>
            <a:ext cx="63550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Segoe UI"/>
              </a:rPr>
              <a:t>Turn on Teams live captions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In the meeting: … More → Language and speech → Turn on live captions.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468880"/>
            <a:ext cx="63550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Segoe UI"/>
              </a:rPr>
              <a:t>Pick the caption region (first time only)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Click Region and drag a rectangle tightly around the caption strip. Lingua remembers it.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57600"/>
            <a:ext cx="63550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Segoe UI"/>
              </a:rPr>
              <a:t>Choose languages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From: Auto (detect) is fine.   To: your language (e.g. English or 繁體中文).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892040"/>
            <a:ext cx="502920" cy="502920"/>
          </a:xfrm>
          <a:prstGeom prst="ellipse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846320"/>
            <a:ext cx="635508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Segoe UI"/>
              </a:rPr>
              <a:t>Press Start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Translated lines appear in Lingua, newest at the bottom. Scroll up to read back.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371600"/>
            <a:ext cx="3840480" cy="457200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0E8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0" y="1481328"/>
            <a:ext cx="3474720" cy="43891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Tips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Keep the Teams captions visible —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   Lingua reads the pixels on screen.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Don't cover them with Lingua; use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   More ▾ → opacity + Click-through.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Moved / resized Teams?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   Click Region again.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Clear wipes the transcript.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Status bar shows the speed.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Translate text  (Text button)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09728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7DD3FC"/>
                </a:solidFill>
                <a:latin typeface="Segoe UI"/>
              </a:rPr>
              <a:t>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Lingua 2.3.1  ·  Installation &amp; Usage Guide</a:t>
            </a:r>
          </a:p>
        </p:txBody>
      </p:sp>
      <p:pic>
        <p:nvPicPr>
          <p:cNvPr id="6" name="Picture 5" descr="tex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346"/>
            <a:ext cx="6949440" cy="5105108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680960" y="1234440"/>
            <a:ext cx="4206240" cy="5120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Tone: </a:t>
            </a:r>
            <a:r>
              <a:rPr sz="1600" b="0">
                <a:solidFill>
                  <a:srgbClr val="1F2937"/>
                </a:solidFill>
                <a:latin typeface="Segoe UI"/>
              </a:rPr>
              <a:t>Natural, Professional, Friendly, Formal, Literal.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Ctrl+Enter </a:t>
            </a:r>
            <a:r>
              <a:rPr sz="1600" b="0">
                <a:solidFill>
                  <a:srgbClr val="1F2937"/>
                </a:solidFill>
                <a:latin typeface="Segoe UI"/>
              </a:rPr>
              <a:t>translates, Esc stops.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Context </a:t>
            </a:r>
            <a:r>
              <a:rPr sz="1600" b="0">
                <a:solidFill>
                  <a:srgbClr val="1F2937"/>
                </a:solidFill>
                <a:latin typeface="Segoe UI"/>
              </a:rPr>
              <a:t>— who it is for / what it is about.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Glossary </a:t>
            </a:r>
            <a:r>
              <a:rPr sz="1600" b="0">
                <a:solidFill>
                  <a:srgbClr val="1F2937"/>
                </a:solidFill>
                <a:latin typeface="Segoe UI"/>
              </a:rPr>
              <a:t>— one per line:  PCB layout = 電路板佈局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Engine: </a:t>
            </a:r>
            <a:r>
              <a:rPr sz="1600" b="0">
                <a:solidFill>
                  <a:srgbClr val="1F2937"/>
                </a:solidFill>
                <a:latin typeface="Segoe UI"/>
              </a:rPr>
              <a:t>'Best available' picks automatically.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Paste · Copy · Save .txt · Clear</a:t>
            </a:r>
            <a:r>
              <a:rPr sz="1600" b="0">
                <a:solidFill>
                  <a:srgbClr val="1F2937"/>
                </a:solidFill>
                <a:latin typeface="Segoe U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Warnings </a:t>
            </a:r>
            <a:r>
              <a:rPr sz="1600" b="0">
                <a:solidFill>
                  <a:srgbClr val="1F2937"/>
                </a:solidFill>
                <a:latin typeface="Segoe UI"/>
              </a:rPr>
              <a:t>if numbers, links or glossary terms changed.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Alternatives &amp; word-choice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09728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7DD3FC"/>
                </a:solidFill>
                <a:latin typeface="Segoe UI"/>
              </a:rPr>
              <a:t>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Lingua 2.3.1  ·  Installation &amp; Usage Guide</a:t>
            </a:r>
          </a:p>
        </p:txBody>
      </p:sp>
      <p:pic>
        <p:nvPicPr>
          <p:cNvPr id="6" name="Picture 5" descr="a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9346"/>
            <a:ext cx="6949440" cy="5105108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680960" y="1234440"/>
            <a:ext cx="4206240" cy="5120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Click 'Alternatives &amp; notes' </a:t>
            </a:r>
            <a:r>
              <a:rPr sz="1600" b="0">
                <a:solidFill>
                  <a:srgbClr val="1F2937"/>
                </a:solidFill>
                <a:latin typeface="Segoe UI"/>
              </a:rPr>
              <a:t>after translating.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Two other phrasings </a:t>
            </a:r>
            <a:r>
              <a:rPr sz="1600" b="0">
                <a:solidFill>
                  <a:srgbClr val="1F2937"/>
                </a:solidFill>
                <a:latin typeface="Segoe UI"/>
              </a:rPr>
              <a:t>plus English notes on word choice (e.g. what sounds more natural in Taiwan).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Takes up to ~1 min </a:t>
            </a:r>
            <a:r>
              <a:rPr sz="1600" b="0">
                <a:solidFill>
                  <a:srgbClr val="1F2937"/>
                </a:solidFill>
                <a:latin typeface="Segoe UI"/>
              </a:rPr>
              <a:t>on local AI; faster on company models.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Nothing typed here is saved.</a:t>
            </a:r>
            <a:r>
              <a:rPr sz="16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Read a picture (OCR)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09728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7DD3FC"/>
                </a:solidFill>
                <a:latin typeface="Segoe UI"/>
              </a:rPr>
              <a:t>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Lingua 2.3.1  ·  Installation &amp; Usage Guide</a:t>
            </a:r>
          </a:p>
        </p:txBody>
      </p:sp>
      <p:pic>
        <p:nvPicPr>
          <p:cNvPr id="6" name="Picture 5" descr="pi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2307"/>
            <a:ext cx="7132320" cy="4699185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863840" y="1234440"/>
            <a:ext cx="4023360" cy="45720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Open </a:t>
            </a:r>
            <a:r>
              <a:rPr sz="1600" b="0">
                <a:solidFill>
                  <a:srgbClr val="1F2937"/>
                </a:solidFill>
                <a:latin typeface="Segoe UI"/>
              </a:rPr>
              <a:t>a photo / screenshot (multi-select = batch), Paste (Ctrl+V) or Grab screen area.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Rotate / crop </a:t>
            </a:r>
            <a:r>
              <a:rPr sz="1600" b="0">
                <a:solidFill>
                  <a:srgbClr val="1F2937"/>
                </a:solidFill>
                <a:latin typeface="Segoe UI"/>
              </a:rPr>
              <a:t>if needed, then Read.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Text tab </a:t>
            </a:r>
            <a:r>
              <a:rPr sz="1600" b="0">
                <a:solidFill>
                  <a:srgbClr val="1F2937"/>
                </a:solidFill>
                <a:latin typeface="Segoe UI"/>
              </a:rPr>
              <a:t>— words, letters, line count.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Translation tab </a:t>
            </a:r>
            <a:r>
              <a:rPr sz="1600" b="0">
                <a:solidFill>
                  <a:srgbClr val="1F2937"/>
                </a:solidFill>
                <a:latin typeface="Segoe UI"/>
              </a:rPr>
              <a:t>— pick a language or tick Translate automatically.</a:t>
            </a: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•  </a:t>
            </a:r>
            <a:r>
              <a:rPr sz="1600" b="1">
                <a:solidFill>
                  <a:srgbClr val="1F2937"/>
                </a:solidFill>
                <a:latin typeface="Segoe UI"/>
              </a:rPr>
              <a:t>Listen · Copy · Save .txt · History</a:t>
            </a:r>
            <a:r>
              <a:rPr sz="1600" b="0">
                <a:solidFill>
                  <a:srgbClr val="1F2937"/>
                </a:solidFill>
                <a:latin typeface="Segoe U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5760720"/>
            <a:ext cx="402336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Screenshot: phone / web version. The desktop window has the same Text / Translation tabs.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Use your phone camera  (Phone button)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09728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7DD3FC"/>
                </a:solidFill>
                <a:latin typeface="Segoe UI"/>
              </a:rPr>
              <a:t>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Lingua 2.3.1  ·  Installation &amp; Usage Guide</a:t>
            </a:r>
          </a:p>
        </p:txBody>
      </p:sp>
      <p:pic>
        <p:nvPicPr>
          <p:cNvPr id="6" name="Picture 5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92" y="1188720"/>
            <a:ext cx="3995856" cy="516636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7" name="Oval 6"/>
          <p:cNvSpPr/>
          <p:nvPr/>
        </p:nvSpPr>
        <p:spPr>
          <a:xfrm>
            <a:off x="5029200" y="1325880"/>
            <a:ext cx="502920" cy="502920"/>
          </a:xfrm>
          <a:prstGeom prst="ellipse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280160"/>
            <a:ext cx="60807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Segoe UI"/>
              </a:rPr>
              <a:t>Click Phone on the laptop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A QR code appears. Phone and laptop must be on the same Wi-Fi.</a:t>
            </a:r>
          </a:p>
        </p:txBody>
      </p:sp>
      <p:sp>
        <p:nvSpPr>
          <p:cNvPr id="9" name="Oval 8"/>
          <p:cNvSpPr/>
          <p:nvPr/>
        </p:nvSpPr>
        <p:spPr>
          <a:xfrm>
            <a:off x="5029200" y="2514600"/>
            <a:ext cx="502920" cy="502920"/>
          </a:xfrm>
          <a:prstGeom prst="ellipse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2468880"/>
            <a:ext cx="60807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Segoe UI"/>
              </a:rPr>
              <a:t>Scan the QR code with the phone camera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The Lingua picture page opens in the browser.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0" y="3703320"/>
            <a:ext cx="502920" cy="502920"/>
          </a:xfrm>
          <a:prstGeom prst="ellipse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0" y="3657600"/>
            <a:ext cx="60807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Segoe UI"/>
              </a:rPr>
              <a:t>Add to Home Screen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iPhone: Share → Add to Home Screen.   Android: ⋮ menu → Add to Home screen.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0" y="4892040"/>
            <a:ext cx="502920" cy="502920"/>
          </a:xfrm>
          <a:prstGeom prst="ellipse">
            <a:avLst/>
          </a:prstGeom>
          <a:solidFill>
            <a:srgbClr val="0E8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4846320"/>
            <a:ext cx="608076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1">
                <a:solidFill>
                  <a:srgbClr val="1F2937"/>
                </a:solidFill>
                <a:latin typeface="Segoe UI"/>
              </a:rPr>
              <a:t>Take a photo → Read → Translate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4748B"/>
                </a:solidFill>
                <a:latin typeface="Segoe UI"/>
              </a:rPr>
              <a:t>Works while the Phone window is open; Stop sharing ends it.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Updates &amp; when the company AI is 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09728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7DD3FC"/>
                </a:solidFill>
                <a:latin typeface="Segoe UI"/>
              </a:rPr>
              <a:t>USAGE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Lingua 2.3.1  ·  Installation &amp; Usage Guide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0E8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502920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Updating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Lingua checks on start and every 4 hours.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Click ⟳ Updates (top right) to check now.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A blue ⬆ Update button + banner appears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   when a new version is out.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Click Update now: it downloads, verifies,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   restarts and keeps your settings,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   history and lingua.env.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9050">
            <a:solidFill>
              <a:srgbClr val="0E8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481328"/>
            <a:ext cx="5029200" cy="3383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86D4"/>
                </a:solidFill>
                <a:latin typeface="Segoe UI"/>
              </a:rPr>
              <a:t>Fallback order (automatic)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1. Company AI models (best).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2. Local AI on your PC — install Ollama,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    then run:  ollama pull qwen3:8b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3. Offline language packs (~70 MB / pair):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    ⓘ → Translation → Download packs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    for my languages.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4. Online services — OFF unless you allow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    them (they send text outside the company).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68680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Segoe UI"/>
              </a:rPr>
              <a:t>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0" y="109728"/>
            <a:ext cx="3017520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400" b="1">
                <a:solidFill>
                  <a:srgbClr val="7DD3FC"/>
                </a:solidFill>
                <a:latin typeface="Segoe UI"/>
              </a:rPr>
              <a:t>HELP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Lingua 2.3.1  ·  Installation &amp; Usage Guide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7406640"/>
              </a:tblGrid>
              <a:tr h="45720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Problem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Segoe UI"/>
                        </a:rPr>
                        <a:t>Fix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'Windows protected your PC'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More info → Run anyway (the app is not code-signed).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Translation unavailable / errors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Office network or VPN on? lingua.env next to Lingua.exe? API key set?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Nothing appears in a Teams call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Live captions on? Region still over the caption strip? Pressed Start?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First translation is slow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Local AI / offline packs load once (20–35 s); then 2–3 s each.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Phone can't open the link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Same Wi-Fi as the laptop; allow Lingua in the firewall (private); keep the Phone window open.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Odd translation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Set From to the real language, add Context / Glossary, or try Alternatives.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Update button does nothing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Check office network / VPN, then ⓘ → Check for updates; or re-download the zip and run Install Lingua.cmd again.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Segoe UI"/>
              </a:rPr>
              <a:t>Questions or feedback?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7DD3FC"/>
                </a:solidFill>
                <a:latin typeface="Segoe UI"/>
              </a:rPr>
              <a:t>Juwen Lie  ·  github.com/juw12</a:t>
            </a:r>
          </a:p>
          <a:p>
            <a:pPr algn="l">
              <a:spcAft>
                <a:spcPts val="600"/>
              </a:spcAft>
            </a:pPr>
            <a:r>
              <a:rPr sz="2200" b="0">
                <a:solidFill>
                  <a:srgbClr val="7DD3FC"/>
                </a:solidFill>
                <a:latin typeface="Segoe UI"/>
              </a:rPr>
              <a:t>Release notes: github.com/juw12/projects/releases  (lingua-v2.3.1)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