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2.20.0  ·  2026-10-29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desktop - land animals walk on the taskbar and on top of windows, water animals swim and splash, flyers fly around. It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land animals drop onto a window or the taskbar, water animals dive back in, flyers stay where you let go</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4187952"/>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Land animals fall onto the window edge below (or the taskbar), water animals splash back into the water, flyers hover where you let go</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Meows, barks, ribbits, hoots… its voice changes with its mood</a:t>
                      </a:r>
                    </a:p>
                  </a:txBody>
                  <a:tcPr marL="73152" marR="73152" marT="36576" marB="36576">
                    <a:solidFill>
                      <a:srgbClr val="F7F4EC"/>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snack, high five, visit - point at a visiting pet's name tag to play</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Move around by myself (walk on windows / swim &amp; splash / fly)</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554480"/>
          <a:ext cx="11155680" cy="4498848"/>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200" b="1">
                          <a:solidFill>
                            <a:srgbClr val="FFFFFF"/>
                          </a:solidFill>
                          <a:latin typeface="Segoe UI"/>
                        </a:rPr>
                        <a:t>Problem</a:t>
                      </a:r>
                    </a:p>
                  </a:txBody>
                  <a:tcPr marL="73152" marR="73152" marT="36576" marB="36576">
                    <a:solidFill>
                      <a:srgbClr val="8B1A1A"/>
                    </a:solidFill>
                  </a:tcPr>
                </a:tc>
                <a:tc>
                  <a:txBody>
                    <a:bodyPr wrap="square"/>
                    <a:lstStyle/>
                    <a:p>
                      <a:r>
                        <a:rPr sz="1200" b="1">
                          <a:solidFill>
                            <a:srgbClr val="FFFFFF"/>
                          </a:solidFill>
                          <a:latin typeface="Segoe UI"/>
                        </a:rPr>
                        <a:t>Try this</a:t>
                      </a:r>
                    </a:p>
                  </a:txBody>
                  <a:tcPr marL="73152" marR="73152" marT="36576" marB="36576">
                    <a:solidFill>
                      <a:srgbClr val="8B1A1A"/>
                    </a:solidFill>
                  </a:tcPr>
                </a:tc>
              </a:tr>
              <a:tr h="411480">
                <a:tc>
                  <a:txBody>
                    <a:bodyPr wrap="square"/>
                    <a:lstStyle/>
                    <a:p>
                      <a:r>
                        <a:rPr sz="1200" b="1">
                          <a:solidFill>
                            <a:srgbClr val="2B2A28"/>
                          </a:solidFill>
                          <a:latin typeface="Segoe UI"/>
                        </a:rPr>
                        <a:t>Nothing happens when I start</a:t>
                      </a:r>
                    </a:p>
                  </a:txBody>
                  <a:tcPr marL="73152" marR="73152" marT="36576" marB="36576">
                    <a:solidFill>
                      <a:srgbClr val="FFFDF8"/>
                    </a:solidFill>
                  </a:tcPr>
                </a:tc>
                <a:tc>
                  <a:txBody>
                    <a:bodyPr wrap="square"/>
                    <a:lstStyle/>
                    <a:p>
                      <a:r>
                        <a:rPr sz="12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411480">
                <a:tc>
                  <a:txBody>
                    <a:bodyPr wrap="square"/>
                    <a:lstStyle/>
                    <a:p>
                      <a:r>
                        <a:rPr sz="1200" b="1">
                          <a:solidFill>
                            <a:srgbClr val="2B2A28"/>
                          </a:solidFill>
                          <a:latin typeface="Segoe UI"/>
                        </a:rPr>
                        <a:t>“Windows protected your PC”</a:t>
                      </a:r>
                    </a:p>
                  </a:txBody>
                  <a:tcPr marL="73152" marR="73152" marT="36576" marB="36576">
                    <a:solidFill>
                      <a:srgbClr val="F7F4EC"/>
                    </a:solidFill>
                  </a:tcPr>
                </a:tc>
                <a:tc>
                  <a:txBody>
                    <a:bodyPr wrap="square"/>
                    <a:lstStyle/>
                    <a:p>
                      <a:r>
                        <a:rPr sz="12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411480">
                <a:tc>
                  <a:txBody>
                    <a:bodyPr wrap="square"/>
                    <a:lstStyle/>
                    <a:p>
                      <a:r>
                        <a:rPr sz="1200" b="1">
                          <a:solidFill>
                            <a:srgbClr val="2B2A28"/>
                          </a:solidFill>
                          <a:latin typeface="Segoe UI"/>
                        </a:rPr>
                        <a:t>Where is my pet?</a:t>
                      </a:r>
                    </a:p>
                  </a:txBody>
                  <a:tcPr marL="73152" marR="73152" marT="36576" marB="36576">
                    <a:solidFill>
                      <a:srgbClr val="FFFDF8"/>
                    </a:solidFill>
                  </a:tcPr>
                </a:tc>
                <a:tc>
                  <a:txBody>
                    <a:bodyPr wrap="square"/>
                    <a:lstStyle/>
                    <a:p>
                      <a:r>
                        <a:rPr sz="1200" b="0">
                          <a:solidFill>
                            <a:srgbClr val="2B2A28"/>
                          </a:solidFill>
                          <a:latin typeface="Segoe UI"/>
                        </a:rPr>
                        <a:t>Click the Pips icon next to the clock (it may be under ^) or press Ctrl+Alt+P. Opening Pips again also brings it back. It hides during full-screen apps.</a:t>
                      </a:r>
                    </a:p>
                  </a:txBody>
                  <a:tcPr marL="73152" marR="73152" marT="36576" marB="36576">
                    <a:solidFill>
                      <a:srgbClr val="FFFDF8"/>
                    </a:solidFill>
                  </a:tcPr>
                </a:tc>
              </a:tr>
              <a:tr h="411480">
                <a:tc>
                  <a:txBody>
                    <a:bodyPr wrap="square"/>
                    <a:lstStyle/>
                    <a:p>
                      <a:r>
                        <a:rPr sz="1200" b="1">
                          <a:solidFill>
                            <a:srgbClr val="2B2A28"/>
                          </a:solidFill>
                          <a:latin typeface="Segoe UI"/>
                        </a:rPr>
                        <a:t>My pet is small / a baby</a:t>
                      </a:r>
                    </a:p>
                  </a:txBody>
                  <a:tcPr marL="73152" marR="73152" marT="36576" marB="36576">
                    <a:solidFill>
                      <a:srgbClr val="F7F4EC"/>
                    </a:solidFill>
                  </a:tcPr>
                </a:tc>
                <a:tc>
                  <a:txBody>
                    <a:bodyPr wrap="square"/>
                    <a:lstStyle/>
                    <a:p>
                      <a:r>
                        <a:rPr sz="1200" b="0">
                          <a:solidFill>
                            <a:srgbClr val="2B2A28"/>
                          </a:solidFill>
                          <a:latin typeface="Segoe UI"/>
                        </a:rPr>
                        <a:t>Pets grow up: baby → child → teen → grown-up, with focus sessions, daily visits, games and cuddles. Pet settings show the progress; 🍼 Raise again starts over.</a:t>
                      </a:r>
                    </a:p>
                  </a:txBody>
                  <a:tcPr marL="73152" marR="73152" marT="36576" marB="36576">
                    <a:solidFill>
                      <a:srgbClr val="F7F4EC"/>
                    </a:solidFill>
                  </a:tcPr>
                </a:tc>
              </a:tr>
              <a:tr h="411480">
                <a:tc>
                  <a:txBody>
                    <a:bodyPr wrap="square"/>
                    <a:lstStyle/>
                    <a:p>
                      <a:r>
                        <a:rPr sz="1200" b="1">
                          <a:solidFill>
                            <a:srgbClr val="2B2A28"/>
                          </a:solidFill>
                          <a:latin typeface="Segoe UI"/>
                        </a:rPr>
                        <a:t>My pet is sick 🤧</a:t>
                      </a:r>
                    </a:p>
                  </a:txBody>
                  <a:tcPr marL="73152" marR="73152" marT="36576" marB="36576">
                    <a:solidFill>
                      <a:srgbClr val="FFFDF8"/>
                    </a:solidFill>
                  </a:tcPr>
                </a:tc>
                <a:tc>
                  <a:txBody>
                    <a:bodyPr wrap="square"/>
                    <a:lstStyle/>
                    <a:p>
                      <a:r>
                        <a:rPr sz="1200" b="0">
                          <a:solidFill>
                            <a:srgbClr val="2B2A28"/>
                          </a:solidFill>
                          <a:latin typeface="Segoe UI"/>
                        </a:rPr>
                        <a:t>You worked 2.5 h without a 5-minute break. Take a short break (or right-click → Medicine) and it feels better. Turn off: Pet settings → Behaviour.</a:t>
                      </a:r>
                    </a:p>
                  </a:txBody>
                  <a:tcPr marL="73152" marR="73152" marT="36576" marB="36576">
                    <a:solidFill>
                      <a:srgbClr val="FFFDF8"/>
                    </a:solidFill>
                  </a:tcPr>
                </a:tc>
              </a:tr>
              <a:tr h="411480">
                <a:tc>
                  <a:txBody>
                    <a:bodyPr wrap="square"/>
                    <a:lstStyle/>
                    <a:p>
                      <a:r>
                        <a:rPr sz="1200" b="1">
                          <a:solidFill>
                            <a:srgbClr val="2B2A28"/>
                          </a:solidFill>
                          <a:latin typeface="Segoe UI"/>
                        </a:rPr>
                        <a:t>My pet is up on a window / flying</a:t>
                      </a:r>
                    </a:p>
                  </a:txBody>
                  <a:tcPr marL="73152" marR="73152" marT="36576" marB="36576">
                    <a:solidFill>
                      <a:srgbClr val="F7F4EC"/>
                    </a:solidFill>
                  </a:tcPr>
                </a:tc>
                <a:tc>
                  <a:txBody>
                    <a:bodyPr wrap="square"/>
                    <a:lstStyle/>
                    <a:p>
                      <a:r>
                        <a:rPr sz="1200" b="0">
                          <a:solidFill>
                            <a:srgbClr val="2B2A28"/>
                          </a:solidFill>
                          <a:latin typeface="Segoe UI"/>
                        </a:rPr>
                        <a:t>Land animals walk on window tops, flyers fly anywhere. Right-click → Go to the taskbar / Rest on the taskbar, or turn off "Move around by myself" in Pet settings.</a:t>
                      </a:r>
                    </a:p>
                  </a:txBody>
                  <a:tcPr marL="73152" marR="73152" marT="36576" marB="36576">
                    <a:solidFill>
                      <a:srgbClr val="F7F4EC"/>
                    </a:solidFill>
                  </a:tcPr>
                </a:tc>
              </a:tr>
              <a:tr h="411480">
                <a:tc>
                  <a:txBody>
                    <a:bodyPr wrap="square"/>
                    <a:lstStyle/>
                    <a:p>
                      <a:r>
                        <a:rPr sz="1200" b="1">
                          <a:solidFill>
                            <a:srgbClr val="2B2A28"/>
                          </a:solidFill>
                          <a:latin typeface="Segoe UI"/>
                        </a:rPr>
                        <a:t>The focus card is gone</a:t>
                      </a:r>
                    </a:p>
                  </a:txBody>
                  <a:tcPr marL="73152" marR="73152" marT="36576" marB="36576">
                    <a:solidFill>
                      <a:srgbClr val="FFFDF8"/>
                    </a:solidFill>
                  </a:tcPr>
                </a:tc>
                <a:tc>
                  <a:txBody>
                    <a:bodyPr wrap="square"/>
                    <a:lstStyle/>
                    <a:p>
                      <a:r>
                        <a:rPr sz="1200" b="0">
                          <a:solidFill>
                            <a:srgbClr val="2B2A28"/>
                          </a:solidFill>
                          <a:latin typeface="Segoe UI"/>
                        </a:rPr>
                        <a:t>Right-click the pet → Focus timer → Open. Or restart Pips.</a:t>
                      </a:r>
                    </a:p>
                  </a:txBody>
                  <a:tcPr marL="73152" marR="73152" marT="36576" marB="36576">
                    <a:solidFill>
                      <a:srgbClr val="FFFDF8"/>
                    </a:solidFill>
                  </a:tcPr>
                </a:tc>
              </a:tr>
              <a:tr h="411480">
                <a:tc>
                  <a:txBody>
                    <a:bodyPr wrap="square"/>
                    <a:lstStyle/>
                    <a:p>
                      <a:r>
                        <a:rPr sz="1200" b="1">
                          <a:solidFill>
                            <a:srgbClr val="2B2A28"/>
                          </a:solidFill>
                          <a:latin typeface="Segoe UI"/>
                        </a:rPr>
                        <a:t>Update failed</a:t>
                      </a:r>
                    </a:p>
                  </a:txBody>
                  <a:tcPr marL="73152" marR="73152" marT="36576" marB="36576">
                    <a:solidFill>
                      <a:srgbClr val="F7F4EC"/>
                    </a:solidFill>
                  </a:tcPr>
                </a:tc>
                <a:tc>
                  <a:txBody>
                    <a:bodyPr wrap="square"/>
                    <a:lstStyle/>
                    <a:p>
                      <a:r>
                        <a:rPr sz="12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7F4EC"/>
                    </a:solidFill>
                  </a:tcPr>
                </a:tc>
              </a:tr>
              <a:tr h="411480">
                <a:tc>
                  <a:txBody>
                    <a:bodyPr wrap="square"/>
                    <a:lstStyle/>
                    <a:p>
                      <a:r>
                        <a:rPr sz="1200" b="1">
                          <a:solidFill>
                            <a:srgbClr val="2B2A28"/>
                          </a:solidFill>
                          <a:latin typeface="Segoe UI"/>
                        </a:rPr>
                        <a:t>Where are my settings?</a:t>
                      </a:r>
                    </a:p>
                  </a:txBody>
                  <a:tcPr marL="73152" marR="73152" marT="36576" marB="36576">
                    <a:solidFill>
                      <a:srgbClr val="FFFDF8"/>
                    </a:solidFill>
                  </a:tcPr>
                </a:tc>
                <a:tc>
                  <a:txBody>
                    <a:bodyPr wrap="square"/>
                    <a:lstStyle/>
                    <a:p>
                      <a:r>
                        <a:rPr sz="12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FFDF8"/>
                    </a:solidFill>
                  </a:tcPr>
                </a:tc>
              </a:tr>
              <a:tr h="411480">
                <a:tc>
                  <a:txBody>
                    <a:bodyPr wrap="square"/>
                    <a:lstStyle/>
                    <a:p>
                      <a:r>
                        <a:rPr sz="1200" b="1">
                          <a:solidFill>
                            <a:srgbClr val="2B2A28"/>
                          </a:solidFill>
                          <a:latin typeface="Segoe UI"/>
                        </a:rPr>
                        <a:t>Uninstall</a:t>
                      </a:r>
                    </a:p>
                  </a:txBody>
                  <a:tcPr marL="73152" marR="73152" marT="36576" marB="36576">
                    <a:solidFill>
                      <a:srgbClr val="F7F4EC"/>
                    </a:solidFill>
                  </a:tcPr>
                </a:tc>
                <a:tc>
                  <a:txBody>
                    <a:bodyPr wrap="square"/>
                    <a:lstStyle/>
                    <a:p>
                      <a:r>
                        <a:rPr sz="12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7F4E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2.20.0</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Come over  ·  2026-10-29</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When a friend's pet comes over it now wears a name tag: your friend's name (or the nickname you gave them), ♂/♀ and an online dot. It walks up to your pet, says hi, and looks at your mouse when you point at it.</a:t>
            </a:r>
          </a:p>
          <a:p>
            <a:pPr>
              <a:spcAft>
                <a:spcPts val="1000"/>
              </a:spcAft>
            </a:pPr>
            <a:r>
              <a:rPr sz="1700" b="1">
                <a:solidFill>
                  <a:srgbClr val="4CB86B"/>
                </a:solidFill>
                <a:latin typeface="Segoe UI"/>
              </a:rPr>
              <a:t>•  </a:t>
            </a:r>
            <a:r>
              <a:rPr sz="1700">
                <a:solidFill>
                  <a:srgbClr val="2B2A28"/>
                </a:solidFill>
                <a:latin typeface="Segoe UI"/>
              </a:rPr>
              <a:t>Point at the visitor (or click its name tag) to open its card: whose pet it is, level, how close you two are, and buttons to wave, pet it, give it a snack, visit back or chat. It reacts to everything - hearts, crumbs, happy faces - and your friend sees it too.</a:t>
            </a:r>
          </a:p>
          <a:p>
            <a:pPr>
              <a:spcAft>
                <a:spcPts val="1000"/>
              </a:spcAft>
            </a:pPr>
            <a:r>
              <a:rPr sz="1700" b="1">
                <a:solidFill>
                  <a:srgbClr val="4CB86B"/>
                </a:solidFill>
                <a:latin typeface="Segoe UI"/>
              </a:rPr>
              <a:t>•  </a:t>
            </a:r>
            <a:r>
              <a:rPr sz="1700">
                <a:solidFill>
                  <a:srgbClr val="2B2A28"/>
                </a:solidFill>
                <a:latin typeface="Segoe UI"/>
              </a:rPr>
              <a:t>Rub your mouse over the visitor to pet it. Playing with it makes it stay longer, and your pet comes down from a window or the sky to meet it.</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Saat peliharaan teman datang berkunjung, sekarang ia memakai papan nama: nama temanmu (atau julukan yang kamu berikan), ♂/♀ dan titik status online. Ia berjalan mendekati pet-mu, menyapa, dan melihat ke arah mouse saat kamu mengarahkannya.</a:t>
            </a:r>
          </a:p>
          <a:p>
            <a:pPr>
              <a:spcAft>
                <a:spcPts val="500"/>
              </a:spcAft>
            </a:pPr>
            <a:r>
              <a:rPr sz="1200" b="1">
                <a:solidFill>
                  <a:srgbClr val="4CB86B"/>
                </a:solidFill>
                <a:latin typeface="Segoe UI"/>
              </a:rPr>
              <a:t>•  </a:t>
            </a:r>
            <a:r>
              <a:rPr sz="1200">
                <a:solidFill>
                  <a:srgbClr val="2B2A28"/>
                </a:solidFill>
                <a:latin typeface="Segoe UI"/>
              </a:rPr>
              <a:t>Arahkan mouse ke pengunjung (atau klik papan namanya) untuk membuka kartunya: pet milik siapa, level, seberapa dekat kalian, dan tombol untuk menyapa, mengelus, memberi camilan, balas berkunjung, atau chat. Ia bereaksi pada semuanya - hati, remah, wajah senang - dan temanmu juga melihatnya.</a:t>
            </a:r>
          </a:p>
          <a:p>
            <a:pPr>
              <a:spcAft>
                <a:spcPts val="500"/>
              </a:spcAft>
            </a:pPr>
            <a:r>
              <a:rPr sz="1200" b="1">
                <a:solidFill>
                  <a:srgbClr val="4CB86B"/>
                </a:solidFill>
                <a:latin typeface="Segoe UI"/>
              </a:rPr>
              <a:t>•  </a:t>
            </a:r>
            <a:r>
              <a:rPr sz="1200">
                <a:solidFill>
                  <a:srgbClr val="2B2A28"/>
                </a:solidFill>
                <a:latin typeface="Segoe UI"/>
              </a:rPr>
              <a:t>Gosok-gosokkan mouse di atas pengunjung untuk mengelusnya. Makin sering diajak main, makin lama ia tinggal, dan pet-mu turun dari jendela atau langit untuk menyambutnya.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2589580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2.20.0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Come over</a:t>
                      </a:r>
                    </a:p>
                    <a:p>
                      <a:r>
                        <a:rPr sz="1200" b="0">
                          <a:solidFill>
                            <a:srgbClr val="2B2A28"/>
                          </a:solidFill>
                          <a:latin typeface="Segoe UI"/>
                        </a:rPr>
                        <a:t>When a friend's pet comes over it now wears a name tag: your friend's name (or the nickname you gave them), ♂/♀ and an online dot. It walks up to your pet, says hi, and looks at your mouse when you point at it.; Point at the visitor (or click its name tag) to open its card: whose pet it is, level, how close you two are, and buttons to wave, pet it, give it a snack, visit back or chat. It reacts to everything - hearts, crumbs, happy faces - and your friend sees it too.; Rub your mouse over the visitor to pet it. Playing with it makes it stay longer, and your pet comes down from a window or the sky to meet it.</a:t>
                      </a:r>
                    </a:p>
                  </a:txBody>
                  <a:tcPr marL="73152" marR="73152" marT="36576" marB="36576">
                    <a:solidFill>
                      <a:srgbClr val="FFFDF8"/>
                    </a:solidFill>
                  </a:tcPr>
                </a:tc>
              </a:tr>
              <a:tr h="822960">
                <a:tc>
                  <a:txBody>
                    <a:bodyPr wrap="square"/>
                    <a:lstStyle/>
                    <a:p>
                      <a:r>
                        <a:rPr sz="1200" b="1">
                          <a:solidFill>
                            <a:srgbClr val="2B2A28"/>
                          </a:solidFill>
                          <a:latin typeface="Segoe UI"/>
                        </a:rPr>
                        <a:t>2.19.0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Land, sea &amp; sky</a:t>
                      </a:r>
                    </a:p>
                    <a:p>
                      <a:r>
                        <a:rPr sz="1200" b="0">
                          <a:solidFill>
                            <a:srgbClr val="2B2A28"/>
                          </a:solidFill>
                          <a:latin typeface="Segoe UI"/>
                        </a:rPr>
                        <a:t>Land animals walk on the taskbar and on top of your open windows now: they jump up onto window edges, walk along them, ride along when you move the window and hop down when it closes, gets covered or is maximised. They always have gravity - let go of one in mid-air and it lands on the window below or on the taskbar.; Water animals swim along the taskbar (their water) and every now and then leap high out of it in a big arc, diving back in with a splash, ripples and spray. Drop one anywhere and it dives back into the water.; Flying animals fly anywhere on the screen: they flutter from place to place, hover, come say hi near your mouse, and sometimes perch on the taskbar or a window edge for a rest. Point at one and it waits for you; they glide down to a perch before a nap.; New menu moves: Jump onto a window, Splash jump!, Fly around / Rest on the taskbar. "Move around by myself" in Pet settings keeps your pet still if you prefer (the old Gravity option is gone - land animals always fall now).</a:t>
                      </a:r>
                    </a:p>
                  </a:txBody>
                  <a:tcPr marL="73152" marR="73152" marT="36576" marB="36576">
                    <a:solidFill>
                      <a:srgbClr val="F7F4EC"/>
                    </a:solidFill>
                  </a:tcPr>
                </a:tc>
              </a:tr>
              <a:tr h="822960">
                <a:tc>
                  <a:txBody>
                    <a:bodyPr wrap="square"/>
                    <a:lstStyle/>
                    <a:p>
                      <a:r>
                        <a:rPr sz="1200" b="1">
                          <a:solidFill>
                            <a:srgbClr val="2B2A28"/>
                          </a:solidFill>
                          <a:latin typeface="Segoe UI"/>
                        </a:rPr>
                        <a:t>2.18.0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Raise your pet</a:t>
                      </a:r>
                    </a:p>
                    <a:p>
                      <a:r>
                        <a:rPr sz="1200" b="0">
                          <a:solidFill>
                            <a:srgbClr val="2B2A28"/>
                          </a:solidFill>
                          <a:latin typeface="Segoe UI"/>
                        </a:rPr>
                        <a:t>Boy or girl? Pick your pet's gender in Settings: boys get a little hair tuft, girls a pink bow and eyelashes, and a ♂ / ♀ shows next to its name. You can add your own gender to your profile too - friends see a small ♂ / ♀ next to your name.; Pets grow up now: baby → child → teen → grown-up. Focus sessions, opening Pips each day, games and cuddles help them grow - no care mistakes, no bad endings. Already have a grown-up pet? It will ask whether you'd like to raise it again from a baby (coins, items and stats stay).; Sick days: work 2.5 hours without a 5-minute break and your pet catches a little cold (sneezes, thermometer, slow steps). A short break cures it - or give medicine from the menu. You can turn this off in Settings.; New mini-game Left or Right? (pet menu → Play): guess which way your pet will look - 3 out of 5 wins, with coins for your first wins each day.</a:t>
                      </a:r>
                    </a:p>
                  </a:txBody>
                  <a:tcPr marL="73152" marR="73152" marT="36576" marB="36576">
                    <a:solidFill>
                      <a:srgbClr val="FFFDF8"/>
                    </a:solidFill>
                  </a:tcPr>
                </a:tc>
              </a:tr>
              <a:tr h="822960">
                <a:tc>
                  <a:txBody>
                    <a:bodyPr wrap="square"/>
                    <a:lstStyle/>
                    <a:p>
                      <a:r>
                        <a:rPr sz="1200" b="1">
                          <a:solidFill>
                            <a:srgbClr val="2B2A28"/>
                          </a:solidFill>
                          <a:latin typeface="Segoe UI"/>
                        </a:rPr>
                        <a:t>2.17.0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Find your pet anytime</a:t>
                      </a:r>
                    </a:p>
                    <a:p>
                      <a:r>
                        <a:rPr sz="1200" b="0">
                          <a:solidFill>
                            <a:srgbClr val="2B2A28"/>
                          </a:solidFill>
                          <a:latin typeface="Segoe UI"/>
                        </a:rPr>
                        <a:t>Pips now has an icon next to the clock: click it to bring your pet back; right-click for the focus timer, Friends &amp; chat or Quit.; Press Ctrl+Alt+P anywhere to call your pet - it pops up on the screen you're using, even if it was hidden, asleep or behind a fullscreen app.; Opening Pips again from the Start menu or desktop does the same, and your pet walks back by itself if it ever ends up off-screen (e.g. after unplugging a monitor).; Hiding your pet now tells you how to bring it back.</a:t>
                      </a:r>
                    </a:p>
                  </a:txBody>
                  <a:tcPr marL="73152" marR="73152" marT="36576" marB="36576">
                    <a:solidFill>
                      <a:srgbClr val="F7F4EC"/>
                    </a:solidFill>
                  </a:tcPr>
                </a:tc>
              </a:tr>
              <a:tr h="822960">
                <a:tc>
                  <a:txBody>
                    <a:bodyPr wrap="square"/>
                    <a:lstStyle/>
                    <a:p>
                      <a:r>
                        <a:rPr sz="1200" b="1">
                          <a:solidFill>
                            <a:srgbClr val="2B2A28"/>
                          </a:solidFill>
                          <a:latin typeface="Segoe UI"/>
                        </a:rPr>
                        <a:t>2.16.0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Pips Community</a:t>
                      </a:r>
                    </a:p>
                    <a:p>
                      <a:r>
                        <a:rPr sz="1200" b="0">
                          <a:solidFill>
                            <a:srgbClr val="2B2A28"/>
                          </a:solidFill>
                          <a:latin typeface="Segoe UI"/>
                        </a:rPr>
                        <a:t>New Pips Community at the top of the Chat tab: a #general channel to chat with everyone who uses Pips, plus #announcements with news from the Pips team.; Every new Pips version is announced there automatically - see what's new and update with one click.; Type @name to ping someone in #general. Mute #general any time; owner and moderators can remove messages.; Open it from your pet's menu too (Pips Community). Fixed: chats no longer clear what you're typing when Pips refreshes in the background.</a:t>
                      </a:r>
                    </a:p>
                  </a:txBody>
                  <a:tcPr marL="73152" marR="73152" marT="36576" marB="36576">
                    <a:solidFill>
                      <a:srgbClr val="FFFDF8"/>
                    </a:solidFill>
                  </a:tcPr>
                </a:tc>
              </a:tr>
              <a:tr h="822960">
                <a:tc>
                  <a:txBody>
                    <a:bodyPr wrap="square"/>
                    <a:lstStyle/>
                    <a:p>
                      <a:r>
                        <a:rPr sz="1200" b="1">
                          <a:solidFill>
                            <a:srgbClr val="2B2A28"/>
                          </a:solidFill>
                          <a:latin typeface="Segoe UI"/>
                        </a:rPr>
                        <a:t>2.15.0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Update reminders</a:t>
                      </a:r>
                    </a:p>
                    <a:p>
                      <a:r>
                        <a:rPr sz="1200" b="0">
                          <a:solidFill>
                            <a:srgbClr val="2B2A28"/>
                          </a:solidFill>
                          <a:latin typeface="Segoe UI"/>
                        </a:rPr>
                        <a:t>Owner &amp; moderators: the Mod tab now lists who hasn't updated Pips yet (their version and when they were last seen), with one-click reminders by e-mail (sent from your Outlook) or a ready-to-send Teams chat.; New Work e-mail field in your Profile, filled in from Outlook. Only the owner and moderators can see it (for update reminders and support) - clear it to hide it.; Pips now tells the Friends server which version it runs, so the update list is always accurate.; Friends keeps working when a local proxy tool stops answering - Pips falls back to the Windows proxy settings.</a:t>
                      </a:r>
                    </a:p>
                  </a:txBody>
                  <a:tcPr marL="73152" marR="73152" marT="36576" marB="36576">
                    <a:solidFill>
                      <a:srgbClr val="F7F4EC"/>
                    </a:solidFill>
                  </a:tcPr>
                </a:tc>
              </a:tr>
              <a:tr h="822960">
                <a:tc>
                  <a:txBody>
                    <a:bodyPr wrap="square"/>
                    <a:lstStyle/>
                    <a:p>
                      <a:r>
                        <a:rPr sz="1200" b="1">
                          <a:solidFill>
                            <a:srgbClr val="2B2A28"/>
                          </a:solidFill>
                          <a:latin typeface="Segoe UI"/>
                        </a:rPr>
                        <a:t>2.14.3</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FFDF8"/>
                    </a:solidFill>
                  </a:tcPr>
                </a:tc>
              </a:tr>
              <a:tr h="822960">
                <a:tc>
                  <a:txBody>
                    <a:bodyPr wrap="square"/>
                    <a:lstStyle/>
                    <a:p>
                      <a:r>
                        <a:rPr sz="1200" b="1">
                          <a:solidFill>
                            <a:srgbClr val="2B2A28"/>
                          </a:solidFill>
                          <a:latin typeface="Segoe UI"/>
                        </a:rPr>
                        <a:t>2.14.2</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7F4EC"/>
                    </a:solidFill>
                  </a:tcPr>
                </a:tc>
              </a:tr>
              <a:tr h="822960">
                <a:tc>
                  <a:txBody>
                    <a:bodyPr wrap="square"/>
                    <a:lstStyle/>
                    <a:p>
                      <a:r>
                        <a:rPr sz="1200" b="1">
                          <a:solidFill>
                            <a:srgbClr val="2B2A28"/>
                          </a:solidFill>
                          <a:latin typeface="Segoe UI"/>
                        </a:rPr>
                        <a:t>2.14.1</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FFDF8"/>
                    </a:solidFill>
                  </a:tcPr>
                </a:tc>
              </a:tr>
              <a:tr h="822960">
                <a:tc>
                  <a:txBody>
                    <a:bodyPr wrap="square"/>
                    <a:lstStyle/>
                    <a:p>
                      <a:r>
                        <a:rPr sz="1200" b="1">
                          <a:solidFill>
                            <a:srgbClr val="2B2A28"/>
                          </a:solidFill>
                          <a:latin typeface="Segoe UI"/>
                        </a:rPr>
                        <a:t>2.14.0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7F4EC"/>
                    </a:solidFill>
                  </a:tcPr>
                </a:tc>
              </a:tr>
              <a:tr h="822960">
                <a:tc>
                  <a:txBody>
                    <a:bodyPr wrap="square"/>
                    <a:lstStyle/>
                    <a:p>
                      <a:r>
                        <a:rPr sz="1200" b="1">
                          <a:solidFill>
                            <a:srgbClr val="2B2A28"/>
                          </a:solidFill>
                          <a:latin typeface="Segoe UI"/>
                        </a:rPr>
                        <a:t>2.13.1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FFDF8"/>
                    </a:solidFill>
                  </a:tcPr>
                </a:tc>
              </a:tr>
              <a:tr h="822960">
                <a:tc>
                  <a:txBody>
                    <a:bodyPr wrap="square"/>
                    <a:lstStyle/>
                    <a:p>
                      <a:r>
                        <a:rPr sz="1200" b="1">
                          <a:solidFill>
                            <a:srgbClr val="2B2A28"/>
                          </a:solidFill>
                          <a:latin typeface="Segoe UI"/>
                        </a:rPr>
                        <a:t>2.13.0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7F4EC"/>
                    </a:solidFill>
                  </a:tcPr>
                </a:tc>
              </a:tr>
              <a:tr h="822960">
                <a:tc>
                  <a:txBody>
                    <a:bodyPr wrap="square"/>
                    <a:lstStyle/>
                    <a:p>
                      <a:r>
                        <a:rPr sz="1200" b="1">
                          <a:solidFill>
                            <a:srgbClr val="2B2A28"/>
                          </a:solidFill>
                          <a:latin typeface="Segoe UI"/>
                        </a:rPr>
                        <a:t>2.12.0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FFDF8"/>
                    </a:solidFill>
                  </a:tcPr>
                </a:tc>
              </a:tr>
              <a:tr h="822960">
                <a:tc>
                  <a:txBody>
                    <a:bodyPr wrap="square"/>
                    <a:lstStyle/>
                    <a:p>
                      <a:r>
                        <a:rPr sz="1200" b="1">
                          <a:solidFill>
                            <a:srgbClr val="2B2A28"/>
                          </a:solidFill>
                          <a:latin typeface="Segoe UI"/>
                        </a:rPr>
                        <a:t>2.11.0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7F4EC"/>
                    </a:solidFill>
                  </a:tcPr>
                </a:tc>
              </a:tr>
              <a:tr h="822960">
                <a:tc>
                  <a:txBody>
                    <a:bodyPr wrap="square"/>
                    <a:lstStyle/>
                    <a:p>
                      <a:r>
                        <a:rPr sz="1200" b="1">
                          <a:solidFill>
                            <a:srgbClr val="2B2A28"/>
                          </a:solidFill>
                          <a:latin typeface="Segoe UI"/>
                        </a:rPr>
                        <a:t>2.10.0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FFDF8"/>
                    </a:solidFill>
                  </a:tcPr>
                </a:tc>
              </a:tr>
              <a:tr h="822960">
                <a:tc>
                  <a:txBody>
                    <a:bodyPr wrap="square"/>
                    <a:lstStyle/>
                    <a:p>
                      <a:r>
                        <a:rPr sz="1200" b="1">
                          <a:solidFill>
                            <a:srgbClr val="2B2A28"/>
                          </a:solidFill>
                          <a:latin typeface="Segoe UI"/>
                        </a:rPr>
                        <a:t>2.9.0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7F4EC"/>
                    </a:solidFill>
                  </a:tcPr>
                </a:tc>
              </a:tr>
              <a:tr h="822960">
                <a:tc>
                  <a:txBody>
                    <a:bodyPr wrap="square"/>
                    <a:lstStyle/>
                    <a:p>
                      <a:r>
                        <a:rPr sz="1200" b="1">
                          <a:solidFill>
                            <a:srgbClr val="2B2A28"/>
                          </a:solidFill>
                          <a:latin typeface="Segoe UI"/>
                        </a:rPr>
                        <a:t>2.8.0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FFDF8"/>
                    </a:solidFill>
                  </a:tcPr>
                </a:tc>
              </a:tr>
              <a:tr h="822960">
                <a:tc>
                  <a:txBody>
                    <a:bodyPr wrap="square"/>
                    <a:lstStyle/>
                    <a:p>
                      <a:r>
                        <a:rPr sz="1200" b="1">
                          <a:solidFill>
                            <a:srgbClr val="2B2A28"/>
                          </a:solidFill>
                          <a:latin typeface="Segoe UI"/>
                        </a:rPr>
                        <a:t>2.7.0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7F4EC"/>
                    </a:solidFill>
                  </a:tcPr>
                </a:tc>
              </a:tr>
              <a:tr h="822960">
                <a:tc>
                  <a:txBody>
                    <a:bodyPr wrap="square"/>
                    <a:lstStyle/>
                    <a:p>
                      <a:r>
                        <a:rPr sz="1200" b="1">
                          <a:solidFill>
                            <a:srgbClr val="2B2A28"/>
                          </a:solidFill>
                          <a:latin typeface="Segoe UI"/>
                        </a:rPr>
                        <a:t>2.6.1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FFDF8"/>
                    </a:solidFill>
                  </a:tcPr>
                </a:tc>
              </a:tr>
              <a:tr h="822960">
                <a:tc>
                  <a:txBody>
                    <a:bodyPr wrap="square"/>
                    <a:lstStyle/>
                    <a:p>
                      <a:r>
                        <a:rPr sz="1200" b="1">
                          <a:solidFill>
                            <a:srgbClr val="2B2A28"/>
                          </a:solidFill>
                          <a:latin typeface="Segoe UI"/>
                        </a:rPr>
                        <a:t>2.6.0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7F4EC"/>
                    </a:solidFill>
                  </a:tcPr>
                </a:tc>
              </a:tr>
              <a:tr h="822960">
                <a:tc>
                  <a:txBody>
                    <a:bodyPr wrap="square"/>
                    <a:lstStyle/>
                    <a:p>
                      <a:r>
                        <a:rPr sz="1200" b="1">
                          <a:solidFill>
                            <a:srgbClr val="2B2A28"/>
                          </a:solidFill>
                          <a:latin typeface="Segoe UI"/>
                        </a:rPr>
                        <a:t>2.5.1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FFDF8"/>
                    </a:solidFill>
                  </a:tcPr>
                </a:tc>
              </a:tr>
              <a:tr h="822960">
                <a:tc>
                  <a:txBody>
                    <a:bodyPr wrap="square"/>
                    <a:lstStyle/>
                    <a:p>
                      <a:r>
                        <a:rPr sz="1200" b="1">
                          <a:solidFill>
                            <a:srgbClr val="2B2A28"/>
                          </a:solidFill>
                          <a:latin typeface="Segoe UI"/>
                        </a:rPr>
                        <a:t>2.5.0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7F4EC"/>
                    </a:solidFill>
                  </a:tcPr>
                </a:tc>
              </a:tr>
              <a:tr h="822960">
                <a:tc>
                  <a:txBody>
                    <a:bodyPr wrap="square"/>
                    <a:lstStyle/>
                    <a:p>
                      <a:r>
                        <a:rPr sz="1200" b="1">
                          <a:solidFill>
                            <a:srgbClr val="2B2A28"/>
                          </a:solidFill>
                          <a:latin typeface="Segoe UI"/>
                        </a:rPr>
                        <a:t>2.4.0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FFDF8"/>
                    </a:solidFill>
                  </a:tcPr>
                </a:tc>
              </a:tr>
              <a:tr h="822960">
                <a:tc>
                  <a:txBody>
                    <a:bodyPr wrap="square"/>
                    <a:lstStyle/>
                    <a:p>
                      <a:r>
                        <a:rPr sz="1200" b="1">
                          <a:solidFill>
                            <a:srgbClr val="2B2A28"/>
                          </a:solidFill>
                          <a:latin typeface="Segoe UI"/>
                        </a:rPr>
                        <a:t>2.3.0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7F4EC"/>
                    </a:solidFill>
                  </a:tcPr>
                </a:tc>
              </a:tr>
              <a:tr h="822960">
                <a:tc>
                  <a:txBody>
                    <a:bodyPr wrap="square"/>
                    <a:lstStyle/>
                    <a:p>
                      <a:r>
                        <a:rPr sz="1200" b="1">
                          <a:solidFill>
                            <a:srgbClr val="2B2A28"/>
                          </a:solidFill>
                          <a:latin typeface="Segoe UI"/>
                        </a:rPr>
                        <a:t>2.2.0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FFDF8"/>
                    </a:solidFill>
                  </a:tcPr>
                </a:tc>
              </a:tr>
              <a:tr h="822960">
                <a:tc>
                  <a:txBody>
                    <a:bodyPr wrap="square"/>
                    <a:lstStyle/>
                    <a:p>
                      <a:r>
                        <a:rPr sz="1200" b="1">
                          <a:solidFill>
                            <a:srgbClr val="2B2A28"/>
                          </a:solidFill>
                          <a:latin typeface="Segoe UI"/>
                        </a:rPr>
                        <a:t>2.1.2</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7F4EC"/>
                    </a:solidFill>
                  </a:tcPr>
                </a:tc>
              </a:tr>
              <a:tr h="822960">
                <a:tc>
                  <a:txBody>
                    <a:bodyPr wrap="square"/>
                    <a:lstStyle/>
                    <a:p>
                      <a:r>
                        <a:rPr sz="1200" b="1">
                          <a:solidFill>
                            <a:srgbClr val="2B2A28"/>
                          </a:solidFill>
                          <a:latin typeface="Segoe UI"/>
                        </a:rPr>
                        <a:t>2.1.1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FFDF8"/>
                    </a:solidFill>
                  </a:tcPr>
                </a:tc>
              </a:tr>
              <a:tr h="822960">
                <a:tc>
                  <a:txBody>
                    <a:bodyPr wrap="square"/>
                    <a:lstStyle/>
                    <a:p>
                      <a:r>
                        <a:rPr sz="1200" b="1">
                          <a:solidFill>
                            <a:srgbClr val="2B2A28"/>
                          </a:solidFill>
                          <a:latin typeface="Segoe UI"/>
                        </a:rPr>
                        <a:t>2.1.0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7F4EC"/>
                    </a:solidFill>
                  </a:tcPr>
                </a:tc>
              </a:tr>
              <a:tr h="822960">
                <a:tc>
                  <a:txBody>
                    <a:bodyPr wrap="square"/>
                    <a:lstStyle/>
                    <a:p>
                      <a:r>
                        <a:rPr sz="1200" b="1">
                          <a:solidFill>
                            <a:srgbClr val="2B2A28"/>
                          </a:solidFill>
                          <a:latin typeface="Segoe UI"/>
                        </a:rPr>
                        <a:t>2.0.0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FFDF8"/>
                    </a:solidFill>
                  </a:tcPr>
                </a:tc>
              </a:tr>
              <a:tr h="822960">
                <a:tc>
                  <a:txBody>
                    <a:bodyPr wrap="square"/>
                    <a:lstStyle/>
                    <a:p>
                      <a:r>
                        <a:rPr sz="1200" b="1">
                          <a:solidFill>
                            <a:srgbClr val="2B2A28"/>
                          </a:solidFill>
                          <a:latin typeface="Segoe UI"/>
                        </a:rPr>
                        <a:t>1.5.0</a:t>
                      </a:r>
                    </a:p>
                  </a:txBody>
                  <a:tcPr marL="73152" marR="73152" marT="36576" marB="36576">
                    <a:solidFill>
                      <a:srgbClr val="F7F4EC"/>
                    </a:solidFill>
                  </a:tcPr>
                </a:tc>
                <a:tc>
                  <a:txBody>
                    <a:bodyPr wrap="square"/>
                    <a:lstStyle/>
                    <a:p>
                      <a:r>
                        <a:rPr sz="1200" b="0">
                          <a:solidFill>
                            <a:srgbClr val="2B2A28"/>
                          </a:solidFill>
                          <a:latin typeface="Segoe UI"/>
                        </a:rPr>
                        <a:t>2026-10-24</a:t>
                      </a:r>
                    </a:p>
                  </a:txBody>
                  <a:tcPr marL="73152" marR="73152" marT="36576" marB="36576">
                    <a:solidFill>
                      <a:srgbClr val="F7F4EC"/>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7F4EC"/>
                    </a:solidFill>
                  </a:tcPr>
                </a:tc>
              </a:tr>
              <a:tr h="822960">
                <a:tc>
                  <a:txBody>
                    <a:bodyPr wrap="square"/>
                    <a:lstStyle/>
                    <a:p>
                      <a:r>
                        <a:rPr sz="1200" b="1">
                          <a:solidFill>
                            <a:srgbClr val="2B2A28"/>
                          </a:solidFill>
                          <a:latin typeface="Segoe UI"/>
                        </a:rPr>
                        <a:t>1.0.0</a:t>
                      </a:r>
                    </a:p>
                  </a:txBody>
                  <a:tcPr marL="73152" marR="73152" marT="36576" marB="36576">
                    <a:solidFill>
                      <a:srgbClr val="FFFDF8"/>
                    </a:solidFill>
                  </a:tcPr>
                </a:tc>
                <a:tc>
                  <a:txBody>
                    <a:bodyPr wrap="square"/>
                    <a:lstStyle/>
                    <a:p>
                      <a:r>
                        <a:rPr sz="1200" b="0">
                          <a:solidFill>
                            <a:srgbClr val="2B2A28"/>
                          </a:solidFill>
                          <a:latin typeface="Segoe UI"/>
                        </a:rPr>
                        <a:t>2026-10-21</a:t>
                      </a:r>
                    </a:p>
                  </a:txBody>
                  <a:tcPr marL="73152" marR="73152" marT="36576" marB="36576">
                    <a:solidFill>
                      <a:srgbClr val="FFFDF8"/>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2.20.0 -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