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274320"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80160"/>
            <a:ext cx="5943600" cy="457200"/>
          </a:xfrm>
          <a:prstGeom prst="rect">
            <a:avLst/>
          </a:prstGeom>
          <a:noFill/>
        </p:spPr>
        <p:txBody>
          <a:bodyPr wrap="square" anchor="t" lIns="45720" rIns="45720" tIns="27432" bIns="27432">
            <a:spAutoFit/>
          </a:bodyPr>
          <a:lstStyle/>
          <a:p>
            <a:pPr algn="l"/>
            <a:r>
              <a:rPr sz="1600" b="1">
                <a:solidFill>
                  <a:srgbClr val="4CB86B"/>
                </a:solidFill>
                <a:latin typeface="Segoe UI"/>
              </a:rPr>
              <a:t>USER GUIDE</a:t>
            </a:r>
          </a:p>
        </p:txBody>
      </p:sp>
      <p:sp>
        <p:nvSpPr>
          <p:cNvPr id="4" name="TextBox 3"/>
          <p:cNvSpPr txBox="1"/>
          <p:nvPr/>
        </p:nvSpPr>
        <p:spPr>
          <a:xfrm>
            <a:off x="822960" y="1691640"/>
            <a:ext cx="5943600" cy="1280160"/>
          </a:xfrm>
          <a:prstGeom prst="rect">
            <a:avLst/>
          </a:prstGeom>
          <a:noFill/>
        </p:spPr>
        <p:txBody>
          <a:bodyPr wrap="square" anchor="t" lIns="45720" rIns="45720" tIns="27432" bIns="27432">
            <a:spAutoFit/>
          </a:bodyPr>
          <a:lstStyle/>
          <a:p>
            <a:pPr algn="l"/>
            <a:r>
              <a:rPr sz="8000" b="1">
                <a:solidFill>
                  <a:srgbClr val="2B2A28"/>
                </a:solidFill>
                <a:latin typeface="Georgia"/>
              </a:rPr>
              <a:t>Pips</a:t>
            </a:r>
          </a:p>
        </p:txBody>
      </p:sp>
      <p:sp>
        <p:nvSpPr>
          <p:cNvPr id="5" name="TextBox 4"/>
          <p:cNvSpPr txBox="1"/>
          <p:nvPr/>
        </p:nvSpPr>
        <p:spPr>
          <a:xfrm>
            <a:off x="822960" y="2971800"/>
            <a:ext cx="5669280" cy="1097280"/>
          </a:xfrm>
          <a:prstGeom prst="rect">
            <a:avLst/>
          </a:prstGeom>
          <a:noFill/>
        </p:spPr>
        <p:txBody>
          <a:bodyPr wrap="square" anchor="t" lIns="45720" rIns="45720" tIns="27432" bIns="27432">
            <a:spAutoFit/>
          </a:bodyPr>
          <a:lstStyle/>
          <a:p>
            <a:pPr algn="l"/>
            <a:r>
              <a:rPr sz="2400" b="0">
                <a:solidFill>
                  <a:srgbClr val="2B2A28"/>
                </a:solidFill>
                <a:latin typeface="Segoe UI"/>
              </a:rPr>
              <a:t>A cute social desktop pet for Windows - friends, chat &amp; a shop</a:t>
            </a:r>
          </a:p>
        </p:txBody>
      </p:sp>
      <p:sp>
        <p:nvSpPr>
          <p:cNvPr id="6" name="TextBox 5"/>
          <p:cNvSpPr txBox="1"/>
          <p:nvPr/>
        </p:nvSpPr>
        <p:spPr>
          <a:xfrm>
            <a:off x="822960" y="4160520"/>
            <a:ext cx="5669280" cy="822960"/>
          </a:xfrm>
          <a:prstGeom prst="rect">
            <a:avLst/>
          </a:prstGeom>
          <a:noFill/>
        </p:spPr>
        <p:txBody>
          <a:bodyPr wrap="square" anchor="t" lIns="45720" rIns="45720" tIns="27432" bIns="27432">
            <a:spAutoFit/>
          </a:bodyPr>
          <a:lstStyle/>
          <a:p>
            <a:pPr algn="l"/>
            <a:r>
              <a:rPr sz="1500" b="0">
                <a:solidFill>
                  <a:srgbClr val="6E6A62"/>
                </a:solidFill>
                <a:latin typeface="Segoe UI"/>
              </a:rPr>
              <a:t>Version 2.27.1  ·  2026-11-01  ·  Made by Juwen Lie (owner)</a:t>
            </a:r>
          </a:p>
          <a:p>
            <a:pPr algn="l"/>
            <a:r>
              <a:rPr sz="1500" b="0">
                <a:solidFill>
                  <a:srgbClr val="6E6A62"/>
                </a:solidFill>
                <a:latin typeface="Segoe UI"/>
              </a:rPr>
              <a:t>Contact: Juwen_Lie@pegatroncorp.com</a:t>
            </a:r>
          </a:p>
          <a:p>
            <a:pPr algn="l"/>
            <a:r>
              <a:rPr sz="1500" b="0">
                <a:solidFill>
                  <a:srgbClr val="6E6A62"/>
                </a:solidFill>
                <a:latin typeface="Segoe UI"/>
              </a:rPr>
              <a:t>English · Bahasa Indonesia · 繁體中文 · 简体中文</a:t>
            </a:r>
          </a:p>
        </p:txBody>
      </p:sp>
      <p:sp>
        <p:nvSpPr>
          <p:cNvPr id="7" name="TextBox 6"/>
          <p:cNvSpPr txBox="1"/>
          <p:nvPr/>
        </p:nvSpPr>
        <p:spPr>
          <a:xfrm>
            <a:off x="822960" y="5760720"/>
            <a:ext cx="5943600" cy="457200"/>
          </a:xfrm>
          <a:prstGeom prst="rect">
            <a:avLst/>
          </a:prstGeom>
          <a:noFill/>
        </p:spPr>
        <p:txBody>
          <a:bodyPr wrap="square" anchor="t" lIns="45720" rIns="45720" tIns="27432" bIns="27432">
            <a:spAutoFit/>
          </a:bodyPr>
          <a:lstStyle/>
          <a:p>
            <a:pPr algn="l"/>
            <a:r>
              <a:rPr sz="1400" b="1">
                <a:solidFill>
                  <a:srgbClr val="8B1A1A"/>
                </a:solidFill>
                <a:latin typeface="Segoe UI"/>
              </a:rPr>
              <a:t>https://juw12.github.io/projects/pips/</a:t>
            </a:r>
          </a:p>
        </p:txBody>
      </p:sp>
      <p:sp>
        <p:nvSpPr>
          <p:cNvPr id="8" name="Rounded Rectangle 7"/>
          <p:cNvSpPr/>
          <p:nvPr/>
        </p:nvSpPr>
        <p:spPr>
          <a:xfrm>
            <a:off x="6766560" y="1097280"/>
            <a:ext cx="4937760" cy="402336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ero_pets.png"/>
          <p:cNvPicPr>
            <a:picLocks noChangeAspect="1"/>
          </p:cNvPicPr>
          <p:nvPr/>
        </p:nvPicPr>
        <p:blipFill>
          <a:blip r:embed="rId2"/>
          <a:stretch>
            <a:fillRect/>
          </a:stretch>
        </p:blipFill>
        <p:spPr>
          <a:xfrm>
            <a:off x="6949440" y="1508760"/>
            <a:ext cx="4572000" cy="3200400"/>
          </a:xfrm>
          <a:prstGeom prst="rect">
            <a:avLst/>
          </a:prstGeom>
        </p:spPr>
      </p:pic>
      <p:sp>
        <p:nvSpPr>
          <p:cNvPr id="10" name="TextBox 9"/>
          <p:cNvSpPr txBox="1"/>
          <p:nvPr/>
        </p:nvSpPr>
        <p:spPr>
          <a:xfrm>
            <a:off x="6766560" y="525780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Pick from 23 animals - land, water and sky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OVERVIEW</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 is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2</a:t>
            </a:r>
          </a:p>
        </p:txBody>
      </p:sp>
      <p:sp>
        <p:nvSpPr>
          <p:cNvPr id="7" name="TextBox 6"/>
          <p:cNvSpPr txBox="1"/>
          <p:nvPr/>
        </p:nvSpPr>
        <p:spPr>
          <a:xfrm>
            <a:off x="548640" y="1645920"/>
            <a:ext cx="6583680" cy="4572000"/>
          </a:xfrm>
          <a:prstGeom prst="rect">
            <a:avLst/>
          </a:prstGeom>
          <a:noFill/>
        </p:spPr>
        <p:txBody>
          <a:bodyPr wrap="square">
            <a:spAutoFit/>
          </a:bodyPr>
          <a:lstStyle/>
          <a:p>
            <a:pPr>
              <a:spcAft>
                <a:spcPts val="1000"/>
              </a:spcAft>
            </a:pPr>
            <a:r>
              <a:rPr sz="1800" b="1">
                <a:solidFill>
                  <a:srgbClr val="4CB86B"/>
                </a:solidFill>
                <a:latin typeface="Segoe UI"/>
              </a:rPr>
              <a:t>•  </a:t>
            </a:r>
            <a:r>
              <a:rPr sz="1800" b="1">
                <a:solidFill>
                  <a:srgbClr val="2B2A28"/>
                </a:solidFill>
                <a:latin typeface="Segoe UI"/>
              </a:rPr>
              <a:t>A desk buddy. </a:t>
            </a:r>
            <a:r>
              <a:rPr sz="1800">
                <a:solidFill>
                  <a:srgbClr val="2B2A28"/>
                </a:solidFill>
                <a:latin typeface="Segoe UI"/>
              </a:rPr>
              <a:t>A little animal lives on your desktop - land animals walk on the taskbar and on top of windows, water animals swim and splash, flyers fly around. It naps, chats and reacts when you play with it.</a:t>
            </a:r>
          </a:p>
          <a:p>
            <a:pPr>
              <a:spcAft>
                <a:spcPts val="1000"/>
              </a:spcAft>
            </a:pPr>
            <a:r>
              <a:rPr sz="1800" b="1">
                <a:solidFill>
                  <a:srgbClr val="4CB86B"/>
                </a:solidFill>
                <a:latin typeface="Segoe UI"/>
              </a:rPr>
              <a:t>•  </a:t>
            </a:r>
            <a:r>
              <a:rPr sz="1800" b="1">
                <a:solidFill>
                  <a:srgbClr val="2B2A28"/>
                </a:solidFill>
                <a:latin typeface="Segoe UI"/>
              </a:rPr>
              <a:t>A social pet. </a:t>
            </a:r>
            <a:r>
              <a:rPr sz="1800">
                <a:solidFill>
                  <a:srgbClr val="2B2A28"/>
                </a:solidFill>
                <a:latin typeface="Segoe UI"/>
              </a:rPr>
              <a:t>Click the pet to open the Pips hub: friends, chat, groups, and a shop with props and moves for your pet.</a:t>
            </a:r>
          </a:p>
          <a:p>
            <a:pPr>
              <a:spcAft>
                <a:spcPts val="1000"/>
              </a:spcAft>
            </a:pPr>
            <a:r>
              <a:rPr sz="1800" b="1">
                <a:solidFill>
                  <a:srgbClr val="4CB86B"/>
                </a:solidFill>
                <a:latin typeface="Segoe UI"/>
              </a:rPr>
              <a:t>•  </a:t>
            </a:r>
            <a:r>
              <a:rPr sz="1800" b="1">
                <a:solidFill>
                  <a:srgbClr val="2B2A28"/>
                </a:solidFill>
                <a:latin typeface="Segoe UI"/>
              </a:rPr>
              <a:t>A focus timer. </a:t>
            </a:r>
            <a:r>
              <a:rPr sz="1800">
                <a:solidFill>
                  <a:srgbClr val="2B2A28"/>
                </a:solidFill>
                <a:latin typeface="Segoe UI"/>
              </a:rPr>
              <a:t>Right-click → Focus timer: a 25-minute Pomodoro with soundscapes.</a:t>
            </a:r>
          </a:p>
          <a:p>
            <a:pPr>
              <a:spcAft>
                <a:spcPts val="1000"/>
              </a:spcAft>
            </a:pPr>
            <a:r>
              <a:rPr sz="1800" b="1">
                <a:solidFill>
                  <a:srgbClr val="4CB86B"/>
                </a:solidFill>
                <a:latin typeface="Segoe UI"/>
              </a:rPr>
              <a:t>•  </a:t>
            </a:r>
            <a:r>
              <a:rPr sz="1800" b="1">
                <a:solidFill>
                  <a:srgbClr val="2B2A28"/>
                </a:solidFill>
                <a:latin typeface="Segoe UI"/>
              </a:rPr>
              <a:t>Gentle reminders. </a:t>
            </a:r>
            <a:r>
              <a:rPr sz="1800">
                <a:solidFill>
                  <a:srgbClr val="2B2A28"/>
                </a:solidFill>
                <a:latin typeface="Segoe UI"/>
              </a:rPr>
              <a:t>Breaks, drinking water, 20-20-20 eye rest and your daily goal pop up as friendly chat bubbles.</a:t>
            </a:r>
          </a:p>
          <a:p>
            <a:pPr>
              <a:spcAft>
                <a:spcPts val="1000"/>
              </a:spcAft>
            </a:pPr>
            <a:r>
              <a:rPr sz="1800" b="1">
                <a:solidFill>
                  <a:srgbClr val="4CB86B"/>
                </a:solidFill>
                <a:latin typeface="Segoe UI"/>
              </a:rPr>
              <a:t>•  </a:t>
            </a:r>
            <a:r>
              <a:rPr sz="1800" b="1">
                <a:solidFill>
                  <a:srgbClr val="2B2A28"/>
                </a:solidFill>
                <a:latin typeface="Segoe UI"/>
              </a:rPr>
              <a:t>Insights. </a:t>
            </a:r>
            <a:r>
              <a:rPr sz="1800">
                <a:solidFill>
                  <a:srgbClr val="2B2A28"/>
                </a:solidFill>
                <a:latin typeface="Segoe UI"/>
              </a:rPr>
              <a:t>A daily 1-5 star focus score, app-usage tracking and charts in the dashboard.</a:t>
            </a:r>
          </a:p>
          <a:p>
            <a:pPr>
              <a:spcAft>
                <a:spcPts val="1000"/>
              </a:spcAft>
            </a:pPr>
            <a:r>
              <a:rPr sz="1800" b="1">
                <a:solidFill>
                  <a:srgbClr val="4CB86B"/>
                </a:solidFill>
                <a:latin typeface="Segoe UI"/>
              </a:rPr>
              <a:t>•  </a:t>
            </a:r>
            <a:r>
              <a:rPr sz="1800" b="1">
                <a:solidFill>
                  <a:srgbClr val="2B2A28"/>
                </a:solidFill>
                <a:latin typeface="Segoe UI"/>
              </a:rPr>
              <a:t>Private. </a:t>
            </a:r>
            <a:r>
              <a:rPr sz="1800">
                <a:solidFill>
                  <a:srgbClr val="2B2A28"/>
                </a:solidFill>
                <a:latin typeface="Segoe UI"/>
              </a:rPr>
              <a:t>Everything stays in the Pips folder on your PC. Nothing is uploaded.</a:t>
            </a:r>
          </a:p>
          <a:p>
            <a:pPr>
              <a:spcAft>
                <a:spcPts val="1000"/>
              </a:spcAft>
            </a:pPr>
            <a:r>
              <a:rPr sz="1800" b="1">
                <a:solidFill>
                  <a:srgbClr val="4CB86B"/>
                </a:solidFill>
                <a:latin typeface="Segoe UI"/>
              </a:rPr>
              <a:t>•  </a:t>
            </a:r>
            <a:r>
              <a:rPr sz="1800" b="1">
                <a:solidFill>
                  <a:srgbClr val="2B2A28"/>
                </a:solidFill>
                <a:latin typeface="Segoe UI"/>
              </a:rPr>
              <a:t>4 languages. </a:t>
            </a:r>
            <a:r>
              <a:rPr sz="1800">
                <a:solidFill>
                  <a:srgbClr val="2B2A28"/>
                </a:solidFill>
                <a:latin typeface="Segoe UI"/>
              </a:rPr>
              <a:t>English, Bahasa Indonesia, 繁體中文, 简体中文.</a:t>
            </a:r>
          </a:p>
        </p:txBody>
      </p:sp>
      <p:pic>
        <p:nvPicPr>
          <p:cNvPr id="8" name="Picture 7" descr="card.png"/>
          <p:cNvPicPr>
            <a:picLocks noChangeAspect="1"/>
          </p:cNvPicPr>
          <p:nvPr/>
        </p:nvPicPr>
        <p:blipFill>
          <a:blip r:embed="rId2"/>
          <a:stretch>
            <a:fillRect/>
          </a:stretch>
        </p:blipFill>
        <p:spPr>
          <a:xfrm>
            <a:off x="7589520" y="1669390"/>
            <a:ext cx="2377440" cy="3336340"/>
          </a:xfrm>
          <a:prstGeom prst="rect">
            <a:avLst/>
          </a:prstGeom>
          <a:ln w="12700">
            <a:solidFill>
              <a:srgbClr val="E2DCCE"/>
            </a:solidFill>
          </a:ln>
        </p:spPr>
      </p:pic>
      <p:sp>
        <p:nvSpPr>
          <p:cNvPr id="9" name="TextBox 8"/>
          <p:cNvSpPr txBox="1"/>
          <p:nvPr/>
        </p:nvSpPr>
        <p:spPr>
          <a:xfrm>
            <a:off x="7315200" y="5166360"/>
            <a:ext cx="292608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Pips card</a:t>
            </a:r>
          </a:p>
        </p:txBody>
      </p:sp>
      <p:pic>
        <p:nvPicPr>
          <p:cNvPr id="10" name="Picture 9" descr="bee_taskbar.png"/>
          <p:cNvPicPr>
            <a:picLocks noChangeAspect="1"/>
          </p:cNvPicPr>
          <p:nvPr/>
        </p:nvPicPr>
        <p:blipFill>
          <a:blip r:embed="rId3"/>
          <a:stretch>
            <a:fillRect/>
          </a:stretch>
        </p:blipFill>
        <p:spPr>
          <a:xfrm>
            <a:off x="9966960" y="3381292"/>
            <a:ext cx="1920240" cy="918375"/>
          </a:xfrm>
          <a:prstGeom prst="rect">
            <a:avLst/>
          </a:prstGeom>
          <a:ln w="12700">
            <a:solidFill>
              <a:srgbClr val="E2DCCE"/>
            </a:solidFill>
          </a:ln>
        </p:spPr>
      </p:pic>
      <p:sp>
        <p:nvSpPr>
          <p:cNvPr id="11" name="TextBox 10"/>
          <p:cNvSpPr txBox="1"/>
          <p:nvPr/>
        </p:nvSpPr>
        <p:spPr>
          <a:xfrm>
            <a:off x="9875520" y="4617720"/>
            <a:ext cx="2103120" cy="365760"/>
          </a:xfrm>
          <a:prstGeom prst="rect">
            <a:avLst/>
          </a:prstGeom>
          <a:noFill/>
        </p:spPr>
        <p:txBody>
          <a:bodyPr wrap="square" anchor="t" lIns="45720" rIns="45720" tIns="27432" bIns="27432">
            <a:spAutoFit/>
          </a:bodyPr>
          <a:lstStyle/>
          <a:p>
            <a:pPr algn="ctr"/>
            <a:r>
              <a:rPr sz="1200" b="0">
                <a:solidFill>
                  <a:srgbClr val="6E6A62"/>
                </a:solidFill>
                <a:latin typeface="Segoe UI"/>
              </a:rPr>
              <a:t>Your pet on the taskbar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Install in 3 steps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3</a:t>
            </a:r>
          </a:p>
        </p:txBody>
      </p:sp>
      <p:sp>
        <p:nvSpPr>
          <p:cNvPr id="7" name="Rounded Rectangle 6"/>
          <p:cNvSpPr/>
          <p:nvPr/>
        </p:nvSpPr>
        <p:spPr>
          <a:xfrm>
            <a:off x="54864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1</a:t>
            </a:r>
          </a:p>
        </p:txBody>
      </p:sp>
      <p:sp>
        <p:nvSpPr>
          <p:cNvPr id="9" name="TextBox 8"/>
          <p:cNvSpPr txBox="1"/>
          <p:nvPr/>
        </p:nvSpPr>
        <p:spPr>
          <a:xfrm>
            <a:off x="137160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Download</a:t>
            </a:r>
          </a:p>
        </p:txBody>
      </p:sp>
      <p:sp>
        <p:nvSpPr>
          <p:cNvPr id="10" name="TextBox 9"/>
          <p:cNvSpPr txBox="1"/>
          <p:nvPr/>
        </p:nvSpPr>
        <p:spPr>
          <a:xfrm>
            <a:off x="77724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Click Download Pips for Windows at</a:t>
            </a:r>
          </a:p>
          <a:p>
            <a:pPr algn="l"/>
            <a:r>
              <a:rPr sz="1400" b="0">
                <a:solidFill>
                  <a:srgbClr val="2B2A28"/>
                </a:solidFill>
                <a:latin typeface="Segoe UI"/>
              </a:rPr>
              <a:t>https://juw12.github.io/projects/pips/</a:t>
            </a:r>
          </a:p>
        </p:txBody>
      </p:sp>
      <p:sp>
        <p:nvSpPr>
          <p:cNvPr id="11" name="Rounded Rectangle 10"/>
          <p:cNvSpPr/>
          <p:nvPr/>
        </p:nvSpPr>
        <p:spPr>
          <a:xfrm>
            <a:off x="438912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1772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2</a:t>
            </a:r>
          </a:p>
        </p:txBody>
      </p:sp>
      <p:sp>
        <p:nvSpPr>
          <p:cNvPr id="13" name="TextBox 12"/>
          <p:cNvSpPr txBox="1"/>
          <p:nvPr/>
        </p:nvSpPr>
        <p:spPr>
          <a:xfrm>
            <a:off x="521208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Install</a:t>
            </a:r>
          </a:p>
        </p:txBody>
      </p:sp>
      <p:sp>
        <p:nvSpPr>
          <p:cNvPr id="14" name="TextBox 13"/>
          <p:cNvSpPr txBox="1"/>
          <p:nvPr/>
        </p:nvSpPr>
        <p:spPr>
          <a:xfrm>
            <a:off x="461772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Open Pips-Setup.exe, then click Install Pips.</a:t>
            </a:r>
          </a:p>
          <a:p>
            <a:pPr algn="l"/>
            <a:r>
              <a:rPr sz="1400" b="0">
                <a:solidFill>
                  <a:srgbClr val="2B2A28"/>
                </a:solidFill>
                <a:latin typeface="Segoe UI"/>
              </a:rPr>
              <a:t>Python and every helper are included. Nothing to unzip.</a:t>
            </a:r>
          </a:p>
        </p:txBody>
      </p:sp>
      <p:sp>
        <p:nvSpPr>
          <p:cNvPr id="15" name="Rounded Rectangle 14"/>
          <p:cNvSpPr/>
          <p:nvPr/>
        </p:nvSpPr>
        <p:spPr>
          <a:xfrm>
            <a:off x="822960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45820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3</a:t>
            </a:r>
          </a:p>
        </p:txBody>
      </p:sp>
      <p:sp>
        <p:nvSpPr>
          <p:cNvPr id="17" name="TextBox 16"/>
          <p:cNvSpPr txBox="1"/>
          <p:nvPr/>
        </p:nvSpPr>
        <p:spPr>
          <a:xfrm>
            <a:off x="905256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Meet your pet</a:t>
            </a:r>
          </a:p>
        </p:txBody>
      </p:sp>
      <p:sp>
        <p:nvSpPr>
          <p:cNvPr id="18" name="TextBox 17"/>
          <p:cNvSpPr txBox="1"/>
          <p:nvPr/>
        </p:nvSpPr>
        <p:spPr>
          <a:xfrm>
            <a:off x="845820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Pips opens automatically. Choose your language.</a:t>
            </a:r>
          </a:p>
          <a:p>
            <a:pPr algn="l"/>
            <a:r>
              <a:rPr sz="1400" b="0">
                <a:solidFill>
                  <a:srgbClr val="2B2A28"/>
                </a:solidFill>
                <a:latin typeface="Segoe UI"/>
              </a:rPr>
              <a:t>Desktop and Start Menu shortcuts are ready for next time.</a:t>
            </a:r>
          </a:p>
        </p:txBody>
      </p:sp>
      <p:sp>
        <p:nvSpPr>
          <p:cNvPr id="19" name="Rounded Rectangle 18"/>
          <p:cNvSpPr/>
          <p:nvPr/>
        </p:nvSpPr>
        <p:spPr>
          <a:xfrm>
            <a:off x="548640" y="4892040"/>
            <a:ext cx="11155680" cy="132588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983480"/>
            <a:ext cx="10789920" cy="1188720"/>
          </a:xfrm>
          <a:prstGeom prst="rect">
            <a:avLst/>
          </a:prstGeom>
          <a:noFill/>
        </p:spPr>
        <p:txBody>
          <a:bodyPr wrap="square">
            <a:spAutoFit/>
          </a:bodyPr>
          <a:lstStyle/>
          <a:p>
            <a:pPr>
              <a:spcAft>
                <a:spcPts val="400"/>
              </a:spcAft>
            </a:pPr>
            <a:r>
              <a:rPr sz="1400" b="1">
                <a:solidFill>
                  <a:srgbClr val="4CB86B"/>
                </a:solidFill>
                <a:latin typeface="Segoe UI"/>
              </a:rPr>
              <a:t>•  </a:t>
            </a:r>
            <a:r>
              <a:rPr sz="1400" b="1">
                <a:solidFill>
                  <a:srgbClr val="2B2A28"/>
                </a:solidFill>
                <a:latin typeface="Segoe UI"/>
              </a:rPr>
              <a:t>Windows 10/11, 64-bit: </a:t>
            </a:r>
            <a:r>
              <a:rPr sz="1400">
                <a:solidFill>
                  <a:srgbClr val="2B2A28"/>
                </a:solidFill>
                <a:latin typeface="Segoe UI"/>
              </a:rPr>
              <a:t>no separate Python setup, terminal or administrator password.</a:t>
            </a:r>
          </a:p>
          <a:p>
            <a:pPr>
              <a:spcAft>
                <a:spcPts val="400"/>
              </a:spcAft>
            </a:pPr>
            <a:r>
              <a:rPr sz="1400" b="1">
                <a:solidFill>
                  <a:srgbClr val="4CB86B"/>
                </a:solidFill>
                <a:latin typeface="Segoe UI"/>
              </a:rPr>
              <a:t>•  </a:t>
            </a:r>
            <a:r>
              <a:rPr sz="1400" b="1">
                <a:solidFill>
                  <a:srgbClr val="2B2A28"/>
                </a:solidFill>
                <a:latin typeface="Segoe UI"/>
              </a:rPr>
              <a:t>Already have Pips? </a:t>
            </a:r>
            <a:r>
              <a:rPr sz="1400">
                <a:solidFill>
                  <a:srgbClr val="2B2A28"/>
                </a:solidFill>
                <a:latin typeface="Segoe UI"/>
              </a:rPr>
              <a:t>use Help → Check for updates in your current copy. No reinstall needed.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First start: language + interactive guide</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4</a:t>
            </a:r>
          </a:p>
        </p:txBody>
      </p:sp>
      <p:pic>
        <p:nvPicPr>
          <p:cNvPr id="7" name="Picture 6" descr="lang_picker.png"/>
          <p:cNvPicPr>
            <a:picLocks noChangeAspect="1"/>
          </p:cNvPicPr>
          <p:nvPr/>
        </p:nvPicPr>
        <p:blipFill>
          <a:blip r:embed="rId2"/>
          <a:stretch>
            <a:fillRect/>
          </a:stretch>
        </p:blipFill>
        <p:spPr>
          <a:xfrm>
            <a:off x="587201" y="1645920"/>
            <a:ext cx="3489038" cy="3749039"/>
          </a:xfrm>
          <a:prstGeom prst="rect">
            <a:avLst/>
          </a:prstGeom>
          <a:ln w="12700">
            <a:solidFill>
              <a:srgbClr val="E2DCCE"/>
            </a:solidFill>
          </a:ln>
        </p:spPr>
      </p:pic>
      <p:sp>
        <p:nvSpPr>
          <p:cNvPr id="8" name="TextBox 7"/>
          <p:cNvSpPr txBox="1"/>
          <p:nvPr/>
        </p:nvSpPr>
        <p:spPr>
          <a:xfrm>
            <a:off x="548640" y="5440680"/>
            <a:ext cx="3566160" cy="365760"/>
          </a:xfrm>
          <a:prstGeom prst="rect">
            <a:avLst/>
          </a:prstGeom>
          <a:noFill/>
        </p:spPr>
        <p:txBody>
          <a:bodyPr wrap="square" anchor="t" lIns="45720" rIns="45720" tIns="27432" bIns="27432">
            <a:spAutoFit/>
          </a:bodyPr>
          <a:lstStyle/>
          <a:p>
            <a:pPr algn="ctr"/>
            <a:r>
              <a:rPr sz="1200" b="0">
                <a:solidFill>
                  <a:srgbClr val="6E6A62"/>
                </a:solidFill>
                <a:latin typeface="Segoe UI"/>
              </a:rPr>
              <a:t>① Pick your language</a:t>
            </a:r>
          </a:p>
        </p:txBody>
      </p:sp>
      <p:pic>
        <p:nvPicPr>
          <p:cNvPr id="9" name="Picture 8" descr="tour_welcome.png"/>
          <p:cNvPicPr>
            <a:picLocks noChangeAspect="1"/>
          </p:cNvPicPr>
          <p:nvPr/>
        </p:nvPicPr>
        <p:blipFill>
          <a:blip r:embed="rId3"/>
          <a:stretch>
            <a:fillRect/>
          </a:stretch>
        </p:blipFill>
        <p:spPr>
          <a:xfrm>
            <a:off x="4389120" y="1648558"/>
            <a:ext cx="3931920" cy="2646484"/>
          </a:xfrm>
          <a:prstGeom prst="rect">
            <a:avLst/>
          </a:prstGeom>
          <a:ln w="12700">
            <a:solidFill>
              <a:srgbClr val="E2DCCE"/>
            </a:solidFill>
          </a:ln>
        </p:spPr>
      </p:pic>
      <p:sp>
        <p:nvSpPr>
          <p:cNvPr id="10" name="TextBox 9"/>
          <p:cNvSpPr txBox="1"/>
          <p:nvPr/>
        </p:nvSpPr>
        <p:spPr>
          <a:xfrm>
            <a:off x="4389120" y="4343400"/>
            <a:ext cx="3931920" cy="365760"/>
          </a:xfrm>
          <a:prstGeom prst="rect">
            <a:avLst/>
          </a:prstGeom>
          <a:noFill/>
        </p:spPr>
        <p:txBody>
          <a:bodyPr wrap="square" anchor="t" lIns="45720" rIns="45720" tIns="27432" bIns="27432">
            <a:spAutoFit/>
          </a:bodyPr>
          <a:lstStyle/>
          <a:p>
            <a:pPr algn="ctr"/>
            <a:r>
              <a:rPr sz="1200" b="0">
                <a:solidFill>
                  <a:srgbClr val="6E6A62"/>
                </a:solidFill>
                <a:latin typeface="Segoe UI"/>
              </a:rPr>
              <a:t>② Your pet says hi and offers a 1-minute guide</a:t>
            </a:r>
          </a:p>
        </p:txBody>
      </p:sp>
      <p:sp>
        <p:nvSpPr>
          <p:cNvPr id="11" name="TextBox 10"/>
          <p:cNvSpPr txBox="1"/>
          <p:nvPr/>
        </p:nvSpPr>
        <p:spPr>
          <a:xfrm>
            <a:off x="8595360" y="1645920"/>
            <a:ext cx="329184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a:solidFill>
                  <a:srgbClr val="2B2A28"/>
                </a:solidFill>
                <a:latin typeface="Segoe UI"/>
              </a:rPr>
              <a:t>A language window appears once. You can change it later (right-click the pet → Language).</a:t>
            </a:r>
          </a:p>
          <a:p>
            <a:pPr>
              <a:spcAft>
                <a:spcPts val="800"/>
              </a:spcAft>
            </a:pPr>
            <a:r>
              <a:rPr sz="1500" b="1">
                <a:solidFill>
                  <a:srgbClr val="4CB86B"/>
                </a:solidFill>
                <a:latin typeface="Segoe UI"/>
              </a:rPr>
              <a:t>•  </a:t>
            </a:r>
            <a:r>
              <a:rPr sz="1500">
                <a:solidFill>
                  <a:srgbClr val="2B2A28"/>
                </a:solidFill>
                <a:latin typeface="Segoe UI"/>
              </a:rPr>
              <a:t>Then your pet walks you through the basics - just follow the bubble.</a:t>
            </a:r>
          </a:p>
          <a:p>
            <a:pPr>
              <a:spcAft>
                <a:spcPts val="800"/>
              </a:spcAft>
            </a:pPr>
            <a:r>
              <a:rPr sz="1500" b="1">
                <a:solidFill>
                  <a:srgbClr val="4CB86B"/>
                </a:solidFill>
                <a:latin typeface="Segoe UI"/>
              </a:rPr>
              <a:t>•  </a:t>
            </a:r>
            <a:r>
              <a:rPr sz="1500">
                <a:solidFill>
                  <a:srgbClr val="2B2A28"/>
                </a:solidFill>
                <a:latin typeface="Segoe UI"/>
              </a:rPr>
              <a:t>Press “Skip guide” anytime.</a:t>
            </a:r>
          </a:p>
          <a:p>
            <a:pPr>
              <a:spcAft>
                <a:spcPts val="800"/>
              </a:spcAft>
            </a:pPr>
            <a:r>
              <a:rPr sz="1500" b="1">
                <a:solidFill>
                  <a:srgbClr val="4CB86B"/>
                </a:solidFill>
                <a:latin typeface="Segoe UI"/>
              </a:rPr>
              <a:t>•  </a:t>
            </a:r>
            <a:r>
              <a:rPr sz="1500" b="1">
                <a:solidFill>
                  <a:srgbClr val="2B2A28"/>
                </a:solidFill>
                <a:latin typeface="Segoe UI"/>
              </a:rPr>
              <a:t>Replay: </a:t>
            </a:r>
            <a:r>
              <a:rPr sz="1500">
                <a:solidFill>
                  <a:srgbClr val="2B2A28"/>
                </a:solidFill>
                <a:latin typeface="Segoe UI"/>
              </a:rPr>
              <a:t>right-click the pet → Help → Interactive guide.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The interactive guide, step by step</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5</a:t>
            </a:r>
          </a:p>
        </p:txBody>
      </p:sp>
      <p:graphicFrame>
        <p:nvGraphicFramePr>
          <p:cNvPr id="7" name="Table 6"/>
          <p:cNvGraphicFramePr>
            <a:graphicFrameLocks noGrp="1"/>
          </p:cNvGraphicFramePr>
          <p:nvPr/>
        </p:nvGraphicFramePr>
        <p:xfrm>
          <a:off x="548640" y="1645920"/>
          <a:ext cx="6949440" cy="3401568"/>
        </p:xfrm>
        <a:graphic>
          <a:graphicData uri="http://schemas.openxmlformats.org/drawingml/2006/table">
            <a:tbl>
              <a:tblPr firstRow="1" bandRow="1">
                <a:tableStyleId>{5C22544A-7EE6-4342-B048-85BDC9FD1C3A}</a:tableStyleId>
              </a:tblPr>
              <a:tblGrid>
                <a:gridCol w="731520"/>
                <a:gridCol w="2377440"/>
                <a:gridCol w="3840480"/>
              </a:tblGrid>
              <a:tr h="384048">
                <a:tc>
                  <a:txBody>
                    <a:bodyPr wrap="square"/>
                    <a:lstStyle/>
                    <a:p>
                      <a:r>
                        <a:rPr sz="1300" b="1">
                          <a:solidFill>
                            <a:srgbClr val="FFFFFF"/>
                          </a:solidFill>
                          <a:latin typeface="Segoe UI"/>
                        </a:rPr>
                        <a:t>Step</a:t>
                      </a:r>
                    </a:p>
                  </a:txBody>
                  <a:tcPr marL="73152" marR="73152" marT="36576" marB="36576">
                    <a:solidFill>
                      <a:srgbClr val="8B1A1A"/>
                    </a:solidFill>
                  </a:tcPr>
                </a:tc>
                <a:tc>
                  <a:txBody>
                    <a:bodyPr wrap="square"/>
                    <a:lstStyle/>
                    <a:p>
                      <a:r>
                        <a:rPr sz="1300" b="1">
                          <a:solidFill>
                            <a:srgbClr val="FFFFFF"/>
                          </a:solidFill>
                          <a:latin typeface="Segoe UI"/>
                        </a:rPr>
                        <a:t>What the pet asks</a:t>
                      </a:r>
                    </a:p>
                  </a:txBody>
                  <a:tcPr marL="73152" marR="73152" marT="36576" marB="36576">
                    <a:solidFill>
                      <a:srgbClr val="8B1A1A"/>
                    </a:solidFill>
                  </a:tcPr>
                </a:tc>
                <a:tc>
                  <a:txBody>
                    <a:bodyPr wrap="square"/>
                    <a:lstStyle/>
                    <a:p>
                      <a:r>
                        <a:rPr sz="1300" b="1">
                          <a:solidFill>
                            <a:srgbClr val="FFFFFF"/>
                          </a:solidFill>
                          <a:latin typeface="Segoe UI"/>
                        </a:rPr>
                        <a:t>What it teaches</a:t>
                      </a:r>
                    </a:p>
                  </a:txBody>
                  <a:tcPr marL="73152" marR="73152" marT="36576" marB="36576">
                    <a:solidFill>
                      <a:srgbClr val="8B1A1A"/>
                    </a:solidFill>
                  </a:tcPr>
                </a:tc>
              </a:tr>
              <a:tr h="502920">
                <a:tc>
                  <a:txBody>
                    <a:bodyPr wrap="square"/>
                    <a:lstStyle/>
                    <a:p>
                      <a:r>
                        <a:rPr sz="1300" b="1">
                          <a:solidFill>
                            <a:srgbClr val="2B2A28"/>
                          </a:solidFill>
                          <a:latin typeface="Segoe UI"/>
                        </a:rPr>
                        <a:t>1</a:t>
                      </a:r>
                    </a:p>
                  </a:txBody>
                  <a:tcPr marL="73152" marR="73152" marT="36576" marB="36576">
                    <a:solidFill>
                      <a:srgbClr val="FFFDF8"/>
                    </a:solidFill>
                  </a:tcPr>
                </a:tc>
                <a:tc>
                  <a:txBody>
                    <a:bodyPr wrap="square"/>
                    <a:lstStyle/>
                    <a:p>
                      <a:r>
                        <a:rPr sz="1300" b="0">
                          <a:solidFill>
                            <a:srgbClr val="2B2A28"/>
                          </a:solidFill>
                          <a:latin typeface="Segoe UI"/>
                        </a:rPr>
                        <a:t>Click me once</a:t>
                      </a:r>
                    </a:p>
                  </a:txBody>
                  <a:tcPr marL="73152" marR="73152" marT="36576" marB="36576">
                    <a:solidFill>
                      <a:srgbClr val="FFFDF8"/>
                    </a:solidFill>
                  </a:tcPr>
                </a:tc>
                <a:tc>
                  <a:txBody>
                    <a:bodyPr wrap="square"/>
                    <a:lstStyle/>
                    <a:p>
                      <a:r>
                        <a:rPr sz="1300" b="0">
                          <a:solidFill>
                            <a:srgbClr val="2B2A28"/>
                          </a:solidFill>
                          <a:latin typeface="Segoe UI"/>
                        </a:rPr>
                        <a:t>Clicking the pet opens the Pips hub (friends, chat, shop)</a:t>
                      </a:r>
                    </a:p>
                  </a:txBody>
                  <a:tcPr marL="73152" marR="73152" marT="36576" marB="36576">
                    <a:solidFill>
                      <a:srgbClr val="FFFDF8"/>
                    </a:solidFill>
                  </a:tcPr>
                </a:tc>
              </a:tr>
              <a:tr h="502920">
                <a:tc>
                  <a:txBody>
                    <a:bodyPr wrap="square"/>
                    <a:lstStyle/>
                    <a:p>
                      <a:r>
                        <a:rPr sz="1300" b="1">
                          <a:solidFill>
                            <a:srgbClr val="2B2A28"/>
                          </a:solidFill>
                          <a:latin typeface="Segoe UI"/>
                        </a:rPr>
                        <a:t>2</a:t>
                      </a:r>
                    </a:p>
                  </a:txBody>
                  <a:tcPr marL="73152" marR="73152" marT="36576" marB="36576">
                    <a:solidFill>
                      <a:srgbClr val="F7F4EC"/>
                    </a:solidFill>
                  </a:tcPr>
                </a:tc>
                <a:tc>
                  <a:txBody>
                    <a:bodyPr wrap="square"/>
                    <a:lstStyle/>
                    <a:p>
                      <a:r>
                        <a:rPr sz="1300" b="0">
                          <a:solidFill>
                            <a:srgbClr val="2B2A28"/>
                          </a:solidFill>
                          <a:latin typeface="Segoe UI"/>
                        </a:rPr>
                        <a:t>Click the ring</a:t>
                      </a:r>
                    </a:p>
                  </a:txBody>
                  <a:tcPr marL="73152" marR="73152" marT="36576" marB="36576">
                    <a:solidFill>
                      <a:srgbClr val="F7F4EC"/>
                    </a:solidFill>
                  </a:tcPr>
                </a:tc>
                <a:tc>
                  <a:txBody>
                    <a:bodyPr wrap="square"/>
                    <a:lstStyle/>
                    <a:p>
                      <a:r>
                        <a:rPr sz="1300" b="0">
                          <a:solidFill>
                            <a:srgbClr val="2B2A28"/>
                          </a:solidFill>
                          <a:latin typeface="Segoe UI"/>
                        </a:rPr>
                        <a:t>Start / pause a 25-minute focus session; – or ✕ hides the card</a:t>
                      </a:r>
                    </a:p>
                  </a:txBody>
                  <a:tcPr marL="73152" marR="73152" marT="36576" marB="36576">
                    <a:solidFill>
                      <a:srgbClr val="F7F4EC"/>
                    </a:solidFill>
                  </a:tcPr>
                </a:tc>
              </a:tr>
              <a:tr h="502920">
                <a:tc>
                  <a:txBody>
                    <a:bodyPr wrap="square"/>
                    <a:lstStyle/>
                    <a:p>
                      <a:r>
                        <a:rPr sz="1300" b="1">
                          <a:solidFill>
                            <a:srgbClr val="2B2A28"/>
                          </a:solidFill>
                          <a:latin typeface="Segoe UI"/>
                        </a:rPr>
                        <a:t>3</a:t>
                      </a:r>
                    </a:p>
                  </a:txBody>
                  <a:tcPr marL="73152" marR="73152" marT="36576" marB="36576">
                    <a:solidFill>
                      <a:srgbClr val="FFFDF8"/>
                    </a:solidFill>
                  </a:tcPr>
                </a:tc>
                <a:tc>
                  <a:txBody>
                    <a:bodyPr wrap="square"/>
                    <a:lstStyle/>
                    <a:p>
                      <a:r>
                        <a:rPr sz="1300" b="0">
                          <a:solidFill>
                            <a:srgbClr val="2B2A28"/>
                          </a:solidFill>
                          <a:latin typeface="Segoe UI"/>
                        </a:rPr>
                        <a:t>Drag me anywhere</a:t>
                      </a:r>
                    </a:p>
                  </a:txBody>
                  <a:tcPr marL="73152" marR="73152" marT="36576" marB="36576">
                    <a:solidFill>
                      <a:srgbClr val="FFFDF8"/>
                    </a:solidFill>
                  </a:tcPr>
                </a:tc>
                <a:tc>
                  <a:txBody>
                    <a:bodyPr wrap="square"/>
                    <a:lstStyle/>
                    <a:p>
                      <a:r>
                        <a:rPr sz="1300" b="0">
                          <a:solidFill>
                            <a:srgbClr val="2B2A28"/>
                          </a:solidFill>
                          <a:latin typeface="Segoe UI"/>
                        </a:rPr>
                        <a:t>Move the pet; land animals drop onto a window or the taskbar, water animals dive back in, flyers stay where you let go</a:t>
                      </a:r>
                    </a:p>
                  </a:txBody>
                  <a:tcPr marL="73152" marR="73152" marT="36576" marB="36576">
                    <a:solidFill>
                      <a:srgbClr val="FFFDF8"/>
                    </a:solidFill>
                  </a:tcPr>
                </a:tc>
              </a:tr>
              <a:tr h="502920">
                <a:tc>
                  <a:txBody>
                    <a:bodyPr wrap="square"/>
                    <a:lstStyle/>
                    <a:p>
                      <a:r>
                        <a:rPr sz="1300" b="1">
                          <a:solidFill>
                            <a:srgbClr val="2B2A28"/>
                          </a:solidFill>
                          <a:latin typeface="Segoe UI"/>
                        </a:rPr>
                        <a:t>4</a:t>
                      </a:r>
                    </a:p>
                  </a:txBody>
                  <a:tcPr marL="73152" marR="73152" marT="36576" marB="36576">
                    <a:solidFill>
                      <a:srgbClr val="F7F4EC"/>
                    </a:solidFill>
                  </a:tcPr>
                </a:tc>
                <a:tc>
                  <a:txBody>
                    <a:bodyPr wrap="square"/>
                    <a:lstStyle/>
                    <a:p>
                      <a:r>
                        <a:rPr sz="1300" b="0">
                          <a:solidFill>
                            <a:srgbClr val="2B2A28"/>
                          </a:solidFill>
                          <a:latin typeface="Segoe UI"/>
                        </a:rPr>
                        <a:t>Rub your mouse over me</a:t>
                      </a:r>
                    </a:p>
                  </a:txBody>
                  <a:tcPr marL="73152" marR="73152" marT="36576" marB="36576">
                    <a:solidFill>
                      <a:srgbClr val="F7F4EC"/>
                    </a:solidFill>
                  </a:tcPr>
                </a:tc>
                <a:tc>
                  <a:txBody>
                    <a:bodyPr wrap="square"/>
                    <a:lstStyle/>
                    <a:p>
                      <a:r>
                        <a:rPr sz="1300" b="0">
                          <a:solidFill>
                            <a:srgbClr val="2B2A28"/>
                          </a:solidFill>
                          <a:latin typeface="Segoe UI"/>
                        </a:rPr>
                        <a:t>Petting makes it happy (hearts!)</a:t>
                      </a:r>
                    </a:p>
                  </a:txBody>
                  <a:tcPr marL="73152" marR="73152" marT="36576" marB="36576">
                    <a:solidFill>
                      <a:srgbClr val="F7F4EC"/>
                    </a:solidFill>
                  </a:tcPr>
                </a:tc>
              </a:tr>
              <a:tr h="502920">
                <a:tc>
                  <a:txBody>
                    <a:bodyPr wrap="square"/>
                    <a:lstStyle/>
                    <a:p>
                      <a:r>
                        <a:rPr sz="1300" b="1">
                          <a:solidFill>
                            <a:srgbClr val="2B2A28"/>
                          </a:solidFill>
                          <a:latin typeface="Segoe UI"/>
                        </a:rPr>
                        <a:t>5</a:t>
                      </a:r>
                    </a:p>
                  </a:txBody>
                  <a:tcPr marL="73152" marR="73152" marT="36576" marB="36576">
                    <a:solidFill>
                      <a:srgbClr val="FFFDF8"/>
                    </a:solidFill>
                  </a:tcPr>
                </a:tc>
                <a:tc>
                  <a:txBody>
                    <a:bodyPr wrap="square"/>
                    <a:lstStyle/>
                    <a:p>
                      <a:r>
                        <a:rPr sz="1300" b="0">
                          <a:solidFill>
                            <a:srgbClr val="2B2A28"/>
                          </a:solidFill>
                          <a:latin typeface="Segoe UI"/>
                        </a:rPr>
                        <a:t>Right-click me</a:t>
                      </a:r>
                    </a:p>
                  </a:txBody>
                  <a:tcPr marL="73152" marR="73152" marT="36576" marB="36576">
                    <a:solidFill>
                      <a:srgbClr val="FFFDF8"/>
                    </a:solidFill>
                  </a:tcPr>
                </a:tc>
                <a:tc>
                  <a:txBody>
                    <a:bodyPr wrap="square"/>
                    <a:lstStyle/>
                    <a:p>
                      <a:r>
                        <a:rPr sz="1300" b="0">
                          <a:solidFill>
                            <a:srgbClr val="2B2A28"/>
                          </a:solidFill>
                          <a:latin typeface="Segoe UI"/>
                        </a:rPr>
                        <a:t>The menu: snacks, sleep, animals, colours, language, settings</a:t>
                      </a:r>
                    </a:p>
                  </a:txBody>
                  <a:tcPr marL="73152" marR="73152" marT="36576" marB="36576">
                    <a:solidFill>
                      <a:srgbClr val="FFFDF8"/>
                    </a:solidFill>
                  </a:tcPr>
                </a:tc>
              </a:tr>
              <a:tr h="502920">
                <a:tc>
                  <a:txBody>
                    <a:bodyPr wrap="square"/>
                    <a:lstStyle/>
                    <a:p>
                      <a:r>
                        <a:rPr sz="1300" b="1">
                          <a:solidFill>
                            <a:srgbClr val="2B2A28"/>
                          </a:solidFill>
                          <a:latin typeface="Segoe UI"/>
                        </a:rPr>
                        <a:t>6</a:t>
                      </a:r>
                    </a:p>
                  </a:txBody>
                  <a:tcPr marL="73152" marR="73152" marT="36576" marB="36576">
                    <a:solidFill>
                      <a:srgbClr val="F7F4EC"/>
                    </a:solidFill>
                  </a:tcPr>
                </a:tc>
                <a:tc>
                  <a:txBody>
                    <a:bodyPr wrap="square"/>
                    <a:lstStyle/>
                    <a:p>
                      <a:r>
                        <a:rPr sz="1300" b="0">
                          <a:solidFill>
                            <a:srgbClr val="2B2A28"/>
                          </a:solidFill>
                          <a:latin typeface="Segoe UI"/>
                        </a:rPr>
                        <a:t>I have moods!</a:t>
                      </a:r>
                    </a:p>
                  </a:txBody>
                  <a:tcPr marL="73152" marR="73152" marT="36576" marB="36576">
                    <a:solidFill>
                      <a:srgbClr val="F7F4EC"/>
                    </a:solidFill>
                  </a:tcPr>
                </a:tc>
                <a:tc>
                  <a:txBody>
                    <a:bodyPr wrap="square"/>
                    <a:lstStyle/>
                    <a:p>
                      <a:r>
                        <a:rPr sz="1300" b="0">
                          <a:solidFill>
                            <a:srgbClr val="2B2A28"/>
                          </a:solidFill>
                          <a:latin typeface="Segoe UI"/>
                        </a:rPr>
                        <a:t>Keep it happy: pet, feed and finish pomodoros</a:t>
                      </a:r>
                    </a:p>
                  </a:txBody>
                  <a:tcPr marL="73152" marR="73152" marT="36576" marB="36576">
                    <a:solidFill>
                      <a:srgbClr val="F7F4EC"/>
                    </a:solidFill>
                  </a:tcPr>
                </a:tc>
              </a:tr>
            </a:tbl>
          </a:graphicData>
        </a:graphic>
      </p:graphicFrame>
      <p:pic>
        <p:nvPicPr>
          <p:cNvPr id="8" name="Picture 7" descr="tour_click.png"/>
          <p:cNvPicPr>
            <a:picLocks noChangeAspect="1"/>
          </p:cNvPicPr>
          <p:nvPr/>
        </p:nvPicPr>
        <p:blipFill>
          <a:blip r:embed="rId2"/>
          <a:stretch>
            <a:fillRect/>
          </a:stretch>
        </p:blipFill>
        <p:spPr>
          <a:xfrm>
            <a:off x="7772400" y="1860452"/>
            <a:ext cx="2011680" cy="1354015"/>
          </a:xfrm>
          <a:prstGeom prst="rect">
            <a:avLst/>
          </a:prstGeom>
          <a:ln w="12700">
            <a:solidFill>
              <a:srgbClr val="E2DCCE"/>
            </a:solidFill>
          </a:ln>
        </p:spPr>
      </p:pic>
      <p:sp>
        <p:nvSpPr>
          <p:cNvPr id="9" name="TextBox 8"/>
          <p:cNvSpPr txBox="1"/>
          <p:nvPr/>
        </p:nvSpPr>
        <p:spPr>
          <a:xfrm>
            <a:off x="777240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1</a:t>
            </a:r>
          </a:p>
        </p:txBody>
      </p:sp>
      <p:pic>
        <p:nvPicPr>
          <p:cNvPr id="10" name="Picture 9" descr="tour_drag.png"/>
          <p:cNvPicPr>
            <a:picLocks noChangeAspect="1"/>
          </p:cNvPicPr>
          <p:nvPr/>
        </p:nvPicPr>
        <p:blipFill>
          <a:blip r:embed="rId3"/>
          <a:stretch>
            <a:fillRect/>
          </a:stretch>
        </p:blipFill>
        <p:spPr>
          <a:xfrm>
            <a:off x="9921240" y="1860452"/>
            <a:ext cx="2011680" cy="1354015"/>
          </a:xfrm>
          <a:prstGeom prst="rect">
            <a:avLst/>
          </a:prstGeom>
          <a:ln w="12700">
            <a:solidFill>
              <a:srgbClr val="E2DCCE"/>
            </a:solidFill>
          </a:ln>
        </p:spPr>
      </p:pic>
      <p:sp>
        <p:nvSpPr>
          <p:cNvPr id="11" name="TextBox 10"/>
          <p:cNvSpPr txBox="1"/>
          <p:nvPr/>
        </p:nvSpPr>
        <p:spPr>
          <a:xfrm>
            <a:off x="992124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3</a:t>
            </a:r>
          </a:p>
        </p:txBody>
      </p:sp>
      <p:pic>
        <p:nvPicPr>
          <p:cNvPr id="12" name="Picture 11" descr="tour_pet.png"/>
          <p:cNvPicPr>
            <a:picLocks noChangeAspect="1"/>
          </p:cNvPicPr>
          <p:nvPr/>
        </p:nvPicPr>
        <p:blipFill>
          <a:blip r:embed="rId4"/>
          <a:stretch>
            <a:fillRect/>
          </a:stretch>
        </p:blipFill>
        <p:spPr>
          <a:xfrm>
            <a:off x="7772400" y="4100732"/>
            <a:ext cx="2011680" cy="1354015"/>
          </a:xfrm>
          <a:prstGeom prst="rect">
            <a:avLst/>
          </a:prstGeom>
          <a:ln w="12700">
            <a:solidFill>
              <a:srgbClr val="E2DCCE"/>
            </a:solidFill>
          </a:ln>
        </p:spPr>
      </p:pic>
      <p:sp>
        <p:nvSpPr>
          <p:cNvPr id="13" name="TextBox 12"/>
          <p:cNvSpPr txBox="1"/>
          <p:nvPr/>
        </p:nvSpPr>
        <p:spPr>
          <a:xfrm>
            <a:off x="777240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4</a:t>
            </a:r>
          </a:p>
        </p:txBody>
      </p:sp>
      <p:pic>
        <p:nvPicPr>
          <p:cNvPr id="14" name="Picture 13" descr="tour_menu.png"/>
          <p:cNvPicPr>
            <a:picLocks noChangeAspect="1"/>
          </p:cNvPicPr>
          <p:nvPr/>
        </p:nvPicPr>
        <p:blipFill>
          <a:blip r:embed="rId5"/>
          <a:stretch>
            <a:fillRect/>
          </a:stretch>
        </p:blipFill>
        <p:spPr>
          <a:xfrm>
            <a:off x="9921240" y="4100732"/>
            <a:ext cx="2011680" cy="1354015"/>
          </a:xfrm>
          <a:prstGeom prst="rect">
            <a:avLst/>
          </a:prstGeom>
          <a:ln w="12700">
            <a:solidFill>
              <a:srgbClr val="E2DCCE"/>
            </a:solidFill>
          </a:ln>
        </p:spPr>
      </p:pic>
      <p:sp>
        <p:nvSpPr>
          <p:cNvPr id="15" name="TextBox 14"/>
          <p:cNvSpPr txBox="1"/>
          <p:nvPr/>
        </p:nvSpPr>
        <p:spPr>
          <a:xfrm>
            <a:off x="992124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Playing with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6</a:t>
            </a:r>
          </a:p>
        </p:txBody>
      </p:sp>
      <p:graphicFrame>
        <p:nvGraphicFramePr>
          <p:cNvPr id="7" name="Table 6"/>
          <p:cNvGraphicFramePr>
            <a:graphicFrameLocks noGrp="1"/>
          </p:cNvGraphicFramePr>
          <p:nvPr/>
        </p:nvGraphicFramePr>
        <p:xfrm>
          <a:off x="548640" y="1645920"/>
          <a:ext cx="7315200" cy="5614416"/>
        </p:xfrm>
        <a:graphic>
          <a:graphicData uri="http://schemas.openxmlformats.org/drawingml/2006/table">
            <a:tbl>
              <a:tblPr firstRow="1" bandRow="1">
                <a:tableStyleId>{5C22544A-7EE6-4342-B048-85BDC9FD1C3A}</a:tableStyleId>
              </a:tblPr>
              <a:tblGrid>
                <a:gridCol w="2743200"/>
                <a:gridCol w="4572000"/>
              </a:tblGrid>
              <a:tr h="384048">
                <a:tc>
                  <a:txBody>
                    <a:bodyPr wrap="square"/>
                    <a:lstStyle/>
                    <a:p>
                      <a:r>
                        <a:rPr sz="1400" b="1">
                          <a:solidFill>
                            <a:srgbClr val="FFFFFF"/>
                          </a:solidFill>
                          <a:latin typeface="Segoe UI"/>
                        </a:rPr>
                        <a:t>Do this</a:t>
                      </a:r>
                    </a:p>
                  </a:txBody>
                  <a:tcPr marL="73152" marR="73152" marT="36576" marB="36576">
                    <a:solidFill>
                      <a:srgbClr val="8B1A1A"/>
                    </a:solidFill>
                  </a:tcPr>
                </a:tc>
                <a:tc>
                  <a:txBody>
                    <a:bodyPr wrap="square"/>
                    <a:lstStyle/>
                    <a:p>
                      <a:r>
                        <a:rPr sz="1400" b="1">
                          <a:solidFill>
                            <a:srgbClr val="FFFFFF"/>
                          </a:solidFill>
                          <a:latin typeface="Segoe UI"/>
                        </a:rPr>
                        <a:t>What happens</a:t>
                      </a:r>
                    </a:p>
                  </a:txBody>
                  <a:tcPr marL="73152" marR="73152" marT="36576" marB="36576">
                    <a:solidFill>
                      <a:srgbClr val="8B1A1A"/>
                    </a:solidFill>
                  </a:tcPr>
                </a:tc>
              </a:tr>
              <a:tr h="475488">
                <a:tc>
                  <a:txBody>
                    <a:bodyPr wrap="square"/>
                    <a:lstStyle/>
                    <a:p>
                      <a:r>
                        <a:rPr sz="1400" b="1">
                          <a:solidFill>
                            <a:srgbClr val="2B2A28"/>
                          </a:solidFill>
                          <a:latin typeface="Segoe UI"/>
                        </a:rPr>
                        <a:t>Click</a:t>
                      </a:r>
                    </a:p>
                  </a:txBody>
                  <a:tcPr marL="73152" marR="73152" marT="36576" marB="36576">
                    <a:solidFill>
                      <a:srgbClr val="FFFDF8"/>
                    </a:solidFill>
                  </a:tcPr>
                </a:tc>
                <a:tc>
                  <a:txBody>
                    <a:bodyPr wrap="square"/>
                    <a:lstStyle/>
                    <a:p>
                      <a:r>
                        <a:rPr sz="1400" b="0">
                          <a:solidFill>
                            <a:srgbClr val="2B2A28"/>
                          </a:solidFill>
                          <a:latin typeface="Segoe UI"/>
                        </a:rPr>
                        <a:t>Giggles and opens the Pips hub (friends, chat, groups, shop)</a:t>
                      </a:r>
                    </a:p>
                  </a:txBody>
                  <a:tcPr marL="73152" marR="73152" marT="36576" marB="36576">
                    <a:solidFill>
                      <a:srgbClr val="FFFDF8"/>
                    </a:solidFill>
                  </a:tcPr>
                </a:tc>
              </a:tr>
              <a:tr h="475488">
                <a:tc>
                  <a:txBody>
                    <a:bodyPr wrap="square"/>
                    <a:lstStyle/>
                    <a:p>
                      <a:r>
                        <a:rPr sz="1400" b="1">
                          <a:solidFill>
                            <a:srgbClr val="2B2A28"/>
                          </a:solidFill>
                          <a:latin typeface="Segoe UI"/>
                        </a:rPr>
                        <a:t>Drag &amp; drop</a:t>
                      </a:r>
                    </a:p>
                  </a:txBody>
                  <a:tcPr marL="73152" marR="73152" marT="36576" marB="36576">
                    <a:solidFill>
                      <a:srgbClr val="F7F4EC"/>
                    </a:solidFill>
                  </a:tcPr>
                </a:tc>
                <a:tc>
                  <a:txBody>
                    <a:bodyPr wrap="square"/>
                    <a:lstStyle/>
                    <a:p>
                      <a:r>
                        <a:rPr sz="1400" b="0">
                          <a:solidFill>
                            <a:srgbClr val="2B2A28"/>
                          </a:solidFill>
                          <a:latin typeface="Segoe UI"/>
                        </a:rPr>
                        <a:t>Carry it anywhere. Land animals fall onto the window edge below (or the taskbar), water animals splash back into the water, flyers hover where you let go</a:t>
                      </a:r>
                    </a:p>
                  </a:txBody>
                  <a:tcPr marL="73152" marR="73152" marT="36576" marB="36576">
                    <a:solidFill>
                      <a:srgbClr val="F7F4EC"/>
                    </a:solidFill>
                  </a:tcPr>
                </a:tc>
              </a:tr>
              <a:tr h="475488">
                <a:tc>
                  <a:txBody>
                    <a:bodyPr wrap="square"/>
                    <a:lstStyle/>
                    <a:p>
                      <a:r>
                        <a:rPr sz="1400" b="1">
                          <a:solidFill>
                            <a:srgbClr val="2B2A28"/>
                          </a:solidFill>
                          <a:latin typeface="Segoe UI"/>
                        </a:rPr>
                        <a:t>Rub the mouse back and forth</a:t>
                      </a:r>
                    </a:p>
                  </a:txBody>
                  <a:tcPr marL="73152" marR="73152" marT="36576" marB="36576">
                    <a:solidFill>
                      <a:srgbClr val="FFFDF8"/>
                    </a:solidFill>
                  </a:tcPr>
                </a:tc>
                <a:tc>
                  <a:txBody>
                    <a:bodyPr wrap="square"/>
                    <a:lstStyle/>
                    <a:p>
                      <a:r>
                        <a:rPr sz="1400" b="0">
                          <a:solidFill>
                            <a:srgbClr val="2B2A28"/>
                          </a:solidFill>
                          <a:latin typeface="Segoe UI"/>
                        </a:rPr>
                        <a:t>Petting ♥ - happiness and bond go up</a:t>
                      </a:r>
                    </a:p>
                  </a:txBody>
                  <a:tcPr marL="73152" marR="73152" marT="36576" marB="36576">
                    <a:solidFill>
                      <a:srgbClr val="FFFDF8"/>
                    </a:solidFill>
                  </a:tcPr>
                </a:tc>
              </a:tr>
              <a:tr h="475488">
                <a:tc>
                  <a:txBody>
                    <a:bodyPr wrap="square"/>
                    <a:lstStyle/>
                    <a:p>
                      <a:r>
                        <a:rPr sz="1400" b="1">
                          <a:solidFill>
                            <a:srgbClr val="2B2A28"/>
                          </a:solidFill>
                          <a:latin typeface="Segoe UI"/>
                        </a:rPr>
                        <a:t>Shake while dragging</a:t>
                      </a:r>
                    </a:p>
                  </a:txBody>
                  <a:tcPr marL="73152" marR="73152" marT="36576" marB="36576">
                    <a:solidFill>
                      <a:srgbClr val="F7F4EC"/>
                    </a:solidFill>
                  </a:tcPr>
                </a:tc>
                <a:tc>
                  <a:txBody>
                    <a:bodyPr wrap="square"/>
                    <a:lstStyle/>
                    <a:p>
                      <a:r>
                        <a:rPr sz="1400" b="0">
                          <a:solidFill>
                            <a:srgbClr val="2B2A28"/>
                          </a:solidFill>
                          <a:latin typeface="Segoe UI"/>
                        </a:rPr>
                        <a:t>Dizzy! (don't overdo it)</a:t>
                      </a:r>
                    </a:p>
                  </a:txBody>
                  <a:tcPr marL="73152" marR="73152" marT="36576" marB="36576">
                    <a:solidFill>
                      <a:srgbClr val="F7F4EC"/>
                    </a:solidFill>
                  </a:tcPr>
                </a:tc>
              </a:tr>
              <a:tr h="475488">
                <a:tc>
                  <a:txBody>
                    <a:bodyPr wrap="square"/>
                    <a:lstStyle/>
                    <a:p>
                      <a:r>
                        <a:rPr sz="1400" b="1">
                          <a:solidFill>
                            <a:srgbClr val="2B2A28"/>
                          </a:solidFill>
                          <a:latin typeface="Segoe UI"/>
                        </a:rPr>
                        <a:t>Right-click</a:t>
                      </a:r>
                    </a:p>
                  </a:txBody>
                  <a:tcPr marL="73152" marR="73152" marT="36576" marB="36576">
                    <a:solidFill>
                      <a:srgbClr val="FFFDF8"/>
                    </a:solidFill>
                  </a:tcPr>
                </a:tc>
                <a:tc>
                  <a:txBody>
                    <a:bodyPr wrap="square"/>
                    <a:lstStyle/>
                    <a:p>
                      <a:r>
                        <a:rPr sz="1400" b="0">
                          <a:solidFill>
                            <a:srgbClr val="2B2A28"/>
                          </a:solidFill>
                          <a:latin typeface="Segoe UI"/>
                        </a:rPr>
                        <a:t>Menu: snack, sleep / wake, Animal, colours, size, Language, Help…</a:t>
                      </a:r>
                    </a:p>
                  </a:txBody>
                  <a:tcPr marL="73152" marR="73152" marT="36576" marB="36576">
                    <a:solidFill>
                      <a:srgbClr val="FFFDF8"/>
                    </a:solidFill>
                  </a:tcPr>
                </a:tc>
              </a:tr>
              <a:tr h="475488">
                <a:tc>
                  <a:txBody>
                    <a:bodyPr wrap="square"/>
                    <a:lstStyle/>
                    <a:p>
                      <a:r>
                        <a:rPr sz="1400" b="1">
                          <a:solidFill>
                            <a:srgbClr val="2B2A28"/>
                          </a:solidFill>
                          <a:latin typeface="Segoe UI"/>
                        </a:rPr>
                        <a:t>Give a snack ♨</a:t>
                      </a:r>
                    </a:p>
                  </a:txBody>
                  <a:tcPr marL="73152" marR="73152" marT="36576" marB="36576">
                    <a:solidFill>
                      <a:srgbClr val="F7F4EC"/>
                    </a:solidFill>
                  </a:tcPr>
                </a:tc>
                <a:tc>
                  <a:txBody>
                    <a:bodyPr wrap="square"/>
                    <a:lstStyle/>
                    <a:p>
                      <a:r>
                        <a:rPr sz="1400" b="0">
                          <a:solidFill>
                            <a:srgbClr val="2B2A28"/>
                          </a:solidFill>
                          <a:latin typeface="Segoe UI"/>
                        </a:rPr>
                        <a:t>Fills its tummy (right-click → Give a snack)</a:t>
                      </a:r>
                    </a:p>
                  </a:txBody>
                  <a:tcPr marL="73152" marR="73152" marT="36576" marB="36576">
                    <a:solidFill>
                      <a:srgbClr val="F7F4EC"/>
                    </a:solidFill>
                  </a:tcPr>
                </a:tc>
              </a:tr>
              <a:tr h="475488">
                <a:tc>
                  <a:txBody>
                    <a:bodyPr wrap="square"/>
                    <a:lstStyle/>
                    <a:p>
                      <a:r>
                        <a:rPr sz="1400" b="1">
                          <a:solidFill>
                            <a:srgbClr val="2B2A28"/>
                          </a:solidFill>
                          <a:latin typeface="Segoe UI"/>
                        </a:rPr>
                        <a:t>Leave the PC</a:t>
                      </a:r>
                    </a:p>
                  </a:txBody>
                  <a:tcPr marL="73152" marR="73152" marT="36576" marB="36576">
                    <a:solidFill>
                      <a:srgbClr val="FFFDF8"/>
                    </a:solidFill>
                  </a:tcPr>
                </a:tc>
                <a:tc>
                  <a:txBody>
                    <a:bodyPr wrap="square"/>
                    <a:lstStyle/>
                    <a:p>
                      <a:r>
                        <a:rPr sz="1400" b="0">
                          <a:solidFill>
                            <a:srgbClr val="2B2A28"/>
                          </a:solidFill>
                          <a:latin typeface="Segoe UI"/>
                        </a:rPr>
                        <a:t>It naps after a few minutes and wakes up when you're back</a:t>
                      </a:r>
                    </a:p>
                  </a:txBody>
                  <a:tcPr marL="73152" marR="73152" marT="36576" marB="36576">
                    <a:solidFill>
                      <a:srgbClr val="FFFDF8"/>
                    </a:solidFill>
                  </a:tcPr>
                </a:tc>
              </a:tr>
              <a:tr h="475488">
                <a:tc>
                  <a:txBody>
                    <a:bodyPr wrap="square"/>
                    <a:lstStyle/>
                    <a:p>
                      <a:r>
                        <a:rPr sz="1400" b="1">
                          <a:solidFill>
                            <a:srgbClr val="2B2A28"/>
                          </a:solidFill>
                          <a:latin typeface="Segoe UI"/>
                        </a:rPr>
                        <a:t>Listen ♪</a:t>
                      </a:r>
                    </a:p>
                  </a:txBody>
                  <a:tcPr marL="73152" marR="73152" marT="36576" marB="36576">
                    <a:solidFill>
                      <a:srgbClr val="F7F4EC"/>
                    </a:solidFill>
                  </a:tcPr>
                </a:tc>
                <a:tc>
                  <a:txBody>
                    <a:bodyPr wrap="square"/>
                    <a:lstStyle/>
                    <a:p>
                      <a:r>
                        <a:rPr sz="1400" b="0">
                          <a:solidFill>
                            <a:srgbClr val="2B2A28"/>
                          </a:solidFill>
                          <a:latin typeface="Segoe UI"/>
                        </a:rPr>
                        <a:t>51 animal voices that change with its mood. Sing &amp; dance tricks play a song you pick: right-click → Do a trick → Song</a:t>
                      </a:r>
                    </a:p>
                  </a:txBody>
                  <a:tcPr marL="73152" marR="73152" marT="36576" marB="36576">
                    <a:solidFill>
                      <a:srgbClr val="F7F4EC"/>
                    </a:solidFill>
                  </a:tcPr>
                </a:tc>
              </a:tr>
              <a:tr h="475488">
                <a:tc>
                  <a:txBody>
                    <a:bodyPr wrap="square"/>
                    <a:lstStyle/>
                    <a:p>
                      <a:r>
                        <a:rPr sz="1400" b="1">
                          <a:solidFill>
                            <a:srgbClr val="2B2A28"/>
                          </a:solidFill>
                          <a:latin typeface="Segoe UI"/>
                        </a:rPr>
                        <a:t>Battle ⚔</a:t>
                      </a:r>
                    </a:p>
                  </a:txBody>
                  <a:tcPr marL="73152" marR="73152" marT="36576" marB="36576">
                    <a:solidFill>
                      <a:srgbClr val="FFFDF8"/>
                    </a:solidFill>
                  </a:tcPr>
                </a:tc>
                <a:tc>
                  <a:txBody>
                    <a:bodyPr wrap="square"/>
                    <a:lstStyle/>
                    <a:p>
                      <a:r>
                        <a:rPr sz="1400" b="0">
                          <a:solidFill>
                            <a:srgbClr val="2B2A28"/>
                          </a:solidFill>
                          <a:latin typeface="Segoe UI"/>
                        </a:rPr>
                        <a:t>Arena duels: compare stats (level + gear), pick 3 skills, choose best of 1/3/5 rounds and take turns until one pet is knocked out - press the skills yourself or switch on 🤖 Auto</a:t>
                      </a:r>
                    </a:p>
                  </a:txBody>
                  <a:tcPr marL="73152" marR="73152" marT="36576" marB="36576">
                    <a:solidFill>
                      <a:srgbClr val="FFFDF8"/>
                    </a:solidFill>
                  </a:tcPr>
                </a:tc>
              </a:tr>
              <a:tr h="475488">
                <a:tc>
                  <a:txBody>
                    <a:bodyPr wrap="square"/>
                    <a:lstStyle/>
                    <a:p>
                      <a:r>
                        <a:rPr sz="1400" b="1">
                          <a:solidFill>
                            <a:srgbClr val="2B2A28"/>
                          </a:solidFill>
                          <a:latin typeface="Segoe UI"/>
                        </a:rPr>
                        <a:t>Games 🎲</a:t>
                      </a:r>
                    </a:p>
                  </a:txBody>
                  <a:tcPr marL="73152" marR="73152" marT="36576" marB="36576">
                    <a:solidFill>
                      <a:srgbClr val="F7F4EC"/>
                    </a:solidFill>
                  </a:tcPr>
                </a:tc>
                <a:tc>
                  <a:txBody>
                    <a:bodyPr wrap="square"/>
                    <a:lstStyle/>
                    <a:p>
                      <a:r>
                        <a:rPr sz="1400" b="0">
                          <a:solidFill>
                            <a:srgbClr val="2B2A28"/>
                          </a:solidFill>
                          <a:latin typeface="Segoe UI"/>
                        </a:rPr>
                        <a:t>5 minigames - Treat Catch, Bonk the Bugs, Memory Match, Pet Says, Hop Hop - alone or with up to 7 friends (same round, live scores), plus Pet Duel (Hub → Play → Minigames or right-click → Games)</a:t>
                      </a:r>
                    </a:p>
                  </a:txBody>
                  <a:tcPr marL="73152" marR="73152" marT="36576" marB="36576">
                    <a:solidFill>
                      <a:srgbClr val="F7F4EC"/>
                    </a:solidFill>
                  </a:tcPr>
                </a:tc>
              </a:tr>
              <a:tr h="475488">
                <a:tc>
                  <a:txBody>
                    <a:bodyPr wrap="square"/>
                    <a:lstStyle/>
                    <a:p>
                      <a:r>
                        <a:rPr sz="1400" b="1">
                          <a:solidFill>
                            <a:srgbClr val="2B2A28"/>
                          </a:solidFill>
                          <a:latin typeface="Segoe UI"/>
                        </a:rPr>
                        <a:t>Weather ☔</a:t>
                      </a:r>
                    </a:p>
                  </a:txBody>
                  <a:tcPr marL="73152" marR="73152" marT="36576" marB="36576">
                    <a:solidFill>
                      <a:srgbClr val="FFFDF8"/>
                    </a:solidFill>
                  </a:tcPr>
                </a:tc>
                <a:tc>
                  <a:txBody>
                    <a:bodyPr wrap="square"/>
                    <a:lstStyle/>
                    <a:p>
                      <a:r>
                        <a:rPr sz="1400" b="0">
                          <a:solidFill>
                            <a:srgbClr val="2B2A28"/>
                          </a:solidFill>
                          <a:latin typeface="Segoe UI"/>
                        </a:rPr>
                        <a:t>Live weather around your pet (rain cloud + umbrella, snow, sun, stars, storms). Right-click → Weather &amp; location to follow your exact spot or pick a place</a:t>
                      </a:r>
                    </a:p>
                  </a:txBody>
                  <a:tcPr marL="73152" marR="73152" marT="36576" marB="36576">
                    <a:solidFill>
                      <a:srgbClr val="FFFDF8"/>
                    </a:solidFill>
                  </a:tcPr>
                </a:tc>
              </a:tr>
            </a:tbl>
          </a:graphicData>
        </a:graphic>
      </p:graphicFrame>
      <p:pic>
        <p:nvPicPr>
          <p:cNvPr id="8" name="Picture 7" descr="tour_menu.png"/>
          <p:cNvPicPr>
            <a:picLocks noChangeAspect="1"/>
          </p:cNvPicPr>
          <p:nvPr/>
        </p:nvPicPr>
        <p:blipFill>
          <a:blip r:embed="rId2"/>
          <a:stretch>
            <a:fillRect/>
          </a:stretch>
        </p:blipFill>
        <p:spPr>
          <a:xfrm>
            <a:off x="8138160" y="1664384"/>
            <a:ext cx="3749039" cy="2523391"/>
          </a:xfrm>
          <a:prstGeom prst="rect">
            <a:avLst/>
          </a:prstGeom>
          <a:ln w="12700">
            <a:solidFill>
              <a:srgbClr val="E2DCCE"/>
            </a:solidFill>
          </a:ln>
        </p:spPr>
      </p:pic>
      <p:sp>
        <p:nvSpPr>
          <p:cNvPr id="9" name="TextBox 8"/>
          <p:cNvSpPr txBox="1"/>
          <p:nvPr/>
        </p:nvSpPr>
        <p:spPr>
          <a:xfrm>
            <a:off x="8138160" y="4251960"/>
            <a:ext cx="3749039" cy="365760"/>
          </a:xfrm>
          <a:prstGeom prst="rect">
            <a:avLst/>
          </a:prstGeom>
          <a:noFill/>
        </p:spPr>
        <p:txBody>
          <a:bodyPr wrap="square" anchor="t" lIns="45720" rIns="45720" tIns="27432" bIns="27432">
            <a:spAutoFit/>
          </a:bodyPr>
          <a:lstStyle/>
          <a:p>
            <a:pPr algn="ctr"/>
            <a:r>
              <a:rPr sz="1200" b="0">
                <a:solidFill>
                  <a:srgbClr val="6E6A62"/>
                </a:solidFill>
                <a:latin typeface="Segoe UI"/>
              </a:rPr>
              <a:t>Right-click = everything</a:t>
            </a:r>
          </a:p>
        </p:txBody>
      </p:sp>
      <p:sp>
        <p:nvSpPr>
          <p:cNvPr id="10" name="TextBox 9"/>
          <p:cNvSpPr txBox="1"/>
          <p:nvPr/>
        </p:nvSpPr>
        <p:spPr>
          <a:xfrm>
            <a:off x="8138160" y="4754880"/>
            <a:ext cx="3749039" cy="1371600"/>
          </a:xfrm>
          <a:prstGeom prst="rect">
            <a:avLst/>
          </a:prstGeom>
          <a:noFill/>
        </p:spPr>
        <p:txBody>
          <a:bodyPr wrap="square" anchor="t" lIns="45720" rIns="45720" tIns="27432" bIns="27432">
            <a:spAutoFit/>
          </a:bodyPr>
          <a:lstStyle/>
          <a:p>
            <a:pPr algn="l"/>
            <a:r>
              <a:rPr sz="1300" b="0">
                <a:solidFill>
                  <a:srgbClr val="6E6A62"/>
                </a:solidFill>
                <a:latin typeface="Segoe UI"/>
              </a:rPr>
              <a:t>Just want to tickle? Right-click → When I click → Only tickle (never open Pips).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23 animals in 3 groups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7</a:t>
            </a:r>
          </a:p>
        </p:txBody>
      </p:sp>
      <p:pic>
        <p:nvPicPr>
          <p:cNvPr id="7" name="Picture 6" descr="species_sheet.png"/>
          <p:cNvPicPr>
            <a:picLocks noChangeAspect="1"/>
          </p:cNvPicPr>
          <p:nvPr/>
        </p:nvPicPr>
        <p:blipFill>
          <a:blip r:embed="rId2"/>
          <a:stretch>
            <a:fillRect/>
          </a:stretch>
        </p:blipFill>
        <p:spPr>
          <a:xfrm>
            <a:off x="548640" y="1613447"/>
            <a:ext cx="7040880" cy="4179745"/>
          </a:xfrm>
          <a:prstGeom prst="rect">
            <a:avLst/>
          </a:prstGeom>
          <a:ln w="12700">
            <a:solidFill>
              <a:srgbClr val="E2DCCE"/>
            </a:solidFill>
          </a:ln>
        </p:spPr>
      </p:pic>
      <p:sp>
        <p:nvSpPr>
          <p:cNvPr id="8" name="TextBox 7"/>
          <p:cNvSpPr txBox="1"/>
          <p:nvPr/>
        </p:nvSpPr>
        <p:spPr>
          <a:xfrm>
            <a:off x="7863840" y="1645920"/>
            <a:ext cx="402336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b="1">
                <a:solidFill>
                  <a:srgbClr val="2B2A28"/>
                </a:solidFill>
                <a:latin typeface="Segoe UI"/>
              </a:rPr>
              <a:t>Land (9): </a:t>
            </a:r>
            <a:r>
              <a:rPr sz="1500">
                <a:solidFill>
                  <a:srgbClr val="2B2A28"/>
                </a:solidFill>
                <a:latin typeface="Segoe UI"/>
              </a:rPr>
              <a:t>cat, dog, bunny, bear, panda, fox, hamster, pig, sprout - they walk &amp; hop.</a:t>
            </a:r>
          </a:p>
          <a:p>
            <a:pPr>
              <a:spcAft>
                <a:spcPts val="800"/>
              </a:spcAft>
            </a:pPr>
            <a:r>
              <a:rPr sz="1500" b="1">
                <a:solidFill>
                  <a:srgbClr val="4CB86B"/>
                </a:solidFill>
                <a:latin typeface="Segoe UI"/>
              </a:rPr>
              <a:t>•  </a:t>
            </a:r>
            <a:r>
              <a:rPr sz="1500" b="1">
                <a:solidFill>
                  <a:srgbClr val="2B2A28"/>
                </a:solidFill>
                <a:latin typeface="Segoe UI"/>
              </a:rPr>
              <a:t>Water (8): </a:t>
            </a:r>
            <a:r>
              <a:rPr sz="1500">
                <a:solidFill>
                  <a:srgbClr val="2B2A28"/>
                </a:solidFill>
                <a:latin typeface="Segoe UI"/>
              </a:rPr>
              <a:t>fish, whale, octopus, axolotl, penguin, turtle, frog, jellyfish - they swim with bubbles.</a:t>
            </a:r>
          </a:p>
          <a:p>
            <a:pPr>
              <a:spcAft>
                <a:spcPts val="800"/>
              </a:spcAft>
            </a:pPr>
            <a:r>
              <a:rPr sz="1500" b="1">
                <a:solidFill>
                  <a:srgbClr val="4CB86B"/>
                </a:solidFill>
                <a:latin typeface="Segoe UI"/>
              </a:rPr>
              <a:t>•  </a:t>
            </a:r>
            <a:r>
              <a:rPr sz="1500" b="1">
                <a:solidFill>
                  <a:srgbClr val="2B2A28"/>
                </a:solidFill>
                <a:latin typeface="Segoe UI"/>
              </a:rPr>
              <a:t>Sky (6): </a:t>
            </a:r>
            <a:r>
              <a:rPr sz="1500">
                <a:solidFill>
                  <a:srgbClr val="2B2A28"/>
                </a:solidFill>
                <a:latin typeface="Segoe UI"/>
              </a:rPr>
              <a:t>bird, owl, bat, bee, butterfly, dragon - they hover and flap.</a:t>
            </a:r>
          </a:p>
          <a:p>
            <a:pPr>
              <a:spcAft>
                <a:spcPts val="800"/>
              </a:spcAft>
            </a:pPr>
            <a:r>
              <a:rPr sz="1500" b="1">
                <a:solidFill>
                  <a:srgbClr val="4CB86B"/>
                </a:solidFill>
                <a:latin typeface="Segoe UI"/>
              </a:rPr>
              <a:t>•  </a:t>
            </a:r>
            <a:r>
              <a:rPr sz="1500" b="1">
                <a:solidFill>
                  <a:srgbClr val="2B2A28"/>
                </a:solidFill>
                <a:latin typeface="Segoe UI"/>
              </a:rPr>
              <a:t>Change: </a:t>
            </a:r>
            <a:r>
              <a:rPr sz="1500">
                <a:solidFill>
                  <a:srgbClr val="2B2A28"/>
                </a:solidFill>
                <a:latin typeface="Segoe UI"/>
              </a:rPr>
              <a:t>right-click → Animal, or the tabs in Pet status &amp; settings.</a:t>
            </a:r>
          </a:p>
          <a:p>
            <a:pPr>
              <a:spcAft>
                <a:spcPts val="800"/>
              </a:spcAft>
            </a:pPr>
            <a:r>
              <a:rPr sz="1500" b="1">
                <a:solidFill>
                  <a:srgbClr val="4CB86B"/>
                </a:solidFill>
                <a:latin typeface="Segoe UI"/>
              </a:rPr>
              <a:t>•  </a:t>
            </a:r>
            <a:r>
              <a:rPr sz="1500" b="1">
                <a:solidFill>
                  <a:srgbClr val="2B2A28"/>
                </a:solidFill>
                <a:latin typeface="Segoe UI"/>
              </a:rPr>
              <a:t>Make it yours: </a:t>
            </a:r>
            <a:r>
              <a:rPr sz="1500">
                <a:solidFill>
                  <a:srgbClr val="2B2A28"/>
                </a:solidFill>
                <a:latin typeface="Segoe UI"/>
              </a:rPr>
              <a:t>name, body colour, cheek colour and size S / M / L.</a:t>
            </a:r>
          </a:p>
          <a:p>
            <a:pPr>
              <a:spcAft>
                <a:spcPts val="800"/>
              </a:spcAft>
            </a:pPr>
            <a:r>
              <a:rPr sz="1500" b="1">
                <a:solidFill>
                  <a:srgbClr val="4CB86B"/>
                </a:solidFill>
                <a:latin typeface="Segoe UI"/>
              </a:rPr>
              <a:t>•  </a:t>
            </a:r>
            <a:r>
              <a:rPr sz="1500" b="1">
                <a:solidFill>
                  <a:srgbClr val="2B2A28"/>
                </a:solidFill>
                <a:latin typeface="Segoe UI"/>
              </a:rPr>
              <a:t>Own voice ♪: </a:t>
            </a:r>
            <a:r>
              <a:rPr sz="1500">
                <a:solidFill>
                  <a:srgbClr val="2B2A28"/>
                </a:solidFill>
                <a:latin typeface="Segoe UI"/>
              </a:rPr>
              <a:t>every animal sounds different - happy, sleepy, hungry or grumpy.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Moods &amp; needs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8</a:t>
            </a:r>
          </a:p>
        </p:txBody>
      </p:sp>
      <p:graphicFrame>
        <p:nvGraphicFramePr>
          <p:cNvPr id="7" name="Table 6"/>
          <p:cNvGraphicFramePr>
            <a:graphicFrameLocks noGrp="1"/>
          </p:cNvGraphicFramePr>
          <p:nvPr/>
        </p:nvGraphicFramePr>
        <p:xfrm>
          <a:off x="548640" y="1645920"/>
          <a:ext cx="7498080" cy="2578608"/>
        </p:xfrm>
        <a:graphic>
          <a:graphicData uri="http://schemas.openxmlformats.org/drawingml/2006/table">
            <a:tbl>
              <a:tblPr firstRow="1" bandRow="1">
                <a:tableStyleId>{5C22544A-7EE6-4342-B048-85BDC9FD1C3A}</a:tableStyleId>
              </a:tblPr>
              <a:tblGrid>
                <a:gridCol w="1463040"/>
                <a:gridCol w="3474720"/>
                <a:gridCol w="2560320"/>
              </a:tblGrid>
              <a:tr h="384048">
                <a:tc>
                  <a:txBody>
                    <a:bodyPr wrap="square"/>
                    <a:lstStyle/>
                    <a:p>
                      <a:r>
                        <a:rPr sz="1400" b="1">
                          <a:solidFill>
                            <a:srgbClr val="FFFFFF"/>
                          </a:solidFill>
                          <a:latin typeface="Segoe UI"/>
                        </a:rPr>
                        <a:t>Stat</a:t>
                      </a:r>
                    </a:p>
                  </a:txBody>
                  <a:tcPr marL="73152" marR="73152" marT="36576" marB="36576">
                    <a:solidFill>
                      <a:srgbClr val="8B1A1A"/>
                    </a:solidFill>
                  </a:tcPr>
                </a:tc>
                <a:tc>
                  <a:txBody>
                    <a:bodyPr wrap="square"/>
                    <a:lstStyle/>
                    <a:p>
                      <a:r>
                        <a:rPr sz="1400" b="1">
                          <a:solidFill>
                            <a:srgbClr val="FFFFFF"/>
                          </a:solidFill>
                          <a:latin typeface="Segoe UI"/>
                        </a:rPr>
                        <a:t>Goes up when…</a:t>
                      </a:r>
                    </a:p>
                  </a:txBody>
                  <a:tcPr marL="73152" marR="73152" marT="36576" marB="36576">
                    <a:solidFill>
                      <a:srgbClr val="8B1A1A"/>
                    </a:solidFill>
                  </a:tcPr>
                </a:tc>
                <a:tc>
                  <a:txBody>
                    <a:bodyPr wrap="square"/>
                    <a:lstStyle/>
                    <a:p>
                      <a:r>
                        <a:rPr sz="1400" b="1">
                          <a:solidFill>
                            <a:srgbClr val="FFFFFF"/>
                          </a:solidFill>
                          <a:latin typeface="Segoe UI"/>
                        </a:rPr>
                        <a:t>Goes down when…</a:t>
                      </a:r>
                    </a:p>
                  </a:txBody>
                  <a:tcPr marL="73152" marR="73152" marT="36576" marB="36576">
                    <a:solidFill>
                      <a:srgbClr val="8B1A1A"/>
                    </a:solidFill>
                  </a:tcPr>
                </a:tc>
              </a:tr>
              <a:tr h="548640">
                <a:tc>
                  <a:txBody>
                    <a:bodyPr wrap="square"/>
                    <a:lstStyle/>
                    <a:p>
                      <a:r>
                        <a:rPr sz="1400" b="1">
                          <a:solidFill>
                            <a:srgbClr val="2B2A28"/>
                          </a:solidFill>
                          <a:latin typeface="Segoe UI"/>
                        </a:rPr>
                        <a:t>Happiness</a:t>
                      </a:r>
                    </a:p>
                  </a:txBody>
                  <a:tcPr marL="73152" marR="73152" marT="36576" marB="36576">
                    <a:solidFill>
                      <a:srgbClr val="FFFDF8"/>
                    </a:solidFill>
                  </a:tcPr>
                </a:tc>
                <a:tc>
                  <a:txBody>
                    <a:bodyPr wrap="square"/>
                    <a:lstStyle/>
                    <a:p>
                      <a:r>
                        <a:rPr sz="1400" b="0">
                          <a:solidFill>
                            <a:srgbClr val="2B2A28"/>
                          </a:solidFill>
                          <a:latin typeface="Segoe UI"/>
                        </a:rPr>
                        <a:t>You pet it, finish pomodoros, hit your goal</a:t>
                      </a:r>
                    </a:p>
                  </a:txBody>
                  <a:tcPr marL="73152" marR="73152" marT="36576" marB="36576">
                    <a:solidFill>
                      <a:srgbClr val="FFFDF8"/>
                    </a:solidFill>
                  </a:tcPr>
                </a:tc>
                <a:tc>
                  <a:txBody>
                    <a:bodyPr wrap="square"/>
                    <a:lstStyle/>
                    <a:p>
                      <a:r>
                        <a:rPr sz="1400" b="0">
                          <a:solidFill>
                            <a:srgbClr val="2B2A28"/>
                          </a:solidFill>
                          <a:latin typeface="Segoe UI"/>
                        </a:rPr>
                        <a:t>Ignored for long</a:t>
                      </a:r>
                    </a:p>
                  </a:txBody>
                  <a:tcPr marL="73152" marR="73152" marT="36576" marB="36576">
                    <a:solidFill>
                      <a:srgbClr val="FFFDF8"/>
                    </a:solidFill>
                  </a:tcPr>
                </a:tc>
              </a:tr>
              <a:tr h="548640">
                <a:tc>
                  <a:txBody>
                    <a:bodyPr wrap="square"/>
                    <a:lstStyle/>
                    <a:p>
                      <a:r>
                        <a:rPr sz="1400" b="1">
                          <a:solidFill>
                            <a:srgbClr val="2B2A28"/>
                          </a:solidFill>
                          <a:latin typeface="Segoe UI"/>
                        </a:rPr>
                        <a:t>Energy</a:t>
                      </a:r>
                    </a:p>
                  </a:txBody>
                  <a:tcPr marL="73152" marR="73152" marT="36576" marB="36576">
                    <a:solidFill>
                      <a:srgbClr val="F7F4EC"/>
                    </a:solidFill>
                  </a:tcPr>
                </a:tc>
                <a:tc>
                  <a:txBody>
                    <a:bodyPr wrap="square"/>
                    <a:lstStyle/>
                    <a:p>
                      <a:r>
                        <a:rPr sz="1400" b="0">
                          <a:solidFill>
                            <a:srgbClr val="2B2A28"/>
                          </a:solidFill>
                          <a:latin typeface="Segoe UI"/>
                        </a:rPr>
                        <a:t>It naps (when you're away or via Sleep)</a:t>
                      </a:r>
                    </a:p>
                  </a:txBody>
                  <a:tcPr marL="73152" marR="73152" marT="36576" marB="36576">
                    <a:solidFill>
                      <a:srgbClr val="F7F4EC"/>
                    </a:solidFill>
                  </a:tcPr>
                </a:tc>
                <a:tc>
                  <a:txBody>
                    <a:bodyPr wrap="square"/>
                    <a:lstStyle/>
                    <a:p>
                      <a:r>
                        <a:rPr sz="1400" b="0">
                          <a:solidFill>
                            <a:srgbClr val="2B2A28"/>
                          </a:solidFill>
                          <a:latin typeface="Segoe UI"/>
                        </a:rPr>
                        <a:t>Time awake, lots of play</a:t>
                      </a:r>
                    </a:p>
                  </a:txBody>
                  <a:tcPr marL="73152" marR="73152" marT="36576" marB="36576">
                    <a:solidFill>
                      <a:srgbClr val="F7F4EC"/>
                    </a:solidFill>
                  </a:tcPr>
                </a:tc>
              </a:tr>
              <a:tr h="548640">
                <a:tc>
                  <a:txBody>
                    <a:bodyPr wrap="square"/>
                    <a:lstStyle/>
                    <a:p>
                      <a:r>
                        <a:rPr sz="1400" b="1">
                          <a:solidFill>
                            <a:srgbClr val="2B2A28"/>
                          </a:solidFill>
                          <a:latin typeface="Segoe UI"/>
                        </a:rPr>
                        <a:t>Food</a:t>
                      </a:r>
                    </a:p>
                  </a:txBody>
                  <a:tcPr marL="73152" marR="73152" marT="36576" marB="36576">
                    <a:solidFill>
                      <a:srgbClr val="FFFDF8"/>
                    </a:solidFill>
                  </a:tcPr>
                </a:tc>
                <a:tc>
                  <a:txBody>
                    <a:bodyPr wrap="square"/>
                    <a:lstStyle/>
                    <a:p>
                      <a:r>
                        <a:rPr sz="1400" b="0">
                          <a:solidFill>
                            <a:srgbClr val="2B2A28"/>
                          </a:solidFill>
                          <a:latin typeface="Segoe UI"/>
                        </a:rPr>
                        <a:t>You give a snack</a:t>
                      </a:r>
                    </a:p>
                  </a:txBody>
                  <a:tcPr marL="73152" marR="73152" marT="36576" marB="36576">
                    <a:solidFill>
                      <a:srgbClr val="FFFDF8"/>
                    </a:solidFill>
                  </a:tcPr>
                </a:tc>
                <a:tc>
                  <a:txBody>
                    <a:bodyPr wrap="square"/>
                    <a:lstStyle/>
                    <a:p>
                      <a:r>
                        <a:rPr sz="1400" b="0">
                          <a:solidFill>
                            <a:srgbClr val="2B2A28"/>
                          </a:solidFill>
                          <a:latin typeface="Segoe UI"/>
                        </a:rPr>
                        <a:t>Slowly over the day</a:t>
                      </a:r>
                    </a:p>
                  </a:txBody>
                  <a:tcPr marL="73152" marR="73152" marT="36576" marB="36576">
                    <a:solidFill>
                      <a:srgbClr val="FFFDF8"/>
                    </a:solidFill>
                  </a:tcPr>
                </a:tc>
              </a:tr>
              <a:tr h="548640">
                <a:tc>
                  <a:txBody>
                    <a:bodyPr wrap="square"/>
                    <a:lstStyle/>
                    <a:p>
                      <a:r>
                        <a:rPr sz="1400" b="1">
                          <a:solidFill>
                            <a:srgbClr val="2B2A28"/>
                          </a:solidFill>
                          <a:latin typeface="Segoe UI"/>
                        </a:rPr>
                        <a:t>Bond</a:t>
                      </a:r>
                    </a:p>
                  </a:txBody>
                  <a:tcPr marL="73152" marR="73152" marT="36576" marB="36576">
                    <a:solidFill>
                      <a:srgbClr val="F7F4EC"/>
                    </a:solidFill>
                  </a:tcPr>
                </a:tc>
                <a:tc>
                  <a:txBody>
                    <a:bodyPr wrap="square"/>
                    <a:lstStyle/>
                    <a:p>
                      <a:r>
                        <a:rPr sz="1400" b="0">
                          <a:solidFill>
                            <a:srgbClr val="2B2A28"/>
                          </a:solidFill>
                          <a:latin typeface="Segoe UI"/>
                        </a:rPr>
                        <a:t>Every interaction, every day together</a:t>
                      </a:r>
                    </a:p>
                  </a:txBody>
                  <a:tcPr marL="73152" marR="73152" marT="36576" marB="36576">
                    <a:solidFill>
                      <a:srgbClr val="F7F4EC"/>
                    </a:solidFill>
                  </a:tcPr>
                </a:tc>
                <a:tc>
                  <a:txBody>
                    <a:bodyPr wrap="square"/>
                    <a:lstStyle/>
                    <a:p>
                      <a:r>
                        <a:rPr sz="1400" b="0">
                          <a:solidFill>
                            <a:srgbClr val="2B2A28"/>
                          </a:solidFill>
                          <a:latin typeface="Segoe UI"/>
                        </a:rPr>
                        <a:t>(never really drops)</a:t>
                      </a:r>
                    </a:p>
                  </a:txBody>
                  <a:tcPr marL="73152" marR="73152" marT="36576" marB="36576">
                    <a:solidFill>
                      <a:srgbClr val="F7F4EC"/>
                    </a:solidFill>
                  </a:tcPr>
                </a:tc>
              </a:tr>
            </a:tbl>
          </a:graphicData>
        </a:graphic>
      </p:graphicFrame>
      <p:sp>
        <p:nvSpPr>
          <p:cNvPr id="8" name="TextBox 7"/>
          <p:cNvSpPr txBox="1"/>
          <p:nvPr/>
        </p:nvSpPr>
        <p:spPr>
          <a:xfrm>
            <a:off x="548640" y="4663440"/>
            <a:ext cx="7498079" cy="1463040"/>
          </a:xfrm>
          <a:prstGeom prst="rect">
            <a:avLst/>
          </a:prstGeom>
          <a:noFill/>
        </p:spPr>
        <p:txBody>
          <a:bodyPr wrap="square" anchor="t" lIns="45720" rIns="45720" tIns="27432" bIns="27432">
            <a:spAutoFit/>
          </a:bodyPr>
          <a:lstStyle/>
          <a:p>
            <a:pPr algn="l"/>
            <a:r>
              <a:rPr sz="1500" b="0">
                <a:solidFill>
                  <a:srgbClr val="2B2A28"/>
                </a:solidFill>
                <a:latin typeface="Segoe UI"/>
              </a:rPr>
              <a:t>Moods you'll see: very happy · happy · okay · sad · very sad · tired · hungry · grumpy · sleeping.</a:t>
            </a:r>
          </a:p>
          <a:p>
            <a:pPr algn="l"/>
            <a:r>
              <a:rPr sz="1500" b="0">
                <a:solidFill>
                  <a:srgbClr val="2B2A28"/>
                </a:solidFill>
                <a:latin typeface="Segoe UI"/>
              </a:rPr>
              <a:t>Check them anytime: right-click → Pet status &amp; settings.</a:t>
            </a:r>
          </a:p>
        </p:txBody>
      </p:sp>
      <p:pic>
        <p:nvPicPr>
          <p:cNvPr id="9" name="Picture 8" descr="tour_moods.png"/>
          <p:cNvPicPr>
            <a:picLocks noChangeAspect="1"/>
          </p:cNvPicPr>
          <p:nvPr/>
        </p:nvPicPr>
        <p:blipFill>
          <a:blip r:embed="rId2"/>
          <a:stretch>
            <a:fillRect/>
          </a:stretch>
        </p:blipFill>
        <p:spPr>
          <a:xfrm>
            <a:off x="8321040" y="1680210"/>
            <a:ext cx="3566160" cy="2400300"/>
          </a:xfrm>
          <a:prstGeom prst="rect">
            <a:avLst/>
          </a:prstGeom>
          <a:ln w="12700">
            <a:solidFill>
              <a:srgbClr val="E2DCCE"/>
            </a:solidFill>
          </a:ln>
        </p:spPr>
      </p:pic>
      <p:pic>
        <p:nvPicPr>
          <p:cNvPr id="10" name="Picture 9" descr="tour_finish.png"/>
          <p:cNvPicPr>
            <a:picLocks noChangeAspect="1"/>
          </p:cNvPicPr>
          <p:nvPr/>
        </p:nvPicPr>
        <p:blipFill>
          <a:blip r:embed="rId3"/>
          <a:stretch>
            <a:fillRect/>
          </a:stretch>
        </p:blipFill>
        <p:spPr>
          <a:xfrm>
            <a:off x="8677656" y="4297680"/>
            <a:ext cx="2852928" cy="1920239"/>
          </a:xfrm>
          <a:prstGeom prst="rect">
            <a:avLst/>
          </a:prstGeom>
          <a:ln w="12700">
            <a:solidFill>
              <a:srgbClr val="E2DCCE"/>
            </a:solidFill>
          </a:ln>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Focus timer (right-click → Focus timer)</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9</a:t>
            </a:r>
          </a:p>
        </p:txBody>
      </p:sp>
      <p:pic>
        <p:nvPicPr>
          <p:cNvPr id="7" name="Picture 6" descr="tour_card.png"/>
          <p:cNvPicPr>
            <a:picLocks noChangeAspect="1"/>
          </p:cNvPicPr>
          <p:nvPr/>
        </p:nvPicPr>
        <p:blipFill>
          <a:blip r:embed="rId2"/>
          <a:stretch>
            <a:fillRect/>
          </a:stretch>
        </p:blipFill>
        <p:spPr>
          <a:xfrm>
            <a:off x="980151" y="1554480"/>
            <a:ext cx="2428818" cy="4754880"/>
          </a:xfrm>
          <a:prstGeom prst="rect">
            <a:avLst/>
          </a:prstGeom>
          <a:ln w="12700">
            <a:solidFill>
              <a:srgbClr val="E2DCCE"/>
            </a:solidFill>
          </a:ln>
        </p:spPr>
      </p:pic>
      <p:sp>
        <p:nvSpPr>
          <p:cNvPr id="8" name="TextBox 7"/>
          <p:cNvSpPr txBox="1"/>
          <p:nvPr/>
        </p:nvSpPr>
        <p:spPr>
          <a:xfrm>
            <a:off x="4206240" y="1645920"/>
            <a:ext cx="7589520" cy="4754880"/>
          </a:xfrm>
          <a:prstGeom prst="rect">
            <a:avLst/>
          </a:prstGeom>
          <a:noFill/>
        </p:spPr>
        <p:txBody>
          <a:bodyPr wrap="square">
            <a:spAutoFit/>
          </a:bodyPr>
          <a:lstStyle/>
          <a:p>
            <a:pPr>
              <a:spcAft>
                <a:spcPts val="900"/>
              </a:spcAft>
            </a:pPr>
            <a:r>
              <a:rPr sz="1600" b="1">
                <a:solidFill>
                  <a:srgbClr val="4CB86B"/>
                </a:solidFill>
                <a:latin typeface="Segoe UI"/>
              </a:rPr>
              <a:t>•  </a:t>
            </a:r>
            <a:r>
              <a:rPr sz="1600" b="1">
                <a:solidFill>
                  <a:srgbClr val="2B2A28"/>
                </a:solidFill>
                <a:latin typeface="Segoe UI"/>
              </a:rPr>
              <a:t>Start: </a:t>
            </a:r>
            <a:r>
              <a:rPr sz="1600">
                <a:solidFill>
                  <a:srgbClr val="2B2A28"/>
                </a:solidFill>
                <a:latin typeface="Segoe UI"/>
              </a:rPr>
              <a:t>click the ring or ► Start. 25 min focus → 5 min break; every 4th break is longer.</a:t>
            </a:r>
          </a:p>
          <a:p>
            <a:pPr>
              <a:spcAft>
                <a:spcPts val="900"/>
              </a:spcAft>
            </a:pPr>
            <a:r>
              <a:rPr sz="1600" b="1">
                <a:solidFill>
                  <a:srgbClr val="4CB86B"/>
                </a:solidFill>
                <a:latin typeface="Segoe UI"/>
              </a:rPr>
              <a:t>•  </a:t>
            </a:r>
            <a:r>
              <a:rPr sz="1600" b="1">
                <a:solidFill>
                  <a:srgbClr val="2B2A28"/>
                </a:solidFill>
                <a:latin typeface="Segoe UI"/>
              </a:rPr>
              <a:t>Pause / reset: </a:t>
            </a:r>
            <a:r>
              <a:rPr sz="1600">
                <a:solidFill>
                  <a:srgbClr val="2B2A28"/>
                </a:solidFill>
                <a:latin typeface="Segoe UI"/>
              </a:rPr>
              <a:t>click the ring again, or ↻ Reset.</a:t>
            </a:r>
          </a:p>
          <a:p>
            <a:pPr>
              <a:spcAft>
                <a:spcPts val="900"/>
              </a:spcAft>
            </a:pPr>
            <a:r>
              <a:rPr sz="1600" b="1">
                <a:solidFill>
                  <a:srgbClr val="4CB86B"/>
                </a:solidFill>
                <a:latin typeface="Segoe UI"/>
              </a:rPr>
              <a:t>•  </a:t>
            </a:r>
            <a:r>
              <a:rPr sz="1600" b="1">
                <a:solidFill>
                  <a:srgbClr val="2B2A28"/>
                </a:solidFill>
                <a:latin typeface="Segoe UI"/>
              </a:rPr>
              <a:t>Sound: </a:t>
            </a:r>
            <a:r>
              <a:rPr sz="1600">
                <a:solidFill>
                  <a:srgbClr val="2B2A28"/>
                </a:solidFill>
                <a:latin typeface="Segoe UI"/>
              </a:rPr>
              <a:t>rain, thunder, brown noise, café, ocean, forest, fireplace, crickets, wind - pick one and set its volume (♪ button).</a:t>
            </a:r>
          </a:p>
          <a:p>
            <a:pPr>
              <a:spcAft>
                <a:spcPts val="900"/>
              </a:spcAft>
            </a:pPr>
            <a:r>
              <a:rPr sz="1600" b="1">
                <a:solidFill>
                  <a:srgbClr val="4CB86B"/>
                </a:solidFill>
                <a:latin typeface="Segoe UI"/>
              </a:rPr>
              <a:t>•  </a:t>
            </a:r>
            <a:r>
              <a:rPr sz="1600" b="1">
                <a:solidFill>
                  <a:srgbClr val="2B2A28"/>
                </a:solidFill>
                <a:latin typeface="Segoe UI"/>
              </a:rPr>
              <a:t>Status pill: </a:t>
            </a:r>
            <a:r>
              <a:rPr sz="1600">
                <a:solidFill>
                  <a:srgbClr val="2B2A28"/>
                </a:solidFill>
                <a:latin typeface="Segoe UI"/>
              </a:rPr>
              <a:t>shows what you're doing now (Focus / Idle / Break) and the app in front.</a:t>
            </a:r>
          </a:p>
          <a:p>
            <a:pPr>
              <a:spcAft>
                <a:spcPts val="900"/>
              </a:spcAft>
            </a:pPr>
            <a:r>
              <a:rPr sz="1600" b="1">
                <a:solidFill>
                  <a:srgbClr val="4CB86B"/>
                </a:solidFill>
                <a:latin typeface="Segoe UI"/>
              </a:rPr>
              <a:t>•  </a:t>
            </a:r>
            <a:r>
              <a:rPr sz="1600" b="1">
                <a:solidFill>
                  <a:srgbClr val="2B2A28"/>
                </a:solidFill>
                <a:latin typeface="Segoe UI"/>
              </a:rPr>
              <a:t>Score: </a:t>
            </a:r>
            <a:r>
              <a:rPr sz="1600">
                <a:solidFill>
                  <a:srgbClr val="2B2A28"/>
                </a:solidFill>
                <a:latin typeface="Segoe UI"/>
              </a:rPr>
              <a:t>★ 1-5 focus score for today, updated live.</a:t>
            </a:r>
          </a:p>
          <a:p>
            <a:pPr>
              <a:spcAft>
                <a:spcPts val="900"/>
              </a:spcAft>
            </a:pPr>
            <a:r>
              <a:rPr sz="1600" b="1">
                <a:solidFill>
                  <a:srgbClr val="4CB86B"/>
                </a:solidFill>
                <a:latin typeface="Segoe UI"/>
              </a:rPr>
              <a:t>•  </a:t>
            </a:r>
            <a:r>
              <a:rPr sz="1600" b="1">
                <a:solidFill>
                  <a:srgbClr val="2B2A28"/>
                </a:solidFill>
                <a:latin typeface="Segoe UI"/>
              </a:rPr>
              <a:t>Hide: </a:t>
            </a:r>
            <a:r>
              <a:rPr sz="1600">
                <a:solidFill>
                  <a:srgbClr val="2B2A28"/>
                </a:solidFill>
                <a:latin typeface="Segoe UI"/>
              </a:rPr>
              <a:t>– or ✕ tucks the card back into your pet. Click the pet to bring it back.</a:t>
            </a:r>
          </a:p>
          <a:p>
            <a:pPr>
              <a:spcAft>
                <a:spcPts val="900"/>
              </a:spcAft>
            </a:pPr>
            <a:r>
              <a:rPr sz="1600" b="1">
                <a:solidFill>
                  <a:srgbClr val="4CB86B"/>
                </a:solidFill>
                <a:latin typeface="Segoe UI"/>
              </a:rPr>
              <a:t>•  </a:t>
            </a:r>
            <a:r>
              <a:rPr sz="1600" b="1">
                <a:solidFill>
                  <a:srgbClr val="2B2A28"/>
                </a:solidFill>
                <a:latin typeface="Segoe UI"/>
              </a:rPr>
              <a:t>While you focus, </a:t>
            </a:r>
            <a:r>
              <a:rPr sz="1600">
                <a:solidFill>
                  <a:srgbClr val="2B2A28"/>
                </a:solidFill>
                <a:latin typeface="Segoe UI"/>
              </a:rPr>
              <a:t>your pet wears a little headband and nudges you if you drift to distracting apps.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Reminders, goals &amp; dashboard</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10</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Reminders as bubbles: </a:t>
            </a:r>
            <a:r>
              <a:rPr sz="1600">
                <a:solidFill>
                  <a:srgbClr val="2B2A28"/>
                </a:solidFill>
                <a:latin typeface="Segoe UI"/>
              </a:rPr>
              <a:t>stand-up breaks, drink water, 20-20-20 eye rest, pomodoro done, daily goal reached.</a:t>
            </a:r>
          </a:p>
          <a:p>
            <a:pPr>
              <a:spcAft>
                <a:spcPts val="1000"/>
              </a:spcAft>
            </a:pPr>
            <a:r>
              <a:rPr sz="1600" b="1">
                <a:solidFill>
                  <a:srgbClr val="4CB86B"/>
                </a:solidFill>
                <a:latin typeface="Segoe UI"/>
              </a:rPr>
              <a:t>•  </a:t>
            </a:r>
            <a:r>
              <a:rPr sz="1600" b="1">
                <a:solidFill>
                  <a:srgbClr val="2B2A28"/>
                </a:solidFill>
                <a:latin typeface="Segoe UI"/>
              </a:rPr>
              <a:t>Daily goal &amp; streaks: </a:t>
            </a:r>
            <a:r>
              <a:rPr sz="1600">
                <a:solidFill>
                  <a:srgbClr val="2B2A28"/>
                </a:solidFill>
                <a:latin typeface="Segoe UI"/>
              </a:rPr>
              <a:t>set a pomodoro goal; streaks and XP keep you going.</a:t>
            </a:r>
          </a:p>
          <a:p>
            <a:pPr>
              <a:spcAft>
                <a:spcPts val="1000"/>
              </a:spcAft>
            </a:pPr>
            <a:r>
              <a:rPr sz="1600" b="1">
                <a:solidFill>
                  <a:srgbClr val="4CB86B"/>
                </a:solidFill>
                <a:latin typeface="Segoe UI"/>
              </a:rPr>
              <a:t>•  </a:t>
            </a:r>
            <a:r>
              <a:rPr sz="1600" b="1">
                <a:solidFill>
                  <a:srgbClr val="2B2A28"/>
                </a:solidFill>
                <a:latin typeface="Segoe UI"/>
              </a:rPr>
              <a:t>Coach tips: </a:t>
            </a:r>
            <a:r>
              <a:rPr sz="1600">
                <a:solidFill>
                  <a:srgbClr val="2B2A28"/>
                </a:solidFill>
                <a:latin typeface="Segoe UI"/>
              </a:rPr>
              <a:t>short, friendly suggestions based on your day.</a:t>
            </a:r>
          </a:p>
          <a:p>
            <a:pPr>
              <a:spcAft>
                <a:spcPts val="1000"/>
              </a:spcAft>
            </a:pPr>
            <a:r>
              <a:rPr sz="1600" b="1">
                <a:solidFill>
                  <a:srgbClr val="4CB86B"/>
                </a:solidFill>
                <a:latin typeface="Segoe UI"/>
              </a:rPr>
              <a:t>•  </a:t>
            </a:r>
            <a:r>
              <a:rPr sz="1600" b="1">
                <a:solidFill>
                  <a:srgbClr val="2B2A28"/>
                </a:solidFill>
                <a:latin typeface="Segoe UI"/>
              </a:rPr>
              <a:t>Turn bubbles off: </a:t>
            </a:r>
            <a:r>
              <a:rPr sz="1600">
                <a:solidFill>
                  <a:srgbClr val="2B2A28"/>
                </a:solidFill>
                <a:latin typeface="Segoe UI"/>
              </a:rPr>
              <a:t>Pet status &amp; settings → uncheck “Show reminders &amp; notifications as chat bubbles” (you'll get normal notifications).</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Dashboard (right-click the card → Dashboard)</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600"/>
              </a:spcAft>
            </a:pPr>
            <a:r>
              <a:rPr sz="1500" b="1">
                <a:solidFill>
                  <a:srgbClr val="4CB86B"/>
                </a:solidFill>
                <a:latin typeface="Segoe UI"/>
              </a:rPr>
              <a:t>•  </a:t>
            </a:r>
            <a:r>
              <a:rPr sz="1500">
                <a:solidFill>
                  <a:srgbClr val="2B2A28"/>
                </a:solidFill>
                <a:latin typeface="Segoe UI"/>
              </a:rPr>
              <a:t>Focus timeline of today</a:t>
            </a:r>
          </a:p>
          <a:p>
            <a:pPr>
              <a:spcAft>
                <a:spcPts val="600"/>
              </a:spcAft>
            </a:pPr>
            <a:r>
              <a:rPr sz="1500" b="1">
                <a:solidFill>
                  <a:srgbClr val="4CB86B"/>
                </a:solidFill>
                <a:latin typeface="Segoe UI"/>
              </a:rPr>
              <a:t>•  </a:t>
            </a:r>
            <a:r>
              <a:rPr sz="1500">
                <a:solidFill>
                  <a:srgbClr val="2B2A28"/>
                </a:solidFill>
                <a:latin typeface="Segoe UI"/>
              </a:rPr>
              <a:t>Hour-of-day heatmap</a:t>
            </a:r>
          </a:p>
          <a:p>
            <a:pPr>
              <a:spcAft>
                <a:spcPts val="600"/>
              </a:spcAft>
            </a:pPr>
            <a:r>
              <a:rPr sz="1500" b="1">
                <a:solidFill>
                  <a:srgbClr val="4CB86B"/>
                </a:solidFill>
                <a:latin typeface="Segoe UI"/>
              </a:rPr>
              <a:t>•  </a:t>
            </a:r>
            <a:r>
              <a:rPr sz="1500">
                <a:solidFill>
                  <a:srgbClr val="2B2A28"/>
                </a:solidFill>
                <a:latin typeface="Segoe UI"/>
              </a:rPr>
              <a:t>7-day focus score trend</a:t>
            </a:r>
          </a:p>
          <a:p>
            <a:pPr>
              <a:spcAft>
                <a:spcPts val="600"/>
              </a:spcAft>
            </a:pPr>
            <a:r>
              <a:rPr sz="1500" b="1">
                <a:solidFill>
                  <a:srgbClr val="4CB86B"/>
                </a:solidFill>
                <a:latin typeface="Segoe UI"/>
              </a:rPr>
              <a:t>•  </a:t>
            </a:r>
            <a:r>
              <a:rPr sz="1500">
                <a:solidFill>
                  <a:srgbClr val="2B2A28"/>
                </a:solidFill>
                <a:latin typeface="Segoe UI"/>
              </a:rPr>
              <a:t>Pomodoros per day</a:t>
            </a:r>
          </a:p>
          <a:p>
            <a:pPr>
              <a:spcAft>
                <a:spcPts val="600"/>
              </a:spcAft>
            </a:pPr>
            <a:r>
              <a:rPr sz="1500" b="1">
                <a:solidFill>
                  <a:srgbClr val="4CB86B"/>
                </a:solidFill>
                <a:latin typeface="Segoe UI"/>
              </a:rPr>
              <a:t>•  </a:t>
            </a:r>
            <a:r>
              <a:rPr sz="1500">
                <a:solidFill>
                  <a:srgbClr val="2B2A28"/>
                </a:solidFill>
                <a:latin typeface="Segoe UI"/>
              </a:rPr>
              <a:t>Top apps &amp; time per app</a:t>
            </a:r>
          </a:p>
          <a:p>
            <a:pPr>
              <a:spcAft>
                <a:spcPts val="600"/>
              </a:spcAft>
            </a:pPr>
            <a:r>
              <a:rPr sz="1500" b="1">
                <a:solidFill>
                  <a:srgbClr val="4CB86B"/>
                </a:solidFill>
                <a:latin typeface="Segoe UI"/>
              </a:rPr>
              <a:t>•  </a:t>
            </a:r>
            <a:r>
              <a:rPr sz="1500">
                <a:solidFill>
                  <a:srgbClr val="2B2A28"/>
                </a:solidFill>
                <a:latin typeface="Segoe UI"/>
              </a:rPr>
              <a:t>History, weekly and monthly reports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Friends, profiles, ranks &amp; badges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11</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Levels &amp; XP: </a:t>
            </a:r>
            <a:r>
              <a:rPr sz="1600">
                <a:solidFill>
                  <a:srgbClr val="2B2A28"/>
                </a:solidFill>
                <a:latin typeface="Segoe UI"/>
              </a:rPr>
              <a:t>every finished pomodoro gives XP - level up as you focus.</a:t>
            </a:r>
          </a:p>
          <a:p>
            <a:pPr>
              <a:spcAft>
                <a:spcPts val="1000"/>
              </a:spcAft>
            </a:pPr>
            <a:r>
              <a:rPr sz="1600" b="1">
                <a:solidFill>
                  <a:srgbClr val="4CB86B"/>
                </a:solidFill>
                <a:latin typeface="Segoe UI"/>
              </a:rPr>
              <a:t>•  </a:t>
            </a:r>
            <a:r>
              <a:rPr sz="1600" b="1">
                <a:solidFill>
                  <a:srgbClr val="2B2A28"/>
                </a:solidFill>
                <a:latin typeface="Segoe UI"/>
              </a:rPr>
              <a:t>22 achievements: </a:t>
            </a:r>
            <a:r>
              <a:rPr sz="1600">
                <a:solidFill>
                  <a:srgbClr val="2B2A28"/>
                </a:solidFill>
                <a:latin typeface="Segoe UI"/>
              </a:rPr>
              <a:t>first tomato, 4 / 8 in a day, 3 / 7 / 14-day streaks, early bird, night owl, pet lover... Your pet celebrates each one.</a:t>
            </a:r>
          </a:p>
          <a:p>
            <a:pPr>
              <a:spcAft>
                <a:spcPts val="1000"/>
              </a:spcAft>
            </a:pPr>
            <a:r>
              <a:rPr sz="1600" b="1">
                <a:solidFill>
                  <a:srgbClr val="4CB86B"/>
                </a:solidFill>
                <a:latin typeface="Segoe UI"/>
              </a:rPr>
              <a:t>•  </a:t>
            </a:r>
            <a:r>
              <a:rPr sz="1600" b="1">
                <a:solidFill>
                  <a:srgbClr val="2B2A28"/>
                </a:solidFill>
                <a:latin typeface="Segoe UI"/>
              </a:rPr>
              <a:t>Open: </a:t>
            </a:r>
            <a:r>
              <a:rPr sz="1600">
                <a:solidFill>
                  <a:srgbClr val="2B2A28"/>
                </a:solidFill>
                <a:latin typeface="Segoe UI"/>
              </a:rPr>
              <a:t>click the pet (or right-click → Pips hub…).</a:t>
            </a:r>
          </a:p>
          <a:p>
            <a:pPr>
              <a:spcAft>
                <a:spcPts val="1000"/>
              </a:spcAft>
            </a:pPr>
            <a:r>
              <a:rPr sz="1600" b="1">
                <a:solidFill>
                  <a:srgbClr val="4CB86B"/>
                </a:solidFill>
                <a:latin typeface="Segoe UI"/>
              </a:rPr>
              <a:t>•  </a:t>
            </a:r>
            <a:r>
              <a:rPr sz="1600" b="1">
                <a:solidFill>
                  <a:srgbClr val="2B2A28"/>
                </a:solidFill>
                <a:latin typeface="Segoe UI"/>
              </a:rPr>
              <a:t>Works offline: </a:t>
            </a:r>
            <a:r>
              <a:rPr sz="1600">
                <a:solidFill>
                  <a:srgbClr val="2B2A28"/>
                </a:solidFill>
                <a:latin typeface="Segoe UI"/>
              </a:rPr>
              <a:t>levels and achievements are calculated on your PC.</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Friends (optional, off by default)</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400"/>
              </a:spcAft>
            </a:pPr>
            <a:r>
              <a:rPr sz="1300" b="1">
                <a:solidFill>
                  <a:srgbClr val="4CB86B"/>
                </a:solidFill>
                <a:latin typeface="Segoe UI"/>
              </a:rPr>
              <a:t>•  </a:t>
            </a:r>
            <a:r>
              <a:rPr sz="1300">
                <a:solidFill>
                  <a:srgbClr val="2B2A28"/>
                </a:solidFill>
                <a:latin typeface="Segoe UI"/>
              </a:rPr>
              <a:t>Turn on Friends, swap 6-letter friend codes</a:t>
            </a:r>
          </a:p>
          <a:p>
            <a:pPr>
              <a:spcAft>
                <a:spcPts val="400"/>
              </a:spcAft>
            </a:pPr>
            <a:r>
              <a:rPr sz="1300" b="1">
                <a:solidFill>
                  <a:srgbClr val="4CB86B"/>
                </a:solidFill>
                <a:latin typeface="Segoe UI"/>
              </a:rPr>
              <a:t>•  </a:t>
            </a:r>
            <a:r>
              <a:rPr sz="1300">
                <a:solidFill>
                  <a:srgbClr val="2B2A28"/>
                </a:solidFill>
                <a:latin typeface="Segoe UI"/>
              </a:rPr>
              <a:t>Chat with friends and in your own groups</a:t>
            </a:r>
          </a:p>
          <a:p>
            <a:pPr>
              <a:spcAft>
                <a:spcPts val="400"/>
              </a:spcAft>
            </a:pPr>
            <a:r>
              <a:rPr sz="1300" b="1">
                <a:solidFill>
                  <a:srgbClr val="4CB86B"/>
                </a:solidFill>
                <a:latin typeface="Segoe UI"/>
              </a:rPr>
              <a:t>•  </a:t>
            </a:r>
            <a:r>
              <a:rPr sz="1300">
                <a:solidFill>
                  <a:srgbClr val="2B2A28"/>
                </a:solidFill>
                <a:latin typeface="Segoe UI"/>
              </a:rPr>
              <a:t>Wave, pet, snack, high five, visit - point at a visiting pet's name tag to play</a:t>
            </a:r>
          </a:p>
          <a:p>
            <a:pPr>
              <a:spcAft>
                <a:spcPts val="400"/>
              </a:spcAft>
            </a:pPr>
            <a:r>
              <a:rPr sz="1300" b="1">
                <a:solidFill>
                  <a:srgbClr val="4CB86B"/>
                </a:solidFill>
                <a:latin typeface="Segoe UI"/>
              </a:rPr>
              <a:t>•  </a:t>
            </a:r>
            <a:r>
              <a:rPr sz="1300">
                <a:solidFill>
                  <a:srgbClr val="2B2A28"/>
                </a:solidFill>
                <a:latin typeface="Segoe UI"/>
              </a:rPr>
              <a:t>Poke, tickle, tease, boop or hug a friend from afar - it pops up on their screen</a:t>
            </a:r>
          </a:p>
          <a:p>
            <a:pPr>
              <a:spcAft>
                <a:spcPts val="400"/>
              </a:spcAft>
            </a:pPr>
            <a:r>
              <a:rPr sz="1300" b="1">
                <a:solidFill>
                  <a:srgbClr val="4CB86B"/>
                </a:solidFill>
                <a:latin typeface="Segoe UI"/>
              </a:rPr>
              <a:t>•  </a:t>
            </a:r>
            <a:r>
              <a:rPr sz="1300">
                <a:solidFill>
                  <a:srgbClr val="2B2A28"/>
                </a:solidFill>
                <a:latin typeface="Segoe UI"/>
              </a:rPr>
              <a:t>Affinity: friendship grows from Acquaintance to Soulmates</a:t>
            </a:r>
          </a:p>
          <a:p>
            <a:pPr>
              <a:spcAft>
                <a:spcPts val="400"/>
              </a:spcAft>
            </a:pPr>
            <a:r>
              <a:rPr sz="1300" b="1">
                <a:solidFill>
                  <a:srgbClr val="4CB86B"/>
                </a:solidFill>
                <a:latin typeface="Segoe UI"/>
              </a:rPr>
              <a:t>•  </a:t>
            </a:r>
            <a:r>
              <a:rPr sz="1300">
                <a:solidFill>
                  <a:srgbClr val="2B2A28"/>
                </a:solidFill>
                <a:latin typeface="Segoe UI"/>
              </a:rPr>
              <a:t>Create a private group and invite friends</a:t>
            </a:r>
          </a:p>
          <a:p>
            <a:pPr>
              <a:spcAft>
                <a:spcPts val="400"/>
              </a:spcAft>
            </a:pPr>
            <a:r>
              <a:rPr sz="1300" b="1">
                <a:solidFill>
                  <a:srgbClr val="4CB86B"/>
                </a:solidFill>
                <a:latin typeface="Segoe UI"/>
              </a:rPr>
              <a:t>•  </a:t>
            </a:r>
            <a:r>
              <a:rPr sz="1300">
                <a:solidFill>
                  <a:srgbClr val="2B2A28"/>
                </a:solidFill>
                <a:latin typeface="Segoe UI"/>
              </a:rPr>
              <a:t>Ranks: everyone on Pips by XP, badges or streak</a:t>
            </a:r>
          </a:p>
          <a:p>
            <a:pPr>
              <a:spcAft>
                <a:spcPts val="400"/>
              </a:spcAft>
            </a:pPr>
            <a:r>
              <a:rPr sz="1300" b="1">
                <a:solidFill>
                  <a:srgbClr val="4CB86B"/>
                </a:solidFill>
                <a:latin typeface="Segoe UI"/>
              </a:rPr>
              <a:t>•  </a:t>
            </a:r>
            <a:r>
              <a:rPr sz="1300">
                <a:solidFill>
                  <a:srgbClr val="2B2A28"/>
                </a:solidFill>
                <a:latin typeface="Segoe UI"/>
              </a:rPr>
              <a:t>Profile: photo, bio, info, status (online / busy / away) - public or private</a:t>
            </a:r>
          </a:p>
          <a:p>
            <a:pPr>
              <a:spcAft>
                <a:spcPts val="400"/>
              </a:spcAft>
            </a:pPr>
            <a:r>
              <a:rPr sz="1300" b="1">
                <a:solidFill>
                  <a:srgbClr val="4CB86B"/>
                </a:solidFill>
                <a:latin typeface="Segoe UI"/>
              </a:rPr>
              <a:t>•  </a:t>
            </a:r>
            <a:r>
              <a:rPr sz="1300">
                <a:solidFill>
                  <a:srgbClr val="2B2A28"/>
                </a:solidFill>
                <a:latin typeface="Segoe UI"/>
              </a:rPr>
              <a:t>Label friends: Bro, Bestie, Partner, Soulmate...</a:t>
            </a:r>
          </a:p>
          <a:p>
            <a:pPr>
              <a:spcAft>
                <a:spcPts val="400"/>
              </a:spcAft>
            </a:pPr>
            <a:r>
              <a:rPr sz="1300" b="1">
                <a:solidFill>
                  <a:srgbClr val="4CB86B"/>
                </a:solidFill>
                <a:latin typeface="Segoe UI"/>
              </a:rPr>
              <a:t>•  </a:t>
            </a:r>
            <a:r>
              <a:rPr sz="1300">
                <a:solidFill>
                  <a:srgbClr val="2B2A28"/>
                </a:solidFill>
                <a:latin typeface="Segoe UI"/>
              </a:rPr>
              <a:t>Never shared: apps, window titles, scores, files</a:t>
            </a:r>
          </a:p>
          <a:p>
            <a:pPr>
              <a:spcAft>
                <a:spcPts val="400"/>
              </a:spcAft>
            </a:pPr>
            <a:r>
              <a:rPr sz="1300" b="1">
                <a:solidFill>
                  <a:srgbClr val="4CB86B"/>
                </a:solidFill>
                <a:latin typeface="Segoe UI"/>
              </a:rPr>
              <a:t>•  </a:t>
            </a:r>
            <a:r>
              <a:rPr sz="1300">
                <a:solidFill>
                  <a:srgbClr val="2B2A28"/>
                </a:solidFill>
                <a:latin typeface="Segoe UI"/>
              </a:rPr>
              <a:t>One click turns it off and deletes your online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Shop: props &amp; moves for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12</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Open: </a:t>
            </a:r>
            <a:r>
              <a:rPr sz="1500">
                <a:solidFill>
                  <a:srgbClr val="2B2A28"/>
                </a:solidFill>
                <a:latin typeface="Segoe UI"/>
              </a:rPr>
              <a:t>click the pet → Shop tab (or right-click → Shop…).</a:t>
            </a:r>
          </a:p>
          <a:p>
            <a:pPr>
              <a:spcAft>
                <a:spcPts val="900"/>
              </a:spcAft>
            </a:pPr>
            <a:r>
              <a:rPr sz="1500" b="1">
                <a:solidFill>
                  <a:srgbClr val="4CB86B"/>
                </a:solidFill>
                <a:latin typeface="Segoe UI"/>
              </a:rPr>
              <a:t>•  </a:t>
            </a:r>
            <a:r>
              <a:rPr sz="1500" b="1">
                <a:solidFill>
                  <a:srgbClr val="2B2A28"/>
                </a:solidFill>
                <a:latin typeface="Segoe UI"/>
              </a:rPr>
              <a:t>Coins: </a:t>
            </a:r>
            <a:r>
              <a:rPr sz="1500">
                <a:solidFill>
                  <a:srgbClr val="2B2A28"/>
                </a:solidFill>
                <a:latin typeface="Segoe UI"/>
              </a:rPr>
              <a:t>level up +40, badges +25, open Pips each day +10, friendship +15 per affinity level, wave / chat / visit a friend +2, pomodoro +5. Start gift: 100.</a:t>
            </a:r>
          </a:p>
          <a:p>
            <a:pPr>
              <a:spcAft>
                <a:spcPts val="900"/>
              </a:spcAft>
            </a:pPr>
            <a:r>
              <a:rPr sz="1500" b="1">
                <a:solidFill>
                  <a:srgbClr val="4CB86B"/>
                </a:solidFill>
                <a:latin typeface="Segoe UI"/>
              </a:rPr>
              <a:t>•  </a:t>
            </a:r>
            <a:r>
              <a:rPr sz="1500" b="1">
                <a:solidFill>
                  <a:srgbClr val="2B2A28"/>
                </a:solidFill>
                <a:latin typeface="Segoe UI"/>
              </a:rPr>
              <a:t>Props: </a:t>
            </a:r>
            <a:r>
              <a:rPr sz="1500">
                <a:solidFill>
                  <a:srgbClr val="2B2A28"/>
                </a:solidFill>
                <a:latin typeface="Segoe UI"/>
              </a:rPr>
              <a:t>17 to collect - crown, wizard hat, headphones, shades, scarf, cape, wings... Wear one per slot: head, face, neck, back.</a:t>
            </a:r>
          </a:p>
          <a:p>
            <a:pPr>
              <a:spcAft>
                <a:spcPts val="900"/>
              </a:spcAft>
            </a:pPr>
            <a:r>
              <a:rPr sz="1500" b="1">
                <a:solidFill>
                  <a:srgbClr val="4CB86B"/>
                </a:solidFill>
                <a:latin typeface="Segoe UI"/>
              </a:rPr>
              <a:t>•  </a:t>
            </a:r>
            <a:r>
              <a:rPr sz="1500" b="1">
                <a:solidFill>
                  <a:srgbClr val="2B2A28"/>
                </a:solidFill>
                <a:latin typeface="Segoe UI"/>
              </a:rPr>
              <a:t>Moves: </a:t>
            </a:r>
            <a:r>
              <a:rPr sz="1500">
                <a:solidFill>
                  <a:srgbClr val="2B2A28"/>
                </a:solidFill>
                <a:latin typeface="Segoe UI"/>
              </a:rPr>
              <a:t>spin, dance, moonwalk, backflip, kung fu, spider swing. Right-click → Do a trick - your happy pet also shows off on its own.</a:t>
            </a:r>
          </a:p>
          <a:p>
            <a:pPr>
              <a:spcAft>
                <a:spcPts val="900"/>
              </a:spcAft>
            </a:pPr>
            <a:r>
              <a:rPr sz="1500" b="1">
                <a:solidFill>
                  <a:srgbClr val="4CB86B"/>
                </a:solidFill>
                <a:latin typeface="Segoe UI"/>
              </a:rPr>
              <a:t>•  </a:t>
            </a:r>
            <a:r>
              <a:rPr sz="1500" b="1">
                <a:solidFill>
                  <a:srgbClr val="2B2A28"/>
                </a:solidFill>
                <a:latin typeface="Segoe UI"/>
              </a:rPr>
              <a:t>Friends see it: </a:t>
            </a:r>
            <a:r>
              <a:rPr sz="1500">
                <a:solidFill>
                  <a:srgbClr val="2B2A28"/>
                </a:solidFill>
                <a:latin typeface="Segoe UI"/>
              </a:rPr>
              <a:t>your props appear on your avatar, and your pet does a move when it visits a friend's desktop.</a:t>
            </a:r>
          </a:p>
        </p:txBody>
      </p:sp>
      <p:pic>
        <p:nvPicPr>
          <p:cNvPr id="8" name="Picture 7" descr="shop.png"/>
          <p:cNvPicPr>
            <a:picLocks noChangeAspect="1"/>
          </p:cNvPicPr>
          <p:nvPr/>
        </p:nvPicPr>
        <p:blipFill>
          <a:blip r:embed="rId2"/>
          <a:stretch>
            <a:fillRect/>
          </a:stretch>
        </p:blipFill>
        <p:spPr>
          <a:xfrm>
            <a:off x="7538085" y="1463040"/>
            <a:ext cx="3028950" cy="4846320"/>
          </a:xfrm>
          <a:prstGeom prst="rect">
            <a:avLst/>
          </a:prstGeom>
          <a:ln w="12700">
            <a:solidFill>
              <a:srgbClr val="E2DCCE"/>
            </a:solidFill>
          </a:ln>
        </p:spPr>
      </p:pic>
      <p:sp>
        <p:nvSpPr>
          <p:cNvPr id="9" name="TextBox 8"/>
          <p:cNvSpPr txBox="1"/>
          <p:nvPr/>
        </p:nvSpPr>
        <p:spPr>
          <a:xfrm>
            <a:off x="6949440" y="6355080"/>
            <a:ext cx="420624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Shop tab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Make it yours: Pet status &amp; settings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13</a:t>
            </a:r>
          </a:p>
        </p:txBody>
      </p:sp>
      <p:pic>
        <p:nvPicPr>
          <p:cNvPr id="7" name="Picture 6" descr="settings.png"/>
          <p:cNvPicPr>
            <a:picLocks noChangeAspect="1"/>
          </p:cNvPicPr>
          <p:nvPr/>
        </p:nvPicPr>
        <p:blipFill>
          <a:blip r:embed="rId2"/>
          <a:stretch>
            <a:fillRect/>
          </a:stretch>
        </p:blipFill>
        <p:spPr>
          <a:xfrm>
            <a:off x="949470" y="1508760"/>
            <a:ext cx="1850100" cy="4846320"/>
          </a:xfrm>
          <a:prstGeom prst="rect">
            <a:avLst/>
          </a:prstGeom>
          <a:ln w="12700">
            <a:solidFill>
              <a:srgbClr val="E2DCCE"/>
            </a:solidFill>
          </a:ln>
        </p:spPr>
      </p:pic>
      <p:sp>
        <p:nvSpPr>
          <p:cNvPr id="8" name="TextBox 7"/>
          <p:cNvSpPr txBox="1"/>
          <p:nvPr/>
        </p:nvSpPr>
        <p:spPr>
          <a:xfrm>
            <a:off x="365760" y="6382512"/>
            <a:ext cx="3017520" cy="365760"/>
          </a:xfrm>
          <a:prstGeom prst="rect">
            <a:avLst/>
          </a:prstGeom>
          <a:noFill/>
        </p:spPr>
        <p:txBody>
          <a:bodyPr wrap="square" anchor="t" lIns="45720" rIns="45720" tIns="27432" bIns="27432">
            <a:spAutoFit/>
          </a:bodyPr>
          <a:lstStyle/>
          <a:p>
            <a:pPr algn="ctr"/>
            <a:r>
              <a:rPr sz="1200" b="0">
                <a:solidFill>
                  <a:srgbClr val="6E6A62"/>
                </a:solidFill>
                <a:latin typeface="Segoe UI"/>
              </a:rPr>
              <a:t>(shown in Bahasa Indonesia)</a:t>
            </a:r>
          </a:p>
        </p:txBody>
      </p:sp>
      <p:sp>
        <p:nvSpPr>
          <p:cNvPr id="9" name="TextBox 8"/>
          <p:cNvSpPr txBox="1"/>
          <p:nvPr/>
        </p:nvSpPr>
        <p:spPr>
          <a:xfrm>
            <a:off x="3474720" y="1600200"/>
            <a:ext cx="8229600" cy="457200"/>
          </a:xfrm>
          <a:prstGeom prst="rect">
            <a:avLst/>
          </a:prstGeom>
          <a:noFill/>
        </p:spPr>
        <p:txBody>
          <a:bodyPr wrap="square" anchor="t" lIns="45720" rIns="45720" tIns="27432" bIns="27432">
            <a:spAutoFit/>
          </a:bodyPr>
          <a:lstStyle/>
          <a:p>
            <a:pPr algn="l"/>
            <a:r>
              <a:rPr sz="1700" b="1">
                <a:solidFill>
                  <a:srgbClr val="8B1A1A"/>
                </a:solidFill>
                <a:latin typeface="Segoe UI"/>
              </a:rPr>
              <a:t>Right-click the pet → Pet status &amp; settings…</a:t>
            </a:r>
          </a:p>
        </p:txBody>
      </p:sp>
      <p:sp>
        <p:nvSpPr>
          <p:cNvPr id="10" name="TextBox 9"/>
          <p:cNvSpPr txBox="1"/>
          <p:nvPr/>
        </p:nvSpPr>
        <p:spPr>
          <a:xfrm>
            <a:off x="3474720" y="2148840"/>
            <a:ext cx="4114800" cy="420624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Status: </a:t>
            </a:r>
            <a:r>
              <a:rPr sz="1500">
                <a:solidFill>
                  <a:srgbClr val="2B2A28"/>
                </a:solidFill>
                <a:latin typeface="Segoe UI"/>
              </a:rPr>
              <a:t>mood + happiness, energy, food, bond bars.</a:t>
            </a:r>
          </a:p>
          <a:p>
            <a:pPr>
              <a:spcAft>
                <a:spcPts val="900"/>
              </a:spcAft>
            </a:pPr>
            <a:r>
              <a:rPr sz="1500" b="1">
                <a:solidFill>
                  <a:srgbClr val="4CB86B"/>
                </a:solidFill>
                <a:latin typeface="Segoe UI"/>
              </a:rPr>
              <a:t>•  </a:t>
            </a:r>
            <a:r>
              <a:rPr sz="1500" b="1">
                <a:solidFill>
                  <a:srgbClr val="2B2A28"/>
                </a:solidFill>
                <a:latin typeface="Segoe UI"/>
              </a:rPr>
              <a:t>Animal: </a:t>
            </a:r>
            <a:r>
              <a:rPr sz="1500">
                <a:solidFill>
                  <a:srgbClr val="2B2A28"/>
                </a:solidFill>
                <a:latin typeface="Segoe UI"/>
              </a:rPr>
              <a:t>Land / Water / Sky tabs - click a tile.</a:t>
            </a:r>
          </a:p>
          <a:p>
            <a:pPr>
              <a:spcAft>
                <a:spcPts val="900"/>
              </a:spcAft>
            </a:pPr>
            <a:r>
              <a:rPr sz="1500" b="1">
                <a:solidFill>
                  <a:srgbClr val="4CB86B"/>
                </a:solidFill>
                <a:latin typeface="Segoe UI"/>
              </a:rPr>
              <a:t>•  </a:t>
            </a:r>
            <a:r>
              <a:rPr sz="1500" b="1">
                <a:solidFill>
                  <a:srgbClr val="2B2A28"/>
                </a:solidFill>
                <a:latin typeface="Segoe UI"/>
              </a:rPr>
              <a:t>Look: </a:t>
            </a:r>
            <a:r>
              <a:rPr sz="1500">
                <a:solidFill>
                  <a:srgbClr val="2B2A28"/>
                </a:solidFill>
                <a:latin typeface="Segoe UI"/>
              </a:rPr>
              <a:t>name, colour, cheeks, size S / M / L.</a:t>
            </a:r>
          </a:p>
          <a:p>
            <a:pPr>
              <a:spcAft>
                <a:spcPts val="900"/>
              </a:spcAft>
            </a:pPr>
            <a:r>
              <a:rPr sz="1500" b="1">
                <a:solidFill>
                  <a:srgbClr val="4CB86B"/>
                </a:solidFill>
                <a:latin typeface="Segoe UI"/>
              </a:rPr>
              <a:t>•  </a:t>
            </a:r>
            <a:r>
              <a:rPr sz="1500" b="1">
                <a:solidFill>
                  <a:srgbClr val="2B2A28"/>
                </a:solidFill>
                <a:latin typeface="Segoe UI"/>
              </a:rPr>
              <a:t>Language: </a:t>
            </a:r>
            <a:r>
              <a:rPr sz="1500">
                <a:solidFill>
                  <a:srgbClr val="2B2A28"/>
                </a:solidFill>
                <a:latin typeface="Segoe UI"/>
              </a:rPr>
              <a:t>switch instantly.</a:t>
            </a:r>
          </a:p>
        </p:txBody>
      </p:sp>
      <p:sp>
        <p:nvSpPr>
          <p:cNvPr id="11" name="TextBox 10"/>
          <p:cNvSpPr txBox="1"/>
          <p:nvPr/>
        </p:nvSpPr>
        <p:spPr>
          <a:xfrm>
            <a:off x="7772400" y="2148840"/>
            <a:ext cx="4114800" cy="4206240"/>
          </a:xfrm>
          <a:prstGeom prst="rect">
            <a:avLst/>
          </a:prstGeom>
          <a:noFill/>
        </p:spPr>
        <p:txBody>
          <a:bodyPr wrap="square">
            <a:spAutoFit/>
          </a:bodyPr>
          <a:lstStyle/>
          <a:p>
            <a:pPr>
              <a:spcAft>
                <a:spcPts val="300"/>
              </a:spcAft>
            </a:pPr>
            <a:r>
              <a:rPr sz="1400" b="1">
                <a:solidFill>
                  <a:srgbClr val="4CB86B"/>
                </a:solidFill>
                <a:latin typeface="Segoe UI"/>
              </a:rPr>
              <a:t>•  </a:t>
            </a:r>
            <a:r>
              <a:rPr sz="1400">
                <a:solidFill>
                  <a:srgbClr val="2B2A28"/>
                </a:solidFill>
                <a:latin typeface="Segoe UI"/>
              </a:rPr>
              <a:t>Click action: open hub · open focus timer · tickle (double-click opens) · only tickle</a:t>
            </a:r>
          </a:p>
          <a:p>
            <a:pPr>
              <a:spcAft>
                <a:spcPts val="300"/>
              </a:spcAft>
            </a:pPr>
            <a:r>
              <a:rPr sz="1400" b="1">
                <a:solidFill>
                  <a:srgbClr val="4CB86B"/>
                </a:solidFill>
                <a:latin typeface="Segoe UI"/>
              </a:rPr>
              <a:t>•  </a:t>
            </a:r>
            <a:r>
              <a:rPr sz="1400">
                <a:solidFill>
                  <a:srgbClr val="2B2A28"/>
                </a:solidFill>
                <a:latin typeface="Segoe UI"/>
              </a:rPr>
              <a:t>Show reminders as chat bubbles</a:t>
            </a:r>
          </a:p>
          <a:p>
            <a:pPr>
              <a:spcAft>
                <a:spcPts val="300"/>
              </a:spcAft>
            </a:pPr>
            <a:r>
              <a:rPr sz="1400" b="1">
                <a:solidFill>
                  <a:srgbClr val="4CB86B"/>
                </a:solidFill>
                <a:latin typeface="Segoe UI"/>
              </a:rPr>
              <a:t>•  </a:t>
            </a:r>
            <a:r>
              <a:rPr sz="1400">
                <a:solidFill>
                  <a:srgbClr val="2B2A28"/>
                </a:solidFill>
                <a:latin typeface="Segoe UI"/>
              </a:rPr>
              <a:t>Move around by myself (walk on windows / swim &amp; splash / fly)</a:t>
            </a:r>
          </a:p>
          <a:p>
            <a:pPr>
              <a:spcAft>
                <a:spcPts val="300"/>
              </a:spcAft>
            </a:pPr>
            <a:r>
              <a:rPr sz="1400" b="1">
                <a:solidFill>
                  <a:srgbClr val="4CB86B"/>
                </a:solidFill>
                <a:latin typeface="Segoe UI"/>
              </a:rPr>
              <a:t>•  </a:t>
            </a:r>
            <a:r>
              <a:rPr sz="1400">
                <a:solidFill>
                  <a:srgbClr val="2B2A28"/>
                </a:solidFill>
                <a:latin typeface="Segoe UI"/>
              </a:rPr>
              <a:t>Nap when I'm away</a:t>
            </a:r>
          </a:p>
          <a:p>
            <a:pPr>
              <a:spcAft>
                <a:spcPts val="300"/>
              </a:spcAft>
            </a:pPr>
            <a:r>
              <a:rPr sz="1400" b="1">
                <a:solidFill>
                  <a:srgbClr val="4CB86B"/>
                </a:solidFill>
                <a:latin typeface="Segoe UI"/>
              </a:rPr>
              <a:t>•  </a:t>
            </a:r>
            <a:r>
              <a:rPr sz="1400">
                <a:solidFill>
                  <a:srgbClr val="2B2A28"/>
                </a:solidFill>
                <a:latin typeface="Segoe UI"/>
              </a:rPr>
              <a:t>Open the card next to the pet</a:t>
            </a:r>
          </a:p>
          <a:p>
            <a:pPr>
              <a:spcAft>
                <a:spcPts val="300"/>
              </a:spcAft>
            </a:pPr>
            <a:r>
              <a:rPr sz="1400" b="1">
                <a:solidFill>
                  <a:srgbClr val="4CB86B"/>
                </a:solidFill>
                <a:latin typeface="Segoe UI"/>
              </a:rPr>
              <a:t>•  </a:t>
            </a:r>
            <a:r>
              <a:rPr sz="1400">
                <a:solidFill>
                  <a:srgbClr val="2B2A28"/>
                </a:solidFill>
                <a:latin typeface="Segoe UI"/>
              </a:rPr>
              <a:t>Chatty (little messages)</a:t>
            </a:r>
          </a:p>
          <a:p>
            <a:pPr>
              <a:spcAft>
                <a:spcPts val="300"/>
              </a:spcAft>
            </a:pPr>
            <a:r>
              <a:rPr sz="1400" b="1">
                <a:solidFill>
                  <a:srgbClr val="4CB86B"/>
                </a:solidFill>
                <a:latin typeface="Segoe UI"/>
              </a:rPr>
              <a:t>•  </a:t>
            </a:r>
            <a:r>
              <a:rPr sz="1400">
                <a:solidFill>
                  <a:srgbClr val="2B2A28"/>
                </a:solidFill>
                <a:latin typeface="Segoe UI"/>
              </a:rPr>
              <a:t>Hide during full-screen apps</a:t>
            </a:r>
          </a:p>
          <a:p>
            <a:pPr>
              <a:spcAft>
                <a:spcPts val="300"/>
              </a:spcAft>
            </a:pPr>
            <a:r>
              <a:rPr sz="1400" b="1">
                <a:solidFill>
                  <a:srgbClr val="4CB86B"/>
                </a:solidFill>
                <a:latin typeface="Segoe UI"/>
              </a:rPr>
              <a:t>•  </a:t>
            </a:r>
            <a:r>
              <a:rPr sz="1400">
                <a:solidFill>
                  <a:srgbClr val="2B2A28"/>
                </a:solidFill>
                <a:latin typeface="Segoe UI"/>
              </a:rPr>
              <a:t>Check for updates automatically</a:t>
            </a:r>
          </a:p>
          <a:p>
            <a:pPr>
              <a:spcAft>
                <a:spcPts val="300"/>
              </a:spcAft>
            </a:pPr>
            <a:r>
              <a:rPr sz="1400" b="1">
                <a:solidFill>
                  <a:srgbClr val="4CB86B"/>
                </a:solidFill>
                <a:latin typeface="Segoe UI"/>
              </a:rPr>
              <a:t>•  </a:t>
            </a:r>
            <a:r>
              <a:rPr sz="1400">
                <a:solidFill>
                  <a:srgbClr val="2B2A28"/>
                </a:solidFill>
                <a:latin typeface="Segoe UI"/>
              </a:rPr>
              <a:t>Animal sounds + volume (quiet while focusing)</a:t>
            </a:r>
          </a:p>
          <a:p>
            <a:pPr>
              <a:spcAft>
                <a:spcPts val="300"/>
              </a:spcAft>
            </a:pPr>
            <a:r>
              <a:rPr sz="1400" b="1">
                <a:solidFill>
                  <a:srgbClr val="4CB86B"/>
                </a:solidFill>
                <a:latin typeface="Segoe UI"/>
              </a:rPr>
              <a:t>•  </a:t>
            </a:r>
            <a:r>
              <a:rPr sz="1400">
                <a:solidFill>
                  <a:srgbClr val="2B2A28"/>
                </a:solidFill>
                <a:latin typeface="Segoe UI"/>
              </a:rPr>
              <a:t>Dark mode (also: right-click the pet → Dark mode)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Languages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14</a:t>
            </a:r>
          </a:p>
        </p:txBody>
      </p:sp>
      <p:sp>
        <p:nvSpPr>
          <p:cNvPr id="7" name="Rounded Rectangle 6"/>
          <p:cNvSpPr/>
          <p:nvPr/>
        </p:nvSpPr>
        <p:spPr>
          <a:xfrm>
            <a:off x="54864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English</a:t>
            </a:r>
          </a:p>
        </p:txBody>
      </p:sp>
      <p:sp>
        <p:nvSpPr>
          <p:cNvPr id="9" name="TextBox 8"/>
          <p:cNvSpPr txBox="1"/>
          <p:nvPr/>
        </p:nvSpPr>
        <p:spPr>
          <a:xfrm>
            <a:off x="54864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Hello!</a:t>
            </a:r>
          </a:p>
        </p:txBody>
      </p:sp>
      <p:sp>
        <p:nvSpPr>
          <p:cNvPr id="10" name="Rounded Rectangle 9"/>
          <p:cNvSpPr/>
          <p:nvPr/>
        </p:nvSpPr>
        <p:spPr>
          <a:xfrm>
            <a:off x="338328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Bahasa Indonesia</a:t>
            </a:r>
          </a:p>
        </p:txBody>
      </p:sp>
      <p:sp>
        <p:nvSpPr>
          <p:cNvPr id="12" name="TextBox 11"/>
          <p:cNvSpPr txBox="1"/>
          <p:nvPr/>
        </p:nvSpPr>
        <p:spPr>
          <a:xfrm>
            <a:off x="338328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Halo!</a:t>
            </a:r>
          </a:p>
        </p:txBody>
      </p:sp>
      <p:sp>
        <p:nvSpPr>
          <p:cNvPr id="13" name="Rounded Rectangle 12"/>
          <p:cNvSpPr/>
          <p:nvPr/>
        </p:nvSpPr>
        <p:spPr>
          <a:xfrm>
            <a:off x="621792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繁體中文</a:t>
            </a:r>
          </a:p>
        </p:txBody>
      </p:sp>
      <p:sp>
        <p:nvSpPr>
          <p:cNvPr id="15" name="TextBox 14"/>
          <p:cNvSpPr txBox="1"/>
          <p:nvPr/>
        </p:nvSpPr>
        <p:spPr>
          <a:xfrm>
            <a:off x="621792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6" name="Rounded Rectangle 15"/>
          <p:cNvSpPr/>
          <p:nvPr/>
        </p:nvSpPr>
        <p:spPr>
          <a:xfrm>
            <a:off x="905256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简体中文</a:t>
            </a:r>
          </a:p>
        </p:txBody>
      </p:sp>
      <p:sp>
        <p:nvSpPr>
          <p:cNvPr id="18" name="TextBox 17"/>
          <p:cNvSpPr txBox="1"/>
          <p:nvPr/>
        </p:nvSpPr>
        <p:spPr>
          <a:xfrm>
            <a:off x="905256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9" name="TextBox 18"/>
          <p:cNvSpPr txBox="1"/>
          <p:nvPr/>
        </p:nvSpPr>
        <p:spPr>
          <a:xfrm>
            <a:off x="548640" y="3566160"/>
            <a:ext cx="10972800" cy="2743200"/>
          </a:xfrm>
          <a:prstGeom prst="rect">
            <a:avLst/>
          </a:prstGeom>
          <a:noFill/>
        </p:spPr>
        <p:txBody>
          <a:bodyPr wrap="square">
            <a:spAutoFit/>
          </a:bodyPr>
          <a:lstStyle/>
          <a:p>
            <a:pPr>
              <a:spcAft>
                <a:spcPts val="1000"/>
              </a:spcAft>
            </a:pPr>
            <a:r>
              <a:rPr sz="1700" b="1">
                <a:solidFill>
                  <a:srgbClr val="4CB86B"/>
                </a:solidFill>
                <a:latin typeface="Segoe UI"/>
              </a:rPr>
              <a:t>•  </a:t>
            </a:r>
            <a:r>
              <a:rPr sz="1700" b="1">
                <a:solidFill>
                  <a:srgbClr val="2B2A28"/>
                </a:solidFill>
                <a:latin typeface="Segoe UI"/>
              </a:rPr>
              <a:t>Change anytime: </a:t>
            </a:r>
            <a:r>
              <a:rPr sz="1700">
                <a:solidFill>
                  <a:srgbClr val="2B2A28"/>
                </a:solidFill>
                <a:latin typeface="Segoe UI"/>
              </a:rPr>
              <a:t>right-click the pet (or the card) → Language. Everything switches instantly - menus, bubbles, reminders, the card.</a:t>
            </a:r>
          </a:p>
          <a:p>
            <a:pPr>
              <a:spcAft>
                <a:spcPts val="1000"/>
              </a:spcAft>
            </a:pPr>
            <a:r>
              <a:rPr sz="1700" b="1">
                <a:solidFill>
                  <a:srgbClr val="4CB86B"/>
                </a:solidFill>
                <a:latin typeface="Segoe UI"/>
              </a:rPr>
              <a:t>•  </a:t>
            </a:r>
            <a:r>
              <a:rPr sz="1700" b="1">
                <a:solidFill>
                  <a:srgbClr val="2B2A28"/>
                </a:solidFill>
                <a:latin typeface="Segoe UI"/>
              </a:rPr>
              <a:t>First start: </a:t>
            </a:r>
            <a:r>
              <a:rPr sz="1700">
                <a:solidFill>
                  <a:srgbClr val="2B2A28"/>
                </a:solidFill>
                <a:latin typeface="Segoe UI"/>
              </a:rPr>
              <a:t>Pips guesses from your Windows language and asks once.</a:t>
            </a:r>
          </a:p>
          <a:p>
            <a:pPr>
              <a:spcAft>
                <a:spcPts val="1000"/>
              </a:spcAft>
            </a:pPr>
            <a:r>
              <a:rPr sz="1700" b="1">
                <a:solidFill>
                  <a:srgbClr val="4CB86B"/>
                </a:solidFill>
                <a:latin typeface="Segoe UI"/>
              </a:rPr>
              <a:t>•  </a:t>
            </a:r>
            <a:r>
              <a:rPr sz="1700" b="1">
                <a:solidFill>
                  <a:srgbClr val="2B2A28"/>
                </a:solidFill>
                <a:latin typeface="Segoe UI"/>
              </a:rPr>
              <a:t>Update notes </a:t>
            </a:r>
            <a:r>
              <a:rPr sz="1700">
                <a:solidFill>
                  <a:srgbClr val="2B2A28"/>
                </a:solidFill>
                <a:latin typeface="Segoe UI"/>
              </a:rPr>
              <a:t>are shown in your language too.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NEW IN 2.1</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Updates - right inside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15</a:t>
            </a:r>
          </a:p>
        </p:txBody>
      </p:sp>
      <p:pic>
        <p:nvPicPr>
          <p:cNvPr id="7" name="Picture 6" descr="update_offer.png"/>
          <p:cNvPicPr>
            <a:picLocks noChangeAspect="1"/>
          </p:cNvPicPr>
          <p:nvPr/>
        </p:nvPicPr>
        <p:blipFill>
          <a:blip r:embed="rId2"/>
          <a:stretch>
            <a:fillRect/>
          </a:stretch>
        </p:blipFill>
        <p:spPr>
          <a:xfrm>
            <a:off x="572153" y="1645920"/>
            <a:ext cx="4890733" cy="3291840"/>
          </a:xfrm>
          <a:prstGeom prst="rect">
            <a:avLst/>
          </a:prstGeom>
          <a:ln w="12700">
            <a:solidFill>
              <a:srgbClr val="E2DCCE"/>
            </a:solidFill>
          </a:ln>
        </p:spPr>
      </p:pic>
      <p:sp>
        <p:nvSpPr>
          <p:cNvPr id="8" name="TextBox 7"/>
          <p:cNvSpPr txBox="1"/>
          <p:nvPr/>
        </p:nvSpPr>
        <p:spPr>
          <a:xfrm>
            <a:off x="548640" y="498348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Example of an update notice (sample version text)</a:t>
            </a:r>
          </a:p>
        </p:txBody>
      </p:sp>
      <p:sp>
        <p:nvSpPr>
          <p:cNvPr id="9" name="TextBox 8"/>
          <p:cNvSpPr txBox="1"/>
          <p:nvPr/>
        </p:nvSpPr>
        <p:spPr>
          <a:xfrm>
            <a:off x="5852160" y="1645920"/>
            <a:ext cx="594360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Automatic check: </a:t>
            </a:r>
            <a:r>
              <a:rPr sz="1500">
                <a:solidFill>
                  <a:srgbClr val="2B2A28"/>
                </a:solidFill>
                <a:latin typeface="Segoe UI"/>
              </a:rPr>
              <a:t>shortly after start and every 6 hours (needs internet).</a:t>
            </a:r>
          </a:p>
          <a:p>
            <a:pPr>
              <a:spcAft>
                <a:spcPts val="900"/>
              </a:spcAft>
            </a:pPr>
            <a:r>
              <a:rPr sz="1500" b="1">
                <a:solidFill>
                  <a:srgbClr val="4CB86B"/>
                </a:solidFill>
                <a:latin typeface="Segoe UI"/>
              </a:rPr>
              <a:t>•  </a:t>
            </a:r>
            <a:r>
              <a:rPr sz="1500" b="1">
                <a:solidFill>
                  <a:srgbClr val="2B2A28"/>
                </a:solidFill>
                <a:latin typeface="Segoe UI"/>
              </a:rPr>
              <a:t>Your pet tells you </a:t>
            </a:r>
            <a:r>
              <a:rPr sz="1500">
                <a:solidFill>
                  <a:srgbClr val="2B2A28"/>
                </a:solidFill>
                <a:latin typeface="Segoe UI"/>
              </a:rPr>
              <a:t>what's new and offers: Update now · Later · Skip this version.</a:t>
            </a:r>
          </a:p>
          <a:p>
            <a:pPr>
              <a:spcAft>
                <a:spcPts val="900"/>
              </a:spcAft>
            </a:pPr>
            <a:r>
              <a:rPr sz="1500" b="1">
                <a:solidFill>
                  <a:srgbClr val="4CB86B"/>
                </a:solidFill>
                <a:latin typeface="Segoe UI"/>
              </a:rPr>
              <a:t>•  </a:t>
            </a:r>
            <a:r>
              <a:rPr sz="1500" b="1">
                <a:solidFill>
                  <a:srgbClr val="2B2A28"/>
                </a:solidFill>
                <a:latin typeface="Segoe UI"/>
              </a:rPr>
              <a:t>Update now: </a:t>
            </a:r>
            <a:r>
              <a:rPr sz="1500">
                <a:solidFill>
                  <a:srgbClr val="2B2A28"/>
                </a:solidFill>
                <a:latin typeface="Segoe UI"/>
              </a:rPr>
              <a:t>downloads, verifies (SHA-256), installs and restarts Pips by itself - about 10 seconds.</a:t>
            </a:r>
          </a:p>
          <a:p>
            <a:pPr>
              <a:spcAft>
                <a:spcPts val="900"/>
              </a:spcAft>
            </a:pPr>
            <a:r>
              <a:rPr sz="1500" b="1">
                <a:solidFill>
                  <a:srgbClr val="4CB86B"/>
                </a:solidFill>
                <a:latin typeface="Segoe UI"/>
              </a:rPr>
              <a:t>•  </a:t>
            </a:r>
            <a:r>
              <a:rPr sz="1500" b="1">
                <a:solidFill>
                  <a:srgbClr val="2B2A28"/>
                </a:solidFill>
                <a:latin typeface="Segoe UI"/>
              </a:rPr>
              <a:t>Your stuff is safe: </a:t>
            </a:r>
            <a:r>
              <a:rPr sz="1500">
                <a:solidFill>
                  <a:srgbClr val="2B2A28"/>
                </a:solidFill>
                <a:latin typeface="Segoe UI"/>
              </a:rPr>
              <a:t>settings, pet, history and reports are never touched. The old version is backed up in the backup\ folder.</a:t>
            </a:r>
          </a:p>
          <a:p>
            <a:pPr>
              <a:spcAft>
                <a:spcPts val="900"/>
              </a:spcAft>
            </a:pPr>
            <a:r>
              <a:rPr sz="1500" b="1">
                <a:solidFill>
                  <a:srgbClr val="4CB86B"/>
                </a:solidFill>
                <a:latin typeface="Segoe UI"/>
              </a:rPr>
              <a:t>•  </a:t>
            </a:r>
            <a:r>
              <a:rPr sz="1500" b="1">
                <a:solidFill>
                  <a:srgbClr val="2B2A28"/>
                </a:solidFill>
                <a:latin typeface="Segoe UI"/>
              </a:rPr>
              <a:t>Manual check: </a:t>
            </a:r>
            <a:r>
              <a:rPr sz="1500">
                <a:solidFill>
                  <a:srgbClr val="2B2A28"/>
                </a:solidFill>
                <a:latin typeface="Segoe UI"/>
              </a:rPr>
              <a:t>right-click the pet → Help → Check for updates.</a:t>
            </a:r>
          </a:p>
          <a:p>
            <a:pPr>
              <a:spcAft>
                <a:spcPts val="900"/>
              </a:spcAft>
            </a:pPr>
            <a:r>
              <a:rPr sz="1500" b="1">
                <a:solidFill>
                  <a:srgbClr val="4CB86B"/>
                </a:solidFill>
                <a:latin typeface="Segoe UI"/>
              </a:rPr>
              <a:t>•  </a:t>
            </a:r>
            <a:r>
              <a:rPr sz="1500" b="1">
                <a:solidFill>
                  <a:srgbClr val="2B2A28"/>
                </a:solidFill>
                <a:latin typeface="Segoe UI"/>
              </a:rPr>
              <a:t>Don't want it? </a:t>
            </a:r>
            <a:r>
              <a:rPr sz="1500">
                <a:solidFill>
                  <a:srgbClr val="2B2A28"/>
                </a:solidFill>
                <a:latin typeface="Segoe UI"/>
              </a:rPr>
              <a:t>Pet status &amp; settings → uncheck “Check for updates automatically”.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HELP</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Troubleshooting &amp; FAQ</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16</a:t>
            </a:r>
          </a:p>
        </p:txBody>
      </p:sp>
      <p:graphicFrame>
        <p:nvGraphicFramePr>
          <p:cNvPr id="7" name="Table 6"/>
          <p:cNvGraphicFramePr>
            <a:graphicFrameLocks noGrp="1"/>
          </p:cNvGraphicFramePr>
          <p:nvPr/>
        </p:nvGraphicFramePr>
        <p:xfrm>
          <a:off x="548640" y="1554480"/>
          <a:ext cx="11155680" cy="4498848"/>
        </p:xfrm>
        <a:graphic>
          <a:graphicData uri="http://schemas.openxmlformats.org/drawingml/2006/table">
            <a:tbl>
              <a:tblPr firstRow="1" bandRow="1">
                <a:tableStyleId>{5C22544A-7EE6-4342-B048-85BDC9FD1C3A}</a:tableStyleId>
              </a:tblPr>
              <a:tblGrid>
                <a:gridCol w="3108960"/>
                <a:gridCol w="8046720"/>
              </a:tblGrid>
              <a:tr h="384048">
                <a:tc>
                  <a:txBody>
                    <a:bodyPr wrap="square"/>
                    <a:lstStyle/>
                    <a:p>
                      <a:r>
                        <a:rPr sz="1200" b="1">
                          <a:solidFill>
                            <a:srgbClr val="FFFFFF"/>
                          </a:solidFill>
                          <a:latin typeface="Segoe UI"/>
                        </a:rPr>
                        <a:t>Problem</a:t>
                      </a:r>
                    </a:p>
                  </a:txBody>
                  <a:tcPr marL="73152" marR="73152" marT="36576" marB="36576">
                    <a:solidFill>
                      <a:srgbClr val="8B1A1A"/>
                    </a:solidFill>
                  </a:tcPr>
                </a:tc>
                <a:tc>
                  <a:txBody>
                    <a:bodyPr wrap="square"/>
                    <a:lstStyle/>
                    <a:p>
                      <a:r>
                        <a:rPr sz="1200" b="1">
                          <a:solidFill>
                            <a:srgbClr val="FFFFFF"/>
                          </a:solidFill>
                          <a:latin typeface="Segoe UI"/>
                        </a:rPr>
                        <a:t>Try this</a:t>
                      </a:r>
                    </a:p>
                  </a:txBody>
                  <a:tcPr marL="73152" marR="73152" marT="36576" marB="36576">
                    <a:solidFill>
                      <a:srgbClr val="8B1A1A"/>
                    </a:solidFill>
                  </a:tcPr>
                </a:tc>
              </a:tr>
              <a:tr h="411480">
                <a:tc>
                  <a:txBody>
                    <a:bodyPr wrap="square"/>
                    <a:lstStyle/>
                    <a:p>
                      <a:r>
                        <a:rPr sz="1200" b="1">
                          <a:solidFill>
                            <a:srgbClr val="2B2A28"/>
                          </a:solidFill>
                          <a:latin typeface="Segoe UI"/>
                        </a:rPr>
                        <a:t>Nothing happens when I start</a:t>
                      </a:r>
                    </a:p>
                  </a:txBody>
                  <a:tcPr marL="73152" marR="73152" marT="36576" marB="36576">
                    <a:solidFill>
                      <a:srgbClr val="FFFDF8"/>
                    </a:solidFill>
                  </a:tcPr>
                </a:tc>
                <a:tc>
                  <a:txBody>
                    <a:bodyPr wrap="square"/>
                    <a:lstStyle/>
                    <a:p>
                      <a:r>
                        <a:rPr sz="1200" b="0">
                          <a:solidFill>
                            <a:srgbClr val="2B2A28"/>
                          </a:solidFill>
                          <a:latin typeface="Segoe UI"/>
                        </a:rPr>
                        <a:t>Use the Pips Desktop / Start Menu shortcut. If needed, quit Pips and run Pips-Setup.exe again.</a:t>
                      </a:r>
                    </a:p>
                  </a:txBody>
                  <a:tcPr marL="73152" marR="73152" marT="36576" marB="36576">
                    <a:solidFill>
                      <a:srgbClr val="FFFDF8"/>
                    </a:solidFill>
                  </a:tcPr>
                </a:tc>
              </a:tr>
              <a:tr h="411480">
                <a:tc>
                  <a:txBody>
                    <a:bodyPr wrap="square"/>
                    <a:lstStyle/>
                    <a:p>
                      <a:r>
                        <a:rPr sz="1200" b="1">
                          <a:solidFill>
                            <a:srgbClr val="2B2A28"/>
                          </a:solidFill>
                          <a:latin typeface="Segoe UI"/>
                        </a:rPr>
                        <a:t>“Windows protected your PC”</a:t>
                      </a:r>
                    </a:p>
                  </a:txBody>
                  <a:tcPr marL="73152" marR="73152" marT="36576" marB="36576">
                    <a:solidFill>
                      <a:srgbClr val="F7F4EC"/>
                    </a:solidFill>
                  </a:tcPr>
                </a:tc>
                <a:tc>
                  <a:txBody>
                    <a:bodyPr wrap="square"/>
                    <a:lstStyle/>
                    <a:p>
                      <a:r>
                        <a:rPr sz="1200" b="0">
                          <a:solidFill>
                            <a:srgbClr val="2B2A28"/>
                          </a:solidFill>
                          <a:latin typeface="Segoe UI"/>
                        </a:rPr>
                        <a:t>The installer is unsigned. For the trusted official download: More info → Run anyway, if allowed. Otherwise ask IT.</a:t>
                      </a:r>
                    </a:p>
                  </a:txBody>
                  <a:tcPr marL="73152" marR="73152" marT="36576" marB="36576">
                    <a:solidFill>
                      <a:srgbClr val="F7F4EC"/>
                    </a:solidFill>
                  </a:tcPr>
                </a:tc>
              </a:tr>
              <a:tr h="411480">
                <a:tc>
                  <a:txBody>
                    <a:bodyPr wrap="square"/>
                    <a:lstStyle/>
                    <a:p>
                      <a:r>
                        <a:rPr sz="1200" b="1">
                          <a:solidFill>
                            <a:srgbClr val="2B2A28"/>
                          </a:solidFill>
                          <a:latin typeface="Segoe UI"/>
                        </a:rPr>
                        <a:t>Where is my pet?</a:t>
                      </a:r>
                    </a:p>
                  </a:txBody>
                  <a:tcPr marL="73152" marR="73152" marT="36576" marB="36576">
                    <a:solidFill>
                      <a:srgbClr val="FFFDF8"/>
                    </a:solidFill>
                  </a:tcPr>
                </a:tc>
                <a:tc>
                  <a:txBody>
                    <a:bodyPr wrap="square"/>
                    <a:lstStyle/>
                    <a:p>
                      <a:r>
                        <a:rPr sz="1200" b="0">
                          <a:solidFill>
                            <a:srgbClr val="2B2A28"/>
                          </a:solidFill>
                          <a:latin typeface="Segoe UI"/>
                        </a:rPr>
                        <a:t>Click the Pips icon next to the clock (it may be under ^) or press Ctrl+Alt+P. Opening Pips again also brings it back. It hides during full-screen apps.</a:t>
                      </a:r>
                    </a:p>
                  </a:txBody>
                  <a:tcPr marL="73152" marR="73152" marT="36576" marB="36576">
                    <a:solidFill>
                      <a:srgbClr val="FFFDF8"/>
                    </a:solidFill>
                  </a:tcPr>
                </a:tc>
              </a:tr>
              <a:tr h="411480">
                <a:tc>
                  <a:txBody>
                    <a:bodyPr wrap="square"/>
                    <a:lstStyle/>
                    <a:p>
                      <a:r>
                        <a:rPr sz="1200" b="1">
                          <a:solidFill>
                            <a:srgbClr val="2B2A28"/>
                          </a:solidFill>
                          <a:latin typeface="Segoe UI"/>
                        </a:rPr>
                        <a:t>My pet is small / a baby</a:t>
                      </a:r>
                    </a:p>
                  </a:txBody>
                  <a:tcPr marL="73152" marR="73152" marT="36576" marB="36576">
                    <a:solidFill>
                      <a:srgbClr val="F7F4EC"/>
                    </a:solidFill>
                  </a:tcPr>
                </a:tc>
                <a:tc>
                  <a:txBody>
                    <a:bodyPr wrap="square"/>
                    <a:lstStyle/>
                    <a:p>
                      <a:r>
                        <a:rPr sz="1200" b="0">
                          <a:solidFill>
                            <a:srgbClr val="2B2A28"/>
                          </a:solidFill>
                          <a:latin typeface="Segoe UI"/>
                        </a:rPr>
                        <a:t>Pets grow up: baby → child → teen → grown-up, with focus sessions, daily visits, games and cuddles. Pet settings show the progress; 🍼 Raise again starts over.</a:t>
                      </a:r>
                    </a:p>
                  </a:txBody>
                  <a:tcPr marL="73152" marR="73152" marT="36576" marB="36576">
                    <a:solidFill>
                      <a:srgbClr val="F7F4EC"/>
                    </a:solidFill>
                  </a:tcPr>
                </a:tc>
              </a:tr>
              <a:tr h="411480">
                <a:tc>
                  <a:txBody>
                    <a:bodyPr wrap="square"/>
                    <a:lstStyle/>
                    <a:p>
                      <a:r>
                        <a:rPr sz="1200" b="1">
                          <a:solidFill>
                            <a:srgbClr val="2B2A28"/>
                          </a:solidFill>
                          <a:latin typeface="Segoe UI"/>
                        </a:rPr>
                        <a:t>My pet is sick 🤧</a:t>
                      </a:r>
                    </a:p>
                  </a:txBody>
                  <a:tcPr marL="73152" marR="73152" marT="36576" marB="36576">
                    <a:solidFill>
                      <a:srgbClr val="FFFDF8"/>
                    </a:solidFill>
                  </a:tcPr>
                </a:tc>
                <a:tc>
                  <a:txBody>
                    <a:bodyPr wrap="square"/>
                    <a:lstStyle/>
                    <a:p>
                      <a:r>
                        <a:rPr sz="1200" b="0">
                          <a:solidFill>
                            <a:srgbClr val="2B2A28"/>
                          </a:solidFill>
                          <a:latin typeface="Segoe UI"/>
                        </a:rPr>
                        <a:t>You worked 2.5 h without a 5-minute break. Take a short break (or right-click → Medicine) and it feels better. Turn off: Pet settings → Behaviour.</a:t>
                      </a:r>
                    </a:p>
                  </a:txBody>
                  <a:tcPr marL="73152" marR="73152" marT="36576" marB="36576">
                    <a:solidFill>
                      <a:srgbClr val="FFFDF8"/>
                    </a:solidFill>
                  </a:tcPr>
                </a:tc>
              </a:tr>
              <a:tr h="411480">
                <a:tc>
                  <a:txBody>
                    <a:bodyPr wrap="square"/>
                    <a:lstStyle/>
                    <a:p>
                      <a:r>
                        <a:rPr sz="1200" b="1">
                          <a:solidFill>
                            <a:srgbClr val="2B2A28"/>
                          </a:solidFill>
                          <a:latin typeface="Segoe UI"/>
                        </a:rPr>
                        <a:t>My pet is up on a window / flying</a:t>
                      </a:r>
                    </a:p>
                  </a:txBody>
                  <a:tcPr marL="73152" marR="73152" marT="36576" marB="36576">
                    <a:solidFill>
                      <a:srgbClr val="F7F4EC"/>
                    </a:solidFill>
                  </a:tcPr>
                </a:tc>
                <a:tc>
                  <a:txBody>
                    <a:bodyPr wrap="square"/>
                    <a:lstStyle/>
                    <a:p>
                      <a:r>
                        <a:rPr sz="1200" b="0">
                          <a:solidFill>
                            <a:srgbClr val="2B2A28"/>
                          </a:solidFill>
                          <a:latin typeface="Segoe UI"/>
                        </a:rPr>
                        <a:t>Land animals walk on window tops, flyers fly anywhere. Right-click → Go to the taskbar / Rest on the taskbar, or turn off "Move around by myself" in Pet settings.</a:t>
                      </a:r>
                    </a:p>
                  </a:txBody>
                  <a:tcPr marL="73152" marR="73152" marT="36576" marB="36576">
                    <a:solidFill>
                      <a:srgbClr val="F7F4EC"/>
                    </a:solidFill>
                  </a:tcPr>
                </a:tc>
              </a:tr>
              <a:tr h="411480">
                <a:tc>
                  <a:txBody>
                    <a:bodyPr wrap="square"/>
                    <a:lstStyle/>
                    <a:p>
                      <a:r>
                        <a:rPr sz="1200" b="1">
                          <a:solidFill>
                            <a:srgbClr val="2B2A28"/>
                          </a:solidFill>
                          <a:latin typeface="Segoe UI"/>
                        </a:rPr>
                        <a:t>The focus card is gone</a:t>
                      </a:r>
                    </a:p>
                  </a:txBody>
                  <a:tcPr marL="73152" marR="73152" marT="36576" marB="36576">
                    <a:solidFill>
                      <a:srgbClr val="FFFDF8"/>
                    </a:solidFill>
                  </a:tcPr>
                </a:tc>
                <a:tc>
                  <a:txBody>
                    <a:bodyPr wrap="square"/>
                    <a:lstStyle/>
                    <a:p>
                      <a:r>
                        <a:rPr sz="1200" b="0">
                          <a:solidFill>
                            <a:srgbClr val="2B2A28"/>
                          </a:solidFill>
                          <a:latin typeface="Segoe UI"/>
                        </a:rPr>
                        <a:t>Right-click the pet → Focus timer → Open. Or restart Pips.</a:t>
                      </a:r>
                    </a:p>
                  </a:txBody>
                  <a:tcPr marL="73152" marR="73152" marT="36576" marB="36576">
                    <a:solidFill>
                      <a:srgbClr val="FFFDF8"/>
                    </a:solidFill>
                  </a:tcPr>
                </a:tc>
              </a:tr>
              <a:tr h="411480">
                <a:tc>
                  <a:txBody>
                    <a:bodyPr wrap="square"/>
                    <a:lstStyle/>
                    <a:p>
                      <a:r>
                        <a:rPr sz="1200" b="1">
                          <a:solidFill>
                            <a:srgbClr val="2B2A28"/>
                          </a:solidFill>
                          <a:latin typeface="Segoe UI"/>
                        </a:rPr>
                        <a:t>Update failed</a:t>
                      </a:r>
                    </a:p>
                  </a:txBody>
                  <a:tcPr marL="73152" marR="73152" marT="36576" marB="36576">
                    <a:solidFill>
                      <a:srgbClr val="F7F4EC"/>
                    </a:solidFill>
                  </a:tcPr>
                </a:tc>
                <a:tc>
                  <a:txBody>
                    <a:bodyPr wrap="square"/>
                    <a:lstStyle/>
                    <a:p>
                      <a:r>
                        <a:rPr sz="1200" b="0">
                          <a:solidFill>
                            <a:srgbClr val="2B2A28"/>
                          </a:solidFill>
                          <a:latin typeface="Segoe UI"/>
                        </a:rPr>
                        <a:t>Try Help → Check for updates later. Installed users can quit Pips and rerun setup; ZIP users should keep their original folder.</a:t>
                      </a:r>
                    </a:p>
                  </a:txBody>
                  <a:tcPr marL="73152" marR="73152" marT="36576" marB="36576">
                    <a:solidFill>
                      <a:srgbClr val="F7F4EC"/>
                    </a:solidFill>
                  </a:tcPr>
                </a:tc>
              </a:tr>
              <a:tr h="411480">
                <a:tc>
                  <a:txBody>
                    <a:bodyPr wrap="square"/>
                    <a:lstStyle/>
                    <a:p>
                      <a:r>
                        <a:rPr sz="1200" b="1">
                          <a:solidFill>
                            <a:srgbClr val="2B2A28"/>
                          </a:solidFill>
                          <a:latin typeface="Segoe UI"/>
                        </a:rPr>
                        <a:t>Where are my settings?</a:t>
                      </a:r>
                    </a:p>
                  </a:txBody>
                  <a:tcPr marL="73152" marR="73152" marT="36576" marB="36576">
                    <a:solidFill>
                      <a:srgbClr val="FFFDF8"/>
                    </a:solidFill>
                  </a:tcPr>
                </a:tc>
                <a:tc>
                  <a:txBody>
                    <a:bodyPr wrap="square"/>
                    <a:lstStyle/>
                    <a:p>
                      <a:r>
                        <a:rPr sz="1200" b="0">
                          <a:solidFill>
                            <a:srgbClr val="2B2A28"/>
                          </a:solidFill>
                          <a:latin typeface="Segoe UI"/>
                        </a:rPr>
                        <a:t>Installed app: %LOCALAPPDATA%\Programs\Pips. config.json and data\ hold your profile and progress; back them up before moving.</a:t>
                      </a:r>
                    </a:p>
                  </a:txBody>
                  <a:tcPr marL="73152" marR="73152" marT="36576" marB="36576">
                    <a:solidFill>
                      <a:srgbClr val="FFFDF8"/>
                    </a:solidFill>
                  </a:tcPr>
                </a:tc>
              </a:tr>
              <a:tr h="411480">
                <a:tc>
                  <a:txBody>
                    <a:bodyPr wrap="square"/>
                    <a:lstStyle/>
                    <a:p>
                      <a:r>
                        <a:rPr sz="1200" b="1">
                          <a:solidFill>
                            <a:srgbClr val="2B2A28"/>
                          </a:solidFill>
                          <a:latin typeface="Segoe UI"/>
                        </a:rPr>
                        <a:t>Uninstall</a:t>
                      </a:r>
                    </a:p>
                  </a:txBody>
                  <a:tcPr marL="73152" marR="73152" marT="36576" marB="36576">
                    <a:solidFill>
                      <a:srgbClr val="F7F4EC"/>
                    </a:solidFill>
                  </a:tcPr>
                </a:tc>
                <a:tc>
                  <a:txBody>
                    <a:bodyPr wrap="square"/>
                    <a:lstStyle/>
                    <a:p>
                      <a:r>
                        <a:rPr sz="1200" b="0">
                          <a:solidFill>
                            <a:srgbClr val="2B2A28"/>
                          </a:solidFill>
                          <a:latin typeface="Segoe UI"/>
                        </a:rPr>
                        <a:t>Quit Pips, then Windows Settings → Apps → Pips → Uninstall. Settings and progress are left in place for a later reinstall.</a:t>
                      </a:r>
                    </a:p>
                  </a:txBody>
                  <a:tcPr marL="73152" marR="73152" marT="36576" marB="36576">
                    <a:solidFill>
                      <a:srgbClr val="F7F4EC"/>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What's new in 2.27.1</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17</a:t>
            </a:r>
          </a:p>
        </p:txBody>
      </p:sp>
      <p:sp>
        <p:nvSpPr>
          <p:cNvPr id="7" name="TextBox 6"/>
          <p:cNvSpPr txBox="1"/>
          <p:nvPr/>
        </p:nvSpPr>
        <p:spPr>
          <a:xfrm>
            <a:off x="548640" y="1554480"/>
            <a:ext cx="10972800" cy="457200"/>
          </a:xfrm>
          <a:prstGeom prst="rect">
            <a:avLst/>
          </a:prstGeom>
          <a:noFill/>
        </p:spPr>
        <p:txBody>
          <a:bodyPr wrap="square" anchor="t" lIns="45720" rIns="45720" tIns="27432" bIns="27432">
            <a:spAutoFit/>
          </a:bodyPr>
          <a:lstStyle/>
          <a:p>
            <a:pPr algn="l"/>
            <a:r>
              <a:rPr sz="1800" b="1">
                <a:solidFill>
                  <a:srgbClr val="8B1A1A"/>
                </a:solidFill>
                <a:latin typeface="Segoe UI"/>
              </a:rPr>
              <a:t>Focus Trail in your menus  ·  2026-11-01</a:t>
            </a:r>
          </a:p>
        </p:txBody>
      </p:sp>
      <p:sp>
        <p:nvSpPr>
          <p:cNvPr id="8" name="TextBox 7"/>
          <p:cNvSpPr txBox="1"/>
          <p:nvPr/>
        </p:nvSpPr>
        <p:spPr>
          <a:xfrm>
            <a:off x="548640" y="2148840"/>
            <a:ext cx="6858000" cy="4114800"/>
          </a:xfrm>
          <a:prstGeom prst="rect">
            <a:avLst/>
          </a:prstGeom>
          <a:noFill/>
        </p:spPr>
        <p:txBody>
          <a:bodyPr wrap="square">
            <a:spAutoFit/>
          </a:bodyPr>
          <a:lstStyle/>
          <a:p>
            <a:pPr>
              <a:spcAft>
                <a:spcPts val="1000"/>
              </a:spcAft>
            </a:pPr>
            <a:r>
              <a:rPr sz="1700" b="1">
                <a:solidFill>
                  <a:srgbClr val="4CB86B"/>
                </a:solidFill>
                <a:latin typeface="Segoe UI"/>
              </a:rPr>
              <a:t>•  </a:t>
            </a:r>
            <a:r>
              <a:rPr sz="1700">
                <a:solidFill>
                  <a:srgbClr val="2B2A28"/>
                </a:solidFill>
                <a:latin typeface="Segoe UI"/>
              </a:rPr>
              <a:t>Focus Trail is now one click away: right-click your pet (next to Focus and Stats) or right-click the timer card.</a:t>
            </a:r>
          </a:p>
        </p:txBody>
      </p:sp>
      <p:sp>
        <p:nvSpPr>
          <p:cNvPr id="9" name="Rounded Rectangle 8"/>
          <p:cNvSpPr/>
          <p:nvPr/>
        </p:nvSpPr>
        <p:spPr>
          <a:xfrm>
            <a:off x="7680960" y="2103120"/>
            <a:ext cx="4114800" cy="402336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2194560"/>
            <a:ext cx="3749039" cy="365760"/>
          </a:xfrm>
          <a:prstGeom prst="rect">
            <a:avLst/>
          </a:prstGeom>
          <a:noFill/>
        </p:spPr>
        <p:txBody>
          <a:bodyPr wrap="square" anchor="t" lIns="45720" rIns="45720" tIns="27432" bIns="27432">
            <a:spAutoFit/>
          </a:bodyPr>
          <a:lstStyle/>
          <a:p>
            <a:pPr algn="l"/>
            <a:r>
              <a:rPr sz="1300" b="1">
                <a:solidFill>
                  <a:srgbClr val="4CB86B"/>
                </a:solidFill>
                <a:latin typeface="Segoe UI"/>
              </a:rPr>
              <a:t>Bahasa Indonesia</a:t>
            </a:r>
          </a:p>
        </p:txBody>
      </p:sp>
      <p:sp>
        <p:nvSpPr>
          <p:cNvPr id="11" name="TextBox 10"/>
          <p:cNvSpPr txBox="1"/>
          <p:nvPr/>
        </p:nvSpPr>
        <p:spPr>
          <a:xfrm>
            <a:off x="7863840" y="2560320"/>
            <a:ext cx="3749039" cy="3474720"/>
          </a:xfrm>
          <a:prstGeom prst="rect">
            <a:avLst/>
          </a:prstGeom>
          <a:noFill/>
        </p:spPr>
        <p:txBody>
          <a:bodyPr wrap="square">
            <a:spAutoFit/>
          </a:bodyPr>
          <a:lstStyle/>
          <a:p>
            <a:pPr>
              <a:spcAft>
                <a:spcPts val="500"/>
              </a:spcAft>
            </a:pPr>
            <a:r>
              <a:rPr sz="1200" b="1">
                <a:solidFill>
                  <a:srgbClr val="4CB86B"/>
                </a:solidFill>
                <a:latin typeface="Segoe UI"/>
              </a:rPr>
              <a:t>•  </a:t>
            </a:r>
            <a:r>
              <a:rPr sz="1200">
                <a:solidFill>
                  <a:srgbClr val="2B2A28"/>
                </a:solidFill>
                <a:latin typeface="Segoe UI"/>
              </a:rPr>
              <a:t>Jejak Fokus kini cukup sekali klik: klik kanan pet-mu (di samping Fokus dan Statistik) atau klik kanan kartu timer.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Version history</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18</a:t>
            </a:r>
          </a:p>
        </p:txBody>
      </p:sp>
      <p:graphicFrame>
        <p:nvGraphicFramePr>
          <p:cNvPr id="7" name="Table 6"/>
          <p:cNvGraphicFramePr>
            <a:graphicFrameLocks noGrp="1"/>
          </p:cNvGraphicFramePr>
          <p:nvPr/>
        </p:nvGraphicFramePr>
        <p:xfrm>
          <a:off x="548640" y="1645920"/>
          <a:ext cx="11155680" cy="36594288"/>
        </p:xfrm>
        <a:graphic>
          <a:graphicData uri="http://schemas.openxmlformats.org/drawingml/2006/table">
            <a:tbl>
              <a:tblPr firstRow="1" bandRow="1">
                <a:tableStyleId>{5C22544A-7EE6-4342-B048-85BDC9FD1C3A}</a:tableStyleId>
              </a:tblPr>
              <a:tblGrid>
                <a:gridCol w="1188720"/>
                <a:gridCol w="1463040"/>
                <a:gridCol w="8503920"/>
              </a:tblGrid>
              <a:tr h="384048">
                <a:tc>
                  <a:txBody>
                    <a:bodyPr wrap="square"/>
                    <a:lstStyle/>
                    <a:p>
                      <a:r>
                        <a:rPr sz="1200" b="1">
                          <a:solidFill>
                            <a:srgbClr val="FFFFFF"/>
                          </a:solidFill>
                          <a:latin typeface="Segoe UI"/>
                        </a:rPr>
                        <a:t>Version</a:t>
                      </a:r>
                    </a:p>
                  </a:txBody>
                  <a:tcPr marL="73152" marR="73152" marT="36576" marB="36576">
                    <a:solidFill>
                      <a:srgbClr val="8B1A1A"/>
                    </a:solidFill>
                  </a:tcPr>
                </a:tc>
                <a:tc>
                  <a:txBody>
                    <a:bodyPr wrap="square"/>
                    <a:lstStyle/>
                    <a:p>
                      <a:r>
                        <a:rPr sz="1200" b="1">
                          <a:solidFill>
                            <a:srgbClr val="FFFFFF"/>
                          </a:solidFill>
                          <a:latin typeface="Segoe UI"/>
                        </a:rPr>
                        <a:t>Date</a:t>
                      </a:r>
                    </a:p>
                  </a:txBody>
                  <a:tcPr marL="73152" marR="73152" marT="36576" marB="36576">
                    <a:solidFill>
                      <a:srgbClr val="8B1A1A"/>
                    </a:solidFill>
                  </a:tcPr>
                </a:tc>
                <a:tc>
                  <a:txBody>
                    <a:bodyPr wrap="square"/>
                    <a:lstStyle/>
                    <a:p>
                      <a:r>
                        <a:rPr sz="1200" b="1">
                          <a:solidFill>
                            <a:srgbClr val="FFFFFF"/>
                          </a:solidFill>
                          <a:latin typeface="Segoe UI"/>
                        </a:rPr>
                        <a:t>Highlights</a:t>
                      </a:r>
                    </a:p>
                  </a:txBody>
                  <a:tcPr marL="73152" marR="73152" marT="36576" marB="36576">
                    <a:solidFill>
                      <a:srgbClr val="8B1A1A"/>
                    </a:solidFill>
                  </a:tcPr>
                </a:tc>
              </a:tr>
              <a:tr h="822960">
                <a:tc>
                  <a:txBody>
                    <a:bodyPr wrap="square"/>
                    <a:lstStyle/>
                    <a:p>
                      <a:r>
                        <a:rPr sz="1200" b="1">
                          <a:solidFill>
                            <a:srgbClr val="2B2A28"/>
                          </a:solidFill>
                          <a:latin typeface="Segoe UI"/>
                        </a:rPr>
                        <a:t>2.27.1</a:t>
                      </a:r>
                    </a:p>
                  </a:txBody>
                  <a:tcPr marL="73152" marR="73152" marT="36576" marB="36576">
                    <a:solidFill>
                      <a:srgbClr val="FFFDF8"/>
                    </a:solidFill>
                  </a:tcPr>
                </a:tc>
                <a:tc>
                  <a:txBody>
                    <a:bodyPr wrap="square"/>
                    <a:lstStyle/>
                    <a:p>
                      <a:r>
                        <a:rPr sz="1200" b="0">
                          <a:solidFill>
                            <a:srgbClr val="2B2A28"/>
                          </a:solidFill>
                          <a:latin typeface="Segoe UI"/>
                        </a:rPr>
                        <a:t>2026-11-01</a:t>
                      </a:r>
                    </a:p>
                  </a:txBody>
                  <a:tcPr marL="73152" marR="73152" marT="36576" marB="36576">
                    <a:solidFill>
                      <a:srgbClr val="FFFDF8"/>
                    </a:solidFill>
                  </a:tcPr>
                </a:tc>
                <a:tc>
                  <a:txBody>
                    <a:bodyPr wrap="square"/>
                    <a:lstStyle/>
                    <a:p>
                      <a:r>
                        <a:rPr sz="1200" b="0">
                          <a:solidFill>
                            <a:srgbClr val="2B2A28"/>
                          </a:solidFill>
                          <a:latin typeface="Segoe UI"/>
                        </a:rPr>
                        <a:t>Focus Trail in your menus</a:t>
                      </a:r>
                    </a:p>
                    <a:p>
                      <a:r>
                        <a:rPr sz="1200" b="0">
                          <a:solidFill>
                            <a:srgbClr val="2B2A28"/>
                          </a:solidFill>
                          <a:latin typeface="Segoe UI"/>
                        </a:rPr>
                        <a:t>Focus Trail is now one click away: right-click your pet (next to Focus and Stats) or right-click the timer card.</a:t>
                      </a:r>
                    </a:p>
                  </a:txBody>
                  <a:tcPr marL="73152" marR="73152" marT="36576" marB="36576">
                    <a:solidFill>
                      <a:srgbClr val="FFFDF8"/>
                    </a:solidFill>
                  </a:tcPr>
                </a:tc>
              </a:tr>
              <a:tr h="822960">
                <a:tc>
                  <a:txBody>
                    <a:bodyPr wrap="square"/>
                    <a:lstStyle/>
                    <a:p>
                      <a:r>
                        <a:rPr sz="1200" b="1">
                          <a:solidFill>
                            <a:srgbClr val="2B2A28"/>
                          </a:solidFill>
                          <a:latin typeface="Segoe UI"/>
                        </a:rPr>
                        <a:t>2.27.0</a:t>
                      </a:r>
                    </a:p>
                  </a:txBody>
                  <a:tcPr marL="73152" marR="73152" marT="36576" marB="36576">
                    <a:solidFill>
                      <a:srgbClr val="F7F4EC"/>
                    </a:solidFill>
                  </a:tcPr>
                </a:tc>
                <a:tc>
                  <a:txBody>
                    <a:bodyPr wrap="square"/>
                    <a:lstStyle/>
                    <a:p>
                      <a:r>
                        <a:rPr sz="1200" b="0">
                          <a:solidFill>
                            <a:srgbClr val="2B2A28"/>
                          </a:solidFill>
                          <a:latin typeface="Segoe UI"/>
                        </a:rPr>
                        <a:t>2026-11-01</a:t>
                      </a:r>
                    </a:p>
                  </a:txBody>
                  <a:tcPr marL="73152" marR="73152" marT="36576" marB="36576">
                    <a:solidFill>
                      <a:srgbClr val="F7F4EC"/>
                    </a:solidFill>
                  </a:tcPr>
                </a:tc>
                <a:tc>
                  <a:txBody>
                    <a:bodyPr wrap="square"/>
                    <a:lstStyle/>
                    <a:p>
                      <a:r>
                        <a:rPr sz="1200" b="0">
                          <a:solidFill>
                            <a:srgbClr val="2B2A28"/>
                          </a:solidFill>
                          <a:latin typeface="Segoe UI"/>
                        </a:rPr>
                        <a:t>Focus Trail you can read</a:t>
                      </a:r>
                    </a:p>
                    <a:p>
                      <a:r>
                        <a:rPr sz="1200" b="0">
                          <a:solidFill>
                            <a:srgbClr val="2B2A28"/>
                          </a:solidFill>
                          <a:latin typeface="Segoe UI"/>
                        </a:rPr>
                        <a:t>Every bend in your Focus Trail now means something: the trail turns clockwise through the day (direction = time of day), runs straight while you stay in one app and kinks when you switch apps. Grey loops are still distracting time.; Time markers on the trail (08:00, 10:00, 12:00 ... or Mon-Fri in the week view) and a one-line key on every sticker, so friends understand it too.; New 'How to read your trail' strip in the Focus Trail window, and a tip when most of your time counts as neutral: mark your top apps as Productive or Distracting with one click.</a:t>
                      </a:r>
                    </a:p>
                  </a:txBody>
                  <a:tcPr marL="73152" marR="73152" marT="36576" marB="36576">
                    <a:solidFill>
                      <a:srgbClr val="F7F4EC"/>
                    </a:solidFill>
                  </a:tcPr>
                </a:tc>
              </a:tr>
              <a:tr h="822960">
                <a:tc>
                  <a:txBody>
                    <a:bodyPr wrap="square"/>
                    <a:lstStyle/>
                    <a:p>
                      <a:r>
                        <a:rPr sz="1200" b="1">
                          <a:solidFill>
                            <a:srgbClr val="2B2A28"/>
                          </a:solidFill>
                          <a:latin typeface="Segoe UI"/>
                        </a:rPr>
                        <a:t>2.26.1</a:t>
                      </a:r>
                    </a:p>
                  </a:txBody>
                  <a:tcPr marL="73152" marR="73152" marT="36576" marB="36576">
                    <a:solidFill>
                      <a:srgbClr val="FFFDF8"/>
                    </a:solidFill>
                  </a:tcPr>
                </a:tc>
                <a:tc>
                  <a:txBody>
                    <a:bodyPr wrap="square"/>
                    <a:lstStyle/>
                    <a:p>
                      <a:r>
                        <a:rPr sz="1200" b="0">
                          <a:solidFill>
                            <a:srgbClr val="2B2A28"/>
                          </a:solidFill>
                          <a:latin typeface="Segoe UI"/>
                        </a:rPr>
                        <a:t>2026-10-31</a:t>
                      </a:r>
                    </a:p>
                  </a:txBody>
                  <a:tcPr marL="73152" marR="73152" marT="36576" marB="36576">
                    <a:solidFill>
                      <a:srgbClr val="FFFDF8"/>
                    </a:solidFill>
                  </a:tcPr>
                </a:tc>
                <a:tc>
                  <a:txBody>
                    <a:bodyPr wrap="square"/>
                    <a:lstStyle/>
                    <a:p>
                      <a:r>
                        <a:rPr sz="1200" b="0">
                          <a:solidFill>
                            <a:srgbClr val="2B2A28"/>
                          </a:solidFill>
                          <a:latin typeface="Segoe UI"/>
                        </a:rPr>
                        <a:t>Focus Trail follows your focus</a:t>
                      </a:r>
                    </a:p>
                    <a:p>
                      <a:r>
                        <a:rPr sz="1200" b="0">
                          <a:solidFill>
                            <a:srgbClr val="2B2A28"/>
                          </a:solidFill>
                          <a:latin typeface="Segoe UI"/>
                        </a:rPr>
                        <a:t>Your Focus Trail is now shaped by how productive your screen time was: productive time draws long, smooth strides in your colour (the distance you cover), neutral time takes shorter wobbly steps in a lighter shade, and distracting time goes in grey circles on the spot.; A small legend under the trail explains the colours (only the ones that appear that day). In the Neon style, your productive stretches glow.; Tip: mark your work apps as productive and your time-wasters as distracting - the trail (and your score) get much more telling.</a:t>
                      </a:r>
                    </a:p>
                  </a:txBody>
                  <a:tcPr marL="73152" marR="73152" marT="36576" marB="36576">
                    <a:solidFill>
                      <a:srgbClr val="FFFDF8"/>
                    </a:solidFill>
                  </a:tcPr>
                </a:tc>
              </a:tr>
              <a:tr h="822960">
                <a:tc>
                  <a:txBody>
                    <a:bodyPr wrap="square"/>
                    <a:lstStyle/>
                    <a:p>
                      <a:r>
                        <a:rPr sz="1200" b="1">
                          <a:solidFill>
                            <a:srgbClr val="2B2A28"/>
                          </a:solidFill>
                          <a:latin typeface="Segoe UI"/>
                        </a:rPr>
                        <a:t>2.26.0</a:t>
                      </a:r>
                    </a:p>
                  </a:txBody>
                  <a:tcPr marL="73152" marR="73152" marT="36576" marB="36576">
                    <a:solidFill>
                      <a:srgbClr val="F7F4EC"/>
                    </a:solidFill>
                  </a:tcPr>
                </a:tc>
                <a:tc>
                  <a:txBody>
                    <a:bodyPr wrap="square"/>
                    <a:lstStyle/>
                    <a:p>
                      <a:r>
                        <a:rPr sz="1200" b="0">
                          <a:solidFill>
                            <a:srgbClr val="2B2A28"/>
                          </a:solidFill>
                          <a:latin typeface="Segoe UI"/>
                        </a:rPr>
                        <a:t>2026-10-31</a:t>
                      </a:r>
                    </a:p>
                  </a:txBody>
                  <a:tcPr marL="73152" marR="73152" marT="36576" marB="36576">
                    <a:solidFill>
                      <a:srgbClr val="F7F4EC"/>
                    </a:solidFill>
                  </a:tcPr>
                </a:tc>
                <a:tc>
                  <a:txBody>
                    <a:bodyPr wrap="square"/>
                    <a:lstStyle/>
                    <a:p>
                      <a:r>
                        <a:rPr sz="1200" b="0">
                          <a:solidFill>
                            <a:srgbClr val="2B2A28"/>
                          </a:solidFill>
                          <a:latin typeface="Segoe UI"/>
                        </a:rPr>
                        <a:t>Focus Trail</a:t>
                      </a:r>
                    </a:p>
                    <a:p>
                      <a:r>
                        <a:rPr sz="1200" b="0">
                          <a:solidFill>
                            <a:srgbClr val="2B2A28"/>
                          </a:solidFill>
                          <a:latin typeface="Segoe UI"/>
                        </a:rPr>
                        <a:t>New Focus Trail: a Strava-style sticker of your work-hours focus - your day or week drawn as a route, with screen time, productive time and pomodoros.; Open it from the hub: Play -&gt; Games (Focus Trail row) or the Focus Trail button in the Pet Duel arena. Works even with Friends turned off.; 5 styles (Strava, Badge, Minimal, Bars, Neon) and colours. Save the PNG, copy it, or share it to X, LinkedIn, Facebook or Instagram - the sticker is copied so you just paste it.</a:t>
                      </a:r>
                    </a:p>
                  </a:txBody>
                  <a:tcPr marL="73152" marR="73152" marT="36576" marB="36576">
                    <a:solidFill>
                      <a:srgbClr val="F7F4EC"/>
                    </a:solidFill>
                  </a:tcPr>
                </a:tc>
              </a:tr>
              <a:tr h="822960">
                <a:tc>
                  <a:txBody>
                    <a:bodyPr wrap="square"/>
                    <a:lstStyle/>
                    <a:p>
                      <a:r>
                        <a:rPr sz="1200" b="1">
                          <a:solidFill>
                            <a:srgbClr val="2B2A28"/>
                          </a:solidFill>
                          <a:latin typeface="Segoe UI"/>
                        </a:rPr>
                        <a:t>2.25.2</a:t>
                      </a:r>
                    </a:p>
                  </a:txBody>
                  <a:tcPr marL="73152" marR="73152" marT="36576" marB="36576">
                    <a:solidFill>
                      <a:srgbClr val="FFFDF8"/>
                    </a:solidFill>
                  </a:tcPr>
                </a:tc>
                <a:tc>
                  <a:txBody>
                    <a:bodyPr wrap="square"/>
                    <a:lstStyle/>
                    <a:p>
                      <a:r>
                        <a:rPr sz="1200" b="0">
                          <a:solidFill>
                            <a:srgbClr val="2B2A28"/>
                          </a:solidFill>
                          <a:latin typeface="Segoe UI"/>
                        </a:rPr>
                        <a:t>2026-10-30</a:t>
                      </a:r>
                    </a:p>
                  </a:txBody>
                  <a:tcPr marL="73152" marR="73152" marT="36576" marB="36576">
                    <a:solidFill>
                      <a:srgbClr val="FFFDF8"/>
                    </a:solidFill>
                  </a:tcPr>
                </a:tc>
                <a:tc>
                  <a:txBody>
                    <a:bodyPr wrap="square"/>
                    <a:lstStyle/>
                    <a:p>
                      <a:r>
                        <a:rPr sz="1200" b="0">
                          <a:solidFill>
                            <a:srgbClr val="2B2A28"/>
                          </a:solidFill>
                          <a:latin typeface="Segoe UI"/>
                        </a:rPr>
                        <a:t>Updates find you</a:t>
                      </a:r>
                    </a:p>
                    <a:p>
                      <a:r>
                        <a:rPr sz="1200" b="0">
                          <a:solidFill>
                            <a:srgbClr val="2B2A28"/>
                          </a:solidFill>
                          <a:latin typeface="Segoe UI"/>
                        </a:rPr>
                        <a:t>No need to press "Check for updates" anymore - Pips checks by itself every 30 minutes.; When an update is ready, your pet keeps the update bubble on screen until you choose Update now, Later (hides it for an hour) or Skip this version. If another message pushes it away, it comes back a minute later.; "Check for updates automatically" is now switched on for everyone (you can still turn it off in Settings).</a:t>
                      </a:r>
                    </a:p>
                  </a:txBody>
                  <a:tcPr marL="73152" marR="73152" marT="36576" marB="36576">
                    <a:solidFill>
                      <a:srgbClr val="FFFDF8"/>
                    </a:solidFill>
                  </a:tcPr>
                </a:tc>
              </a:tr>
              <a:tr h="822960">
                <a:tc>
                  <a:txBody>
                    <a:bodyPr wrap="square"/>
                    <a:lstStyle/>
                    <a:p>
                      <a:r>
                        <a:rPr sz="1200" b="1">
                          <a:solidFill>
                            <a:srgbClr val="2B2A28"/>
                          </a:solidFill>
                          <a:latin typeface="Segoe UI"/>
                        </a:rPr>
                        <a:t>2.25.1</a:t>
                      </a:r>
                    </a:p>
                  </a:txBody>
                  <a:tcPr marL="73152" marR="73152" marT="36576" marB="36576">
                    <a:solidFill>
                      <a:srgbClr val="F7F4EC"/>
                    </a:solidFill>
                  </a:tcPr>
                </a:tc>
                <a:tc>
                  <a:txBody>
                    <a:bodyPr wrap="square"/>
                    <a:lstStyle/>
                    <a:p>
                      <a:r>
                        <a:rPr sz="1200" b="0">
                          <a:solidFill>
                            <a:srgbClr val="2B2A28"/>
                          </a:solidFill>
                          <a:latin typeface="Segoe UI"/>
                        </a:rPr>
                        <a:t>2026-10-30</a:t>
                      </a:r>
                    </a:p>
                  </a:txBody>
                  <a:tcPr marL="73152" marR="73152" marT="36576" marB="36576">
                    <a:solidFill>
                      <a:srgbClr val="F7F4EC"/>
                    </a:solidFill>
                  </a:tcPr>
                </a:tc>
                <a:tc>
                  <a:txBody>
                    <a:bodyPr wrap="square"/>
                    <a:lstStyle/>
                    <a:p>
                      <a:r>
                        <a:rPr sz="1200" b="0">
                          <a:solidFill>
                            <a:srgbClr val="2B2A28"/>
                          </a:solidFill>
                          <a:latin typeface="Segoe UI"/>
                        </a:rPr>
                        <a:t>Quiet hide</a:t>
                      </a:r>
                    </a:p>
                    <a:p>
                      <a:r>
                        <a:rPr sz="1200" b="0">
                          <a:solidFill>
                            <a:srgbClr val="2B2A28"/>
                          </a:solidFill>
                          <a:latin typeface="Segoe UI"/>
                        </a:rPr>
                        <a:t>Hiding your pet no longer opens the Pomodoro card - the pet just disappears. Bring it back with the tray icon or the shortcut (Ctrl+Alt+P).</a:t>
                      </a:r>
                    </a:p>
                  </a:txBody>
                  <a:tcPr marL="73152" marR="73152" marT="36576" marB="36576">
                    <a:solidFill>
                      <a:srgbClr val="F7F4EC"/>
                    </a:solidFill>
                  </a:tcPr>
                </a:tc>
              </a:tr>
              <a:tr h="822960">
                <a:tc>
                  <a:txBody>
                    <a:bodyPr wrap="square"/>
                    <a:lstStyle/>
                    <a:p>
                      <a:r>
                        <a:rPr sz="1200" b="1">
                          <a:solidFill>
                            <a:srgbClr val="2B2A28"/>
                          </a:solidFill>
                          <a:latin typeface="Segoe UI"/>
                        </a:rPr>
                        <a:t>2.25.0</a:t>
                      </a:r>
                    </a:p>
                  </a:txBody>
                  <a:tcPr marL="73152" marR="73152" marT="36576" marB="36576">
                    <a:solidFill>
                      <a:srgbClr val="FFFDF8"/>
                    </a:solidFill>
                  </a:tcPr>
                </a:tc>
                <a:tc>
                  <a:txBody>
                    <a:bodyPr wrap="square"/>
                    <a:lstStyle/>
                    <a:p>
                      <a:r>
                        <a:rPr sz="1200" b="0">
                          <a:solidFill>
                            <a:srgbClr val="2B2A28"/>
                          </a:solidFill>
                          <a:latin typeface="Segoe UI"/>
                        </a:rPr>
                        <a:t>2026-10-30</a:t>
                      </a:r>
                    </a:p>
                  </a:txBody>
                  <a:tcPr marL="73152" marR="73152" marT="36576" marB="36576">
                    <a:solidFill>
                      <a:srgbClr val="FFFDF8"/>
                    </a:solidFill>
                  </a:tcPr>
                </a:tc>
                <a:tc>
                  <a:txBody>
                    <a:bodyPr wrap="square"/>
                    <a:lstStyle/>
                    <a:p>
                      <a:r>
                        <a:rPr sz="1200" b="0">
                          <a:solidFill>
                            <a:srgbClr val="2B2A28"/>
                          </a:solidFill>
                          <a:latin typeface="Segoe UI"/>
                        </a:rPr>
                        <a:t>Play with friends</a:t>
                      </a:r>
                    </a:p>
                    <a:p>
                      <a:r>
                        <a:rPr sz="1200" b="0">
                          <a:solidFill>
                            <a:srgbClr val="2B2A28"/>
                          </a:solidFill>
                          <a:latin typeface="Segoe UI"/>
                        </a:rPr>
                        <a:t>All 5 minigames can now be played with friends: Hub → Play → Minigames → ＋ New game with friends, pick a game and up to 7 friends (8 players in total).; Everyone gets the same round at the same time (same treats, bugs, cards, pattern and obstacles) after a 3-2-1 countdown, and a live scoreboard shows how your friends are doing. Best score wins the round.; Friends get the invite from their pet (Join / Later) or in the Minigames page. The host can start the next round or switch game in the same room; round wins are counted with a 👑.; While you play a minigame your pet leaves the desktop and jumps into the game window - it plays, watches and cheers (or pouts) inside the game, and walks back onto the desktop when you close it.</a:t>
                      </a:r>
                    </a:p>
                  </a:txBody>
                  <a:tcPr marL="73152" marR="73152" marT="36576" marB="36576">
                    <a:solidFill>
                      <a:srgbClr val="FFFDF8"/>
                    </a:solidFill>
                  </a:tcPr>
                </a:tc>
              </a:tr>
              <a:tr h="822960">
                <a:tc>
                  <a:txBody>
                    <a:bodyPr wrap="square"/>
                    <a:lstStyle/>
                    <a:p>
                      <a:r>
                        <a:rPr sz="1200" b="1">
                          <a:solidFill>
                            <a:srgbClr val="2B2A28"/>
                          </a:solidFill>
                          <a:latin typeface="Segoe UI"/>
                        </a:rPr>
                        <a:t>2.24.2</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Auto battle</a:t>
                      </a:r>
                    </a:p>
                    <a:p>
                      <a:r>
                        <a:rPr sz="1200" b="0">
                          <a:solidFill>
                            <a:srgbClr val="2B2A28"/>
                          </a:solidFill>
                          <a:latin typeface="Segoe UI"/>
                        </a:rPr>
                        <a:t>Arena battles can now play themselves: switch on 🤖 Auto (button in the battle, the A key, or the tick box before a fight) and your pet picks its skills - it finishes off a weak opponent, heals when low and saves Focus for long fights.; Prefer to play yourself? Leave Auto off and press the skill buttons (or keys 1-3) as before. You can switch any time, even mid-battle.; Your choice is remembered for the next fight.</a:t>
                      </a:r>
                    </a:p>
                  </a:txBody>
                  <a:tcPr marL="73152" marR="73152" marT="36576" marB="36576">
                    <a:solidFill>
                      <a:srgbClr val="F7F4EC"/>
                    </a:solidFill>
                  </a:tcPr>
                </a:tc>
              </a:tr>
              <a:tr h="822960">
                <a:tc>
                  <a:txBody>
                    <a:bodyPr wrap="square"/>
                    <a:lstStyle/>
                    <a:p>
                      <a:r>
                        <a:rPr sz="1200" b="1">
                          <a:solidFill>
                            <a:srgbClr val="2B2A28"/>
                          </a:solidFill>
                          <a:latin typeface="Segoe UI"/>
                        </a:rPr>
                        <a:t>2.24.1</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No more surprise pop-ups</a:t>
                      </a:r>
                    </a:p>
                    <a:p>
                      <a:r>
                        <a:rPr sz="1200" b="0">
                          <a:solidFill>
                            <a:srgbClr val="2B2A28"/>
                          </a:solidFill>
                          <a:latin typeface="Segoe UI"/>
                        </a:rPr>
                        <a:t>Clicking your pet now only tickles it - no window pops up. Double-click the pet to open the hub (or use the right-click menu).; The focus card and the dashboard stay hidden when Pips starts; open them only when you want them.; Prefer the old way? Right-click → Settings → When I click the pet.</a:t>
                      </a:r>
                    </a:p>
                  </a:txBody>
                  <a:tcPr marL="73152" marR="73152" marT="36576" marB="36576">
                    <a:solidFill>
                      <a:srgbClr val="FFFDF8"/>
                    </a:solidFill>
                  </a:tcPr>
                </a:tc>
              </a:tr>
              <a:tr h="822960">
                <a:tc>
                  <a:txBody>
                    <a:bodyPr wrap="square"/>
                    <a:lstStyle/>
                    <a:p>
                      <a:r>
                        <a:rPr sz="1200" b="1">
                          <a:solidFill>
                            <a:srgbClr val="2B2A28"/>
                          </a:solidFill>
                          <a:latin typeface="Segoe UI"/>
                        </a:rPr>
                        <a:t>2.24.0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Skill battles, minigames &amp; a simpler Hub</a:t>
                      </a:r>
                    </a:p>
                    <a:p>
                      <a:r>
                        <a:rPr sz="1200" b="0">
                          <a:solidFill>
                            <a:srgbClr val="2B2A28"/>
                          </a:solidFill>
                          <a:latin typeface="Segoe UI"/>
                        </a:rPr>
                        <a:t>Arena battles are now turn-based: before a fight compare both pets' stats (level + gear), pick 3 skills, and the challenger chooses best of 1, 3 or 5 rounds. Take turns until one pet is knocked out - new skills unlock as you level up and with weapons and gadgets.; 5 new minigames to play with your pet: Treat Catch, Bonk the Bugs, Memory Match, Pet Says and Hop Hop. Best scores are saved and great scores earn a few coins (right-click → Games, or Hub → Play).; The Hub is simpler: 5 tabs - Friends, Chat (messages + groups), Play (arena, minigames, ranks), Shop and Me (profile + achievements).</a:t>
                      </a:r>
                    </a:p>
                  </a:txBody>
                  <a:tcPr marL="73152" marR="73152" marT="36576" marB="36576">
                    <a:solidFill>
                      <a:srgbClr val="F7F4EC"/>
                    </a:solidFill>
                  </a:tcPr>
                </a:tc>
              </a:tr>
              <a:tr h="822960">
                <a:tc>
                  <a:txBody>
                    <a:bodyPr wrap="square"/>
                    <a:lstStyle/>
                    <a:p>
                      <a:r>
                        <a:rPr sz="1200" b="1">
                          <a:solidFill>
                            <a:srgbClr val="2B2A28"/>
                          </a:solidFill>
                          <a:latin typeface="Segoe UI"/>
                        </a:rPr>
                        <a:t>2.23.0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Weather on your desktop</a:t>
                      </a:r>
                    </a:p>
                    <a:p>
                      <a:r>
                        <a:rPr sz="1200" b="0">
                          <a:solidFill>
                            <a:srgbClr val="2B2A28"/>
                          </a:solidFill>
                          <a:latin typeface="Segoe UI"/>
                        </a:rPr>
                        <a:t>Your pet now shows the live weather right on your desktop: its own little rain cloud with an umbrella when it rains, a dark storm cloud with lightning, snow piling up at its feet, the sun, the moon and twinkling stars at night, drifting fog and leaves blowing in the wind. Prefer more? Switch the animation to the whole screen - or turn it off.; New right-click menu → Weather &amp; location: Follow my exact location (Windows location; a laptop is followed as you move), Approximate (from your internet connection), or Pick a place - search a city or paste exact coordinates from Google Maps. The pet tells you when the weather changes.; Works without Pips Friends (weather from Open-Meteo, no account needed). With Friends on, your profile city follows you too - but a city you hid stays hidden. If Windows location is turned off on your PC, Pips explains how to turn it on and uses your internet location meanwhile.</a:t>
                      </a:r>
                    </a:p>
                  </a:txBody>
                  <a:tcPr marL="73152" marR="73152" marT="36576" marB="36576">
                    <a:solidFill>
                      <a:srgbClr val="FFFDF8"/>
                    </a:solidFill>
                  </a:tcPr>
                </a:tc>
              </a:tr>
              <a:tr h="822960">
                <a:tc>
                  <a:txBody>
                    <a:bodyPr wrap="square"/>
                    <a:lstStyle/>
                    <a:p>
                      <a:r>
                        <a:rPr sz="1200" b="1">
                          <a:solidFill>
                            <a:srgbClr val="2B2A28"/>
                          </a:solidFill>
                          <a:latin typeface="Segoe UI"/>
                        </a:rPr>
                        <a:t>2.22.0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Sing &amp; dance with music</a:t>
                      </a:r>
                    </a:p>
                    <a:p>
                      <a:r>
                        <a:rPr sz="1200" b="0">
                          <a:solidFill>
                            <a:srgbClr val="2B2A28"/>
                          </a:solidFill>
                          <a:latin typeface="Segoe UI"/>
                        </a:rPr>
                        <a:t>Sing, Dance, Moonwalk, Breakdance, Yoga, Rain dance and the show tricks now play real music. When your pet sings, it sings the melody in its own voice - a cat meows the tune, a frog ribbits it, a whale hums it - and when it dances, its animal call joins the beat.; Pick the song: right-click → Do a trick → Song for sing &amp; dance. Choose your animal's own song (every one of the 51 animals has its own tune), the song for its type (Meadow Hoedown for land, Ocean Calypso for water, Cloud Waltz for sky), Happy Pop, Disco Night, 8-bit Adventure, Lullaby, Lo-fi Chill, any other animal's song, Surprise me or No music.; Songs follow your sound settings (volume, sounds off, quiet during focus) and stop as soon as the trick is interrupted. Tricks your pet does by itself stay quiet.</a:t>
                      </a:r>
                    </a:p>
                  </a:txBody>
                  <a:tcPr marL="73152" marR="73152" marT="36576" marB="36576">
                    <a:solidFill>
                      <a:srgbClr val="F7F4EC"/>
                    </a:solidFill>
                  </a:tcPr>
                </a:tc>
              </a:tr>
              <a:tr h="822960">
                <a:tc>
                  <a:txBody>
                    <a:bodyPr wrap="square"/>
                    <a:lstStyle/>
                    <a:p>
                      <a:r>
                        <a:rPr sz="1200" b="1">
                          <a:solidFill>
                            <a:srgbClr val="2B2A28"/>
                          </a:solidFill>
                          <a:latin typeface="Segoe UI"/>
                        </a:rPr>
                        <a:t>2.21.0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Every animal has a voice</a:t>
                      </a:r>
                    </a:p>
                    <a:p>
                      <a:r>
                        <a:rPr sz="1200" b="0">
                          <a:solidFill>
                            <a:srgbClr val="2B2A28"/>
                          </a:solidFill>
                          <a:latin typeface="Segoe UI"/>
                        </a:rPr>
                        <a:t>All 51 animals now have their own sound. Before, more than half of them borrowed the cat's meow - now the dog woofs, the cow moos, the sheep baas, the lion roars, the duck quacks, the dolphin clicks and whistles, the dragon flaps and roars with a puff of fire, the ghost goes wooo... and so on.; Every mood sounds different too: happy, sad, sleepy, hungry or grumpy. Petting, eating and snoring sound right for each kind of animal - furry ones purr and crunch, birds trill and peck, sea animals blow bubbles, bugs hum and magic pets chime.; A friend's pet that comes to visit now talks in its own voice: it says hi when it arrives and answers when you wave, pet it or give it a snack (it follows your sound settings).</a:t>
                      </a:r>
                    </a:p>
                  </a:txBody>
                  <a:tcPr marL="73152" marR="73152" marT="36576" marB="36576">
                    <a:solidFill>
                      <a:srgbClr val="FFFDF8"/>
                    </a:solidFill>
                  </a:tcPr>
                </a:tc>
              </a:tr>
              <a:tr h="822960">
                <a:tc>
                  <a:txBody>
                    <a:bodyPr wrap="square"/>
                    <a:lstStyle/>
                    <a:p>
                      <a:r>
                        <a:rPr sz="1200" b="1">
                          <a:solidFill>
                            <a:srgbClr val="2B2A28"/>
                          </a:solidFill>
                          <a:latin typeface="Segoe UI"/>
                        </a:rPr>
                        <a:t>2.20.0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Come over</a:t>
                      </a:r>
                    </a:p>
                    <a:p>
                      <a:r>
                        <a:rPr sz="1200" b="0">
                          <a:solidFill>
                            <a:srgbClr val="2B2A28"/>
                          </a:solidFill>
                          <a:latin typeface="Segoe UI"/>
                        </a:rPr>
                        <a:t>When a friend's pet comes over it now wears a name tag: your friend's name (or the nickname you gave them), ♂/♀ and an online dot. It walks up to your pet, says hi, and looks at your mouse when you point at it.; Point at the visitor (or click its name tag) to open its card: whose pet it is, level, how close you two are, and buttons to wave, pet it, give it a snack, visit back or chat. It reacts to everything - hearts, crumbs, happy faces - and your friend sees it too.; Rub your mouse over the visitor to pet it. Playing with it makes it stay longer, and your pet comes down from a window or the sky to meet it.</a:t>
                      </a:r>
                    </a:p>
                  </a:txBody>
                  <a:tcPr marL="73152" marR="73152" marT="36576" marB="36576">
                    <a:solidFill>
                      <a:srgbClr val="F7F4EC"/>
                    </a:solidFill>
                  </a:tcPr>
                </a:tc>
              </a:tr>
              <a:tr h="822960">
                <a:tc>
                  <a:txBody>
                    <a:bodyPr wrap="square"/>
                    <a:lstStyle/>
                    <a:p>
                      <a:r>
                        <a:rPr sz="1200" b="1">
                          <a:solidFill>
                            <a:srgbClr val="2B2A28"/>
                          </a:solidFill>
                          <a:latin typeface="Segoe UI"/>
                        </a:rPr>
                        <a:t>2.19.0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Land, sea &amp; sky</a:t>
                      </a:r>
                    </a:p>
                    <a:p>
                      <a:r>
                        <a:rPr sz="1200" b="0">
                          <a:solidFill>
                            <a:srgbClr val="2B2A28"/>
                          </a:solidFill>
                          <a:latin typeface="Segoe UI"/>
                        </a:rPr>
                        <a:t>Land animals walk on the taskbar and on top of your open windows now: they jump up onto window edges, walk along them, ride along when you move the window and hop down when it closes, gets covered or is maximised. They always have gravity - let go of one in mid-air and it lands on the window below or on the taskbar.; Water animals swim along the taskbar (their water) and every now and then leap high out of it in a big arc, diving back in with a splash, ripples and spray. Drop one anywhere and it dives back into the water.; Flying animals fly anywhere on the screen: they flutter from place to place, hover, come say hi near your mouse, and sometimes perch on the taskbar or a window edge for a rest. Point at one and it waits for you; they glide down to a perch before a nap.; New menu moves: Jump onto a window, Splash jump!, Fly around / Rest on the taskbar. "Move around by myself" in Pet settings keeps your pet still if you prefer (the old Gravity option is gone - land animals always fall now).</a:t>
                      </a:r>
                    </a:p>
                  </a:txBody>
                  <a:tcPr marL="73152" marR="73152" marT="36576" marB="36576">
                    <a:solidFill>
                      <a:srgbClr val="FFFDF8"/>
                    </a:solidFill>
                  </a:tcPr>
                </a:tc>
              </a:tr>
              <a:tr h="822960">
                <a:tc>
                  <a:txBody>
                    <a:bodyPr wrap="square"/>
                    <a:lstStyle/>
                    <a:p>
                      <a:r>
                        <a:rPr sz="1200" b="1">
                          <a:solidFill>
                            <a:srgbClr val="2B2A28"/>
                          </a:solidFill>
                          <a:latin typeface="Segoe UI"/>
                        </a:rPr>
                        <a:t>2.18.0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Raise your pet</a:t>
                      </a:r>
                    </a:p>
                    <a:p>
                      <a:r>
                        <a:rPr sz="1200" b="0">
                          <a:solidFill>
                            <a:srgbClr val="2B2A28"/>
                          </a:solidFill>
                          <a:latin typeface="Segoe UI"/>
                        </a:rPr>
                        <a:t>Boy or girl? Pick your pet's gender in Settings: boys get a little hair tuft, girls a pink bow and eyelashes, and a ♂ / ♀ shows next to its name. You can add your own gender to your profile too - friends see a small ♂ / ♀ next to your name.; Pets grow up now: baby → child → teen → grown-up. Focus sessions, opening Pips each day, games and cuddles help them grow - no care mistakes, no bad endings. Already have a grown-up pet? It will ask whether you'd like to raise it again from a baby (coins, items and stats stay).; Sick days: work 2.5 hours without a 5-minute break and your pet catches a little cold (sneezes, thermometer, slow steps). A short break cures it - or give medicine from the menu. You can turn this off in Settings.; New mini-game Left or Right? (pet menu → Play): guess which way your pet will look - 3 out of 5 wins, with coins for your first wins each day.</a:t>
                      </a:r>
                    </a:p>
                  </a:txBody>
                  <a:tcPr marL="73152" marR="73152" marT="36576" marB="36576">
                    <a:solidFill>
                      <a:srgbClr val="F7F4EC"/>
                    </a:solidFill>
                  </a:tcPr>
                </a:tc>
              </a:tr>
              <a:tr h="822960">
                <a:tc>
                  <a:txBody>
                    <a:bodyPr wrap="square"/>
                    <a:lstStyle/>
                    <a:p>
                      <a:r>
                        <a:rPr sz="1200" b="1">
                          <a:solidFill>
                            <a:srgbClr val="2B2A28"/>
                          </a:solidFill>
                          <a:latin typeface="Segoe UI"/>
                        </a:rPr>
                        <a:t>2.17.0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Find your pet anytime</a:t>
                      </a:r>
                    </a:p>
                    <a:p>
                      <a:r>
                        <a:rPr sz="1200" b="0">
                          <a:solidFill>
                            <a:srgbClr val="2B2A28"/>
                          </a:solidFill>
                          <a:latin typeface="Segoe UI"/>
                        </a:rPr>
                        <a:t>Pips now has an icon next to the clock: click it to bring your pet back; right-click for the focus timer, Friends &amp; chat or Quit.; Press Ctrl+Alt+P anywhere to call your pet - it pops up on the screen you're using, even if it was hidden, asleep or behind a fullscreen app.; Opening Pips again from the Start menu or desktop does the same, and your pet walks back by itself if it ever ends up off-screen (e.g. after unplugging a monitor).; Hiding your pet now tells you how to bring it back.</a:t>
                      </a:r>
                    </a:p>
                  </a:txBody>
                  <a:tcPr marL="73152" marR="73152" marT="36576" marB="36576">
                    <a:solidFill>
                      <a:srgbClr val="FFFDF8"/>
                    </a:solidFill>
                  </a:tcPr>
                </a:tc>
              </a:tr>
              <a:tr h="822960">
                <a:tc>
                  <a:txBody>
                    <a:bodyPr wrap="square"/>
                    <a:lstStyle/>
                    <a:p>
                      <a:r>
                        <a:rPr sz="1200" b="1">
                          <a:solidFill>
                            <a:srgbClr val="2B2A28"/>
                          </a:solidFill>
                          <a:latin typeface="Segoe UI"/>
                        </a:rPr>
                        <a:t>2.16.0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Pips Community</a:t>
                      </a:r>
                    </a:p>
                    <a:p>
                      <a:r>
                        <a:rPr sz="1200" b="0">
                          <a:solidFill>
                            <a:srgbClr val="2B2A28"/>
                          </a:solidFill>
                          <a:latin typeface="Segoe UI"/>
                        </a:rPr>
                        <a:t>New Pips Community at the top of the Chat tab: a #general channel to chat with everyone who uses Pips, plus #announcements with news from the Pips team.; Every new Pips version is announced there automatically - see what's new and update with one click.; Type @name to ping someone in #general. Mute #general any time; owner and moderators can remove messages.; Open it from your pet's menu too (Pips Community). Fixed: chats no longer clear what you're typing when Pips refreshes in the background.</a:t>
                      </a:r>
                    </a:p>
                  </a:txBody>
                  <a:tcPr marL="73152" marR="73152" marT="36576" marB="36576">
                    <a:solidFill>
                      <a:srgbClr val="F7F4EC"/>
                    </a:solidFill>
                  </a:tcPr>
                </a:tc>
              </a:tr>
              <a:tr h="822960">
                <a:tc>
                  <a:txBody>
                    <a:bodyPr wrap="square"/>
                    <a:lstStyle/>
                    <a:p>
                      <a:r>
                        <a:rPr sz="1200" b="1">
                          <a:solidFill>
                            <a:srgbClr val="2B2A28"/>
                          </a:solidFill>
                          <a:latin typeface="Segoe UI"/>
                        </a:rPr>
                        <a:t>2.15.0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Update reminders</a:t>
                      </a:r>
                    </a:p>
                    <a:p>
                      <a:r>
                        <a:rPr sz="1200" b="0">
                          <a:solidFill>
                            <a:srgbClr val="2B2A28"/>
                          </a:solidFill>
                          <a:latin typeface="Segoe UI"/>
                        </a:rPr>
                        <a:t>Owner &amp; moderators: the Mod tab now lists who hasn't updated Pips yet (their version and when they were last seen), with one-click reminders by e-mail (sent from your Outlook) or a ready-to-send Teams chat.; New Work e-mail field in your Profile, filled in from Outlook. Only the owner and moderators can see it (for update reminders and support) - clear it to hide it.; Pips now tells the Friends server which version it runs, so the update list is always accurate.; Friends keeps working when a local proxy tool stops answering - Pips falls back to the Windows proxy settings.</a:t>
                      </a:r>
                    </a:p>
                  </a:txBody>
                  <a:tcPr marL="73152" marR="73152" marT="36576" marB="36576">
                    <a:solidFill>
                      <a:srgbClr val="FFFDF8"/>
                    </a:solidFill>
                  </a:tcPr>
                </a:tc>
              </a:tr>
              <a:tr h="822960">
                <a:tc>
                  <a:txBody>
                    <a:bodyPr wrap="square"/>
                    <a:lstStyle/>
                    <a:p>
                      <a:r>
                        <a:rPr sz="1200" b="1">
                          <a:solidFill>
                            <a:srgbClr val="2B2A28"/>
                          </a:solidFill>
                          <a:latin typeface="Segoe UI"/>
                        </a:rPr>
                        <a:t>2.14.3</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Tidy menus</a:t>
                      </a:r>
                    </a:p>
                    <a:p>
                      <a:r>
                        <a:rPr sz="1200" b="0">
                          <a:solidFill>
                            <a:srgbClr val="2B2A28"/>
                          </a:solidFill>
                          <a:latin typeface="Segoe UI"/>
                        </a:rPr>
                        <a:t>Fixed: a submenu (e.g. Poke a friend) could stay floating on the screen after the right-click menu closed.; Menus now close by themselves when you move the mouse away and leave them for a few seconds.</a:t>
                      </a:r>
                    </a:p>
                  </a:txBody>
                  <a:tcPr marL="73152" marR="73152" marT="36576" marB="36576">
                    <a:solidFill>
                      <a:srgbClr val="F7F4EC"/>
                    </a:solidFill>
                  </a:tcPr>
                </a:tc>
              </a:tr>
              <a:tr h="822960">
                <a:tc>
                  <a:txBody>
                    <a:bodyPr wrap="square"/>
                    <a:lstStyle/>
                    <a:p>
                      <a:r>
                        <a:rPr sz="1200" b="1">
                          <a:solidFill>
                            <a:srgbClr val="2B2A28"/>
                          </a:solidFill>
                          <a:latin typeface="Segoe UI"/>
                        </a:rPr>
                        <a:t>2.14.2</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Never miss an update</a:t>
                      </a:r>
                    </a:p>
                    <a:p>
                      <a:r>
                        <a:rPr sz="1200" b="0">
                          <a:solidFill>
                            <a:srgbClr val="2B2A28"/>
                          </a:solidFill>
                          <a:latin typeface="Segoe UI"/>
                        </a:rPr>
                        <a:t>Your pet now reminds you every 2 hours while a new version is waiting (instead of every 6 hours).; If the reminder can't show (fullscreen app, guided tour, another message), your pet tries again a few minutes later.; No internet when Pips starts (e.g. VPN off)? It checks again after an hour.</a:t>
                      </a:r>
                    </a:p>
                  </a:txBody>
                  <a:tcPr marL="73152" marR="73152" marT="36576" marB="36576">
                    <a:solidFill>
                      <a:srgbClr val="FFFDF8"/>
                    </a:solidFill>
                  </a:tcPr>
                </a:tc>
              </a:tr>
              <a:tr h="822960">
                <a:tc>
                  <a:txBody>
                    <a:bodyPr wrap="square"/>
                    <a:lstStyle/>
                    <a:p>
                      <a:r>
                        <a:rPr sz="1200" b="1">
                          <a:solidFill>
                            <a:srgbClr val="2B2A28"/>
                          </a:solidFill>
                          <a:latin typeface="Segoe UI"/>
                        </a:rPr>
                        <a:t>2.14.1</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One pet at a time</a:t>
                      </a:r>
                    </a:p>
                    <a:p>
                      <a:r>
                        <a:rPr sz="1200" b="0">
                          <a:solidFill>
                            <a:srgbClr val="2B2A28"/>
                          </a:solidFill>
                          <a:latin typeface="Segoe UI"/>
                        </a:rPr>
                        <a:t>Opening Pips again (Desktop / Start Menu shortcut, autostart) no longer starts a second pet - your pet just pops up and says hi.; Fixes lag caused by two copies of Pips running at once.</a:t>
                      </a:r>
                    </a:p>
                  </a:txBody>
                  <a:tcPr marL="73152" marR="73152" marT="36576" marB="36576">
                    <a:solidFill>
                      <a:srgbClr val="F7F4EC"/>
                    </a:solidFill>
                  </a:tcPr>
                </a:tc>
              </a:tr>
              <a:tr h="822960">
                <a:tc>
                  <a:txBody>
                    <a:bodyPr wrap="square"/>
                    <a:lstStyle/>
                    <a:p>
                      <a:r>
                        <a:rPr sz="1200" b="1">
                          <a:solidFill>
                            <a:srgbClr val="2B2A28"/>
                          </a:solidFill>
                          <a:latin typeface="Segoe UI"/>
                        </a:rPr>
                        <a:t>2.14.0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Pokes, tickles &amp; teases</a:t>
                      </a:r>
                    </a:p>
                    <a:p>
                      <a:r>
                        <a:rPr sz="1200" b="0">
                          <a:solidFill>
                            <a:srgbClr val="2B2A28"/>
                          </a:solidFill>
                          <a:latin typeface="Segoe UI"/>
                        </a:rPr>
                        <a:t>Poke, tickle, tease, boop or hug a friend from afar - no pet visit needed.; Right-click your pet → Poke a friend, or use the Poke button in Friends, chat and profiles.; Your friend gets a pop-up ("Wendy is teasing you!"), their pet reacts, and they can poke back with one click.; During a focus session pokes wait quietly until your break; when your pet is hidden they show in the screen corner.</a:t>
                      </a:r>
                    </a:p>
                  </a:txBody>
                  <a:tcPr marL="73152" marR="73152" marT="36576" marB="36576">
                    <a:solidFill>
                      <a:srgbClr val="FFFDF8"/>
                    </a:solidFill>
                  </a:tcPr>
                </a:tc>
              </a:tr>
              <a:tr h="822960">
                <a:tc>
                  <a:txBody>
                    <a:bodyPr wrap="square"/>
                    <a:lstStyle/>
                    <a:p>
                      <a:r>
                        <a:rPr sz="1200" b="1">
                          <a:solidFill>
                            <a:srgbClr val="2B2A28"/>
                          </a:solidFill>
                          <a:latin typeface="Segoe UI"/>
                        </a:rPr>
                        <a:t>2.13.1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One-click Windows installer</a:t>
                      </a:r>
                    </a:p>
                    <a:p>
                      <a:r>
                        <a:rPr sz="1200" b="0">
                          <a:solidFill>
                            <a:srgbClr val="2B2A28"/>
                          </a:solidFill>
                          <a:latin typeface="Segoe UI"/>
                        </a:rPr>
                        <a:t>One Windows installer: no ZIP extraction, Python installation or command line. Download, open and click Install Pips.; Installs for your Windows account without administrator access, adds Desktop and Start Menu shortcuts, and opens Pips automatically.; Reinstalling in the same location keeps your settings and pet progress. Existing ZIP users can keep updating in place from Help → Check for updates.; A simpler download page and updated user guide; the bundled runtime stays separate from small in-app updates.</a:t>
                      </a:r>
                    </a:p>
                  </a:txBody>
                  <a:tcPr marL="73152" marR="73152" marT="36576" marB="36576">
                    <a:solidFill>
                      <a:srgbClr val="F7F4EC"/>
                    </a:solidFill>
                  </a:tcPr>
                </a:tc>
              </a:tr>
              <a:tr h="822960">
                <a:tc>
                  <a:txBody>
                    <a:bodyPr wrap="square"/>
                    <a:lstStyle/>
                    <a:p>
                      <a:r>
                        <a:rPr sz="1200" b="1">
                          <a:solidFill>
                            <a:srgbClr val="2B2A28"/>
                          </a:solidFill>
                          <a:latin typeface="Segoe UI"/>
                        </a:rPr>
                        <a:t>2.13.0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Birthdays, parties &amp; gifts</a:t>
                      </a:r>
                    </a:p>
                    <a:p>
                      <a:r>
                        <a:rPr sz="1200" b="0">
                          <a:solidFill>
                            <a:srgbClr val="2B2A28"/>
                          </a:solidFill>
                          <a:latin typeface="Segoe UI"/>
                        </a:rPr>
                        <a:t>Set your birthday in Social → Profile (month + day, optionally visible to friends).; On your birthday Pips throws confetti and gives you 100 bonus coins.; Friends tab shows upcoming birthdays; you get reminders 3 days, 1 day and on the day.; Birthday parties: join a friend's party, see who's there, sign the guestbook and celebrate together.</a:t>
                      </a:r>
                    </a:p>
                  </a:txBody>
                  <a:tcPr marL="73152" marR="73152" marT="36576" marB="36576">
                    <a:solidFill>
                      <a:srgbClr val="FFFDF8"/>
                    </a:solidFill>
                  </a:tcPr>
                </a:tc>
              </a:tr>
              <a:tr h="822960">
                <a:tc>
                  <a:txBody>
                    <a:bodyPr wrap="square"/>
                    <a:lstStyle/>
                    <a:p>
                      <a:r>
                        <a:rPr sz="1200" b="1">
                          <a:solidFill>
                            <a:srgbClr val="2B2A28"/>
                          </a:solidFill>
                          <a:latin typeface="Segoe UI"/>
                        </a:rPr>
                        <a:t>2.12.0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Mega update: 28 new animals, 31 shop items, 13 moves</a:t>
                      </a:r>
                    </a:p>
                    <a:p>
                      <a:r>
                        <a:rPr sz="1200" b="0">
                          <a:solidFill>
                            <a:srgbClr val="2B2A28"/>
                          </a:solidFill>
                          <a:latin typeface="Segoe UI"/>
                        </a:rPr>
                        <a:t>🦁 28 new animals (51 total): lion, tiger, unicorn, deer, sheep, cow, raccoon, red panda, monkey, hedgehog, dino, squirrel, mouse, koala, shark, dolphin, seal, otter, pufferfish, duck, crab, parrot, chick, ladybug, phoenix, pegasus, ghost and flamingo; 🎩 31 new shop items: top hat, cowboy, chef, pirate, Santa, viking, graduation cap, beret, bow, propeller cap, flower crown, nerd glasses, eyepatch, mustache, goggles, masquerade mask, tie, pearls, flower lei, gold chain, balloon, backpack, guitar, shield, butterfly / devil wings and more - plus Premium galaxy crown, galaxy cape and dragon wings; 💃 13 new moves: wave, jump, hearts, sing, yoga, zoomies, cartwheel, juggle, rain dance, breakdance, magic, confetti and the Premium rocket launch; The Shop is now split into sections (Hats, Face, Neck, Back, Moves, Arena gear) with an owned counter for each</a:t>
                      </a:r>
                    </a:p>
                  </a:txBody>
                  <a:tcPr marL="73152" marR="73152" marT="36576" marB="36576">
                    <a:solidFill>
                      <a:srgbClr val="F7F4EC"/>
                    </a:solidFill>
                  </a:tcPr>
                </a:tc>
              </a:tr>
              <a:tr h="822960">
                <a:tc>
                  <a:txBody>
                    <a:bodyPr wrap="square"/>
                    <a:lstStyle/>
                    <a:p>
                      <a:r>
                        <a:rPr sz="1200" b="1">
                          <a:solidFill>
                            <a:srgbClr val="2B2A28"/>
                          </a:solidFill>
                          <a:latin typeface="Segoe UI"/>
                        </a:rPr>
                        <a:t>2.11.0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New right-click menus</a:t>
                      </a:r>
                    </a:p>
                    <a:p>
                      <a:r>
                        <a:rPr sz="1200" b="0">
                          <a:solidFill>
                            <a:srgbClr val="2B2A28"/>
                          </a:solidFill>
                          <a:latin typeface="Segoe UI"/>
                        </a:rPr>
                        <a:t>✨ Brand-new animated right-click menu for your pet: mood &amp; stat bars, quick-action tiles (Friends, Shop, Snack, Pat, Focus, Stats, Sleep, Taskbar), hover effects and smooth fly-out submenus; Pick colours from swatches, switch size with one click and flip Sounds / Dark mode with toggle switches - changes show instantly; Updates are highlighted: a glowing banner and NEW badge appear in the menu when a new version is ready; The focus card's right-click menu got the same new look; keyboard arrows, Enter and Esc work too</a:t>
                      </a:r>
                    </a:p>
                  </a:txBody>
                  <a:tcPr marL="73152" marR="73152" marT="36576" marB="36576">
                    <a:solidFill>
                      <a:srgbClr val="FFFDF8"/>
                    </a:solidFill>
                  </a:tcPr>
                </a:tc>
              </a:tr>
              <a:tr h="822960">
                <a:tc>
                  <a:txBody>
                    <a:bodyPr wrap="square"/>
                    <a:lstStyle/>
                    <a:p>
                      <a:r>
                        <a:rPr sz="1200" b="1">
                          <a:solidFill>
                            <a:srgbClr val="2B2A28"/>
                          </a:solidFill>
                          <a:latin typeface="Segoe UI"/>
                        </a:rPr>
                        <a:t>2.10.0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Chat bots</a:t>
                      </a:r>
                    </a:p>
                    <a:p>
                      <a:r>
                        <a:rPr sz="1200" b="0">
                          <a:solidFill>
                            <a:srgbClr val="2B2A28"/>
                          </a:solidFill>
                          <a:latin typeface="Segoe UI"/>
                        </a:rPr>
                        <a:t>🤖 6 friendly chat bots in the Chat tab: Pip Helper (app questions), Coach Focus (focus tips from your real stats), Sunny (live weather for any city), Arena Master (battle tips + quick battle), Giggles (jokes &amp; games) and Guardian (safety &amp; reporting help); Private bot chats with suggestion chips, typing indicator and a clear button - your bot chats stay on your PC; Mention a bot in a group chat (e.g. @weather Batam) and it answers in the room for everyone; Bots reply in your app language; up to 120 bot messages per day</a:t>
                      </a:r>
                    </a:p>
                  </a:txBody>
                  <a:tcPr marL="73152" marR="73152" marT="36576" marB="36576">
                    <a:solidFill>
                      <a:srgbClr val="F7F4EC"/>
                    </a:solidFill>
                  </a:tcPr>
                </a:tc>
              </a:tr>
              <a:tr h="822960">
                <a:tc>
                  <a:txBody>
                    <a:bodyPr wrap="square"/>
                    <a:lstStyle/>
                    <a:p>
                      <a:r>
                        <a:rPr sz="1200" b="1">
                          <a:solidFill>
                            <a:srgbClr val="2B2A28"/>
                          </a:solidFill>
                          <a:latin typeface="Segoe UI"/>
                        </a:rPr>
                        <a:t>2.9.0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Location &amp; live weather</a:t>
                      </a:r>
                    </a:p>
                    <a:p>
                      <a:r>
                        <a:rPr sz="1200" b="0">
                          <a:solidFill>
                            <a:srgbClr val="2B2A28"/>
                          </a:solidFill>
                          <a:latin typeface="Segoe UI"/>
                        </a:rPr>
                        <a:t>📍 Add your city in Profile → Location &amp; weather (auto-detect or search) - only your city and country are shown, never your exact position; Live weather banners on every profile with animations: rain, drizzle, thunderstorms with lightning, snow, fog, clouds, sunshine or a starry night - plus temperature, feels-like, humidity, wind and local time; Your own weather strip on top of the hub, and each friend's weather + local time in the friends list; Hide your location from others or remove it any time</a:t>
                      </a:r>
                    </a:p>
                  </a:txBody>
                  <a:tcPr marL="73152" marR="73152" marT="36576" marB="36576">
                    <a:solidFill>
                      <a:srgbClr val="FFFDF8"/>
                    </a:solidFill>
                  </a:tcPr>
                </a:tc>
              </a:tr>
              <a:tr h="822960">
                <a:tc>
                  <a:txBody>
                    <a:bodyPr wrap="square"/>
                    <a:lstStyle/>
                    <a:p>
                      <a:r>
                        <a:rPr sz="1200" b="1">
                          <a:solidFill>
                            <a:srgbClr val="2B2A28"/>
                          </a:solidFill>
                          <a:latin typeface="Segoe UI"/>
                        </a:rPr>
                        <a:t>2.8.0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Pips Arena - duels, gear &amp; live battles</a:t>
                      </a:r>
                    </a:p>
                    <a:p>
                      <a:r>
                        <a:rPr sz="1200" b="0">
                          <a:solidFill>
                            <a:srgbClr val="2B2A28"/>
                          </a:solidFill>
                          <a:latin typeface="Segoe UI"/>
                        </a:rPr>
                        <a:t>⚔ New Arena tab: challenge friends or anyone in the arena to a live duel - each round pick Attack, Guard or Special within 12 seconds and watch your pets fight; ⚡ Quick battle: an instant auto-fight against anyone's fighter, even when they're offline; Arena gear in the Shop: 7 weapons (water pistol to rocket launcher), 5 armors and 5 gadgets that decide your special move - better gear and a higher level make a stronger fighter; Live duels can be watched by everyone, plus recent battle replays, top fighters, rating and win/loss records; wins earn coins</a:t>
                      </a:r>
                    </a:p>
                  </a:txBody>
                  <a:tcPr marL="73152" marR="73152" marT="36576" marB="36576">
                    <a:solidFill>
                      <a:srgbClr val="F7F4EC"/>
                    </a:solidFill>
                  </a:tcPr>
                </a:tc>
              </a:tr>
              <a:tr h="822960">
                <a:tc>
                  <a:txBody>
                    <a:bodyPr wrap="square"/>
                    <a:lstStyle/>
                    <a:p>
                      <a:r>
                        <a:rPr sz="1200" b="1">
                          <a:solidFill>
                            <a:srgbClr val="2B2A28"/>
                          </a:solidFill>
                          <a:latin typeface="Segoe UI"/>
                        </a:rPr>
                        <a:t>2.7.0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Moderators &amp; Premium</a:t>
                      </a:r>
                    </a:p>
                    <a:p>
                      <a:r>
                        <a:rPr sz="1200" b="0">
                          <a:solidFill>
                            <a:srgbClr val="2B2A28"/>
                          </a:solidFill>
                          <a:latin typeface="Segoe UI"/>
                        </a:rPr>
                        <a:t>★ Premium: a purple Premium badge, 4 exclusive props (tiara, star glasses, diamond necklace, fairy wings), the Fireworks move, +30 coins every day, double friend-interaction coins and room for 300 friends / 30 groups; Get Premium: Profile tab → Premium → "Ask to buy" emails the owner; after payment you receive a key (PIPS-XXXX-XXXX) to redeem right there; 🛡 Moderators: a blue Mod badge and a Mod tab with the report queue - warn, mute (1h / 24h / 7 days), clear a profile or reset a name; every action is logged; Report button on everyone's profile, so moderators can keep Pips friendly</a:t>
                      </a:r>
                    </a:p>
                  </a:txBody>
                  <a:tcPr marL="73152" marR="73152" marT="36576" marB="36576">
                    <a:solidFill>
                      <a:srgbClr val="FFFDF8"/>
                    </a:solidFill>
                  </a:tcPr>
                </a:tc>
              </a:tr>
              <a:tr h="822960">
                <a:tc>
                  <a:txBody>
                    <a:bodyPr wrap="square"/>
                    <a:lstStyle/>
                    <a:p>
                      <a:r>
                        <a:rPr sz="1200" b="1">
                          <a:solidFill>
                            <a:srgbClr val="2B2A28"/>
                          </a:solidFill>
                          <a:latin typeface="Segoe UI"/>
                        </a:rPr>
                        <a:t>2.6.1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Owner badge &amp; credits</a:t>
                      </a:r>
                    </a:p>
                    <a:p>
                      <a:r>
                        <a:rPr sz="1200" b="0">
                          <a:solidFill>
                            <a:srgbClr val="2B2A28"/>
                          </a:solidFill>
                          <a:latin typeface="Segoe UI"/>
                        </a:rPr>
                        <a:t>The creator of Pips (Juwen Lie) now shows a gold ♛ Owner badge on his profile, friend list and ranks; New About Pips card in the Profile tab: credits and how to contact the owner (Juwen_Lie@pegatroncorp.com) with Email and Copy buttons; Right-click the pet → Help → About now shows who made Pips and the contact email</a:t>
                      </a:r>
                    </a:p>
                  </a:txBody>
                  <a:tcPr marL="73152" marR="73152" marT="36576" marB="36576">
                    <a:solidFill>
                      <a:srgbClr val="F7F4EC"/>
                    </a:solidFill>
                  </a:tcPr>
                </a:tc>
              </a:tr>
              <a:tr h="822960">
                <a:tc>
                  <a:txBody>
                    <a:bodyPr wrap="square"/>
                    <a:lstStyle/>
                    <a:p>
                      <a:r>
                        <a:rPr sz="1200" b="1">
                          <a:solidFill>
                            <a:srgbClr val="2B2A28"/>
                          </a:solidFill>
                          <a:latin typeface="Segoe UI"/>
                        </a:rPr>
                        <a:t>2.6.0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Profiles, ranks, online status &amp; dark mode</a:t>
                      </a:r>
                    </a:p>
                    <a:p>
                      <a:r>
                        <a:rPr sz="1200" b="0">
                          <a:solidFill>
                            <a:srgbClr val="2B2A28"/>
                          </a:solidFill>
                          <a:latin typeface="Segoe UI"/>
                        </a:rPr>
                        <a:t>Profile tab: profile picture (or your pet), about me, job, location, hobbies, birthday and a status message; Public or private: public profiles can be added directly and viewed in full; private profiles need a friend request that they accept, and strangers only see name, photo, pet, level and status; Click anyone to open their profile - badges, info, their friends - and add them, chat or wave from there; Ranks tab replaces Teams: everyone using Pips, sorted by XP, badges or streak</a:t>
                      </a:r>
                    </a:p>
                  </a:txBody>
                  <a:tcPr marL="73152" marR="73152" marT="36576" marB="36576">
                    <a:solidFill>
                      <a:srgbClr val="FFFDF8"/>
                    </a:solidFill>
                  </a:tcPr>
                </a:tc>
              </a:tr>
              <a:tr h="822960">
                <a:tc>
                  <a:txBody>
                    <a:bodyPr wrap="square"/>
                    <a:lstStyle/>
                    <a:p>
                      <a:r>
                        <a:rPr sz="1200" b="1">
                          <a:solidFill>
                            <a:srgbClr val="2B2A28"/>
                          </a:solidFill>
                          <a:latin typeface="Segoe UI"/>
                        </a:rPr>
                        <a:t>2.5.1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New cute Pips logo</a:t>
                      </a:r>
                    </a:p>
                    <a:p>
                      <a:r>
                        <a:rPr sz="1200" b="0">
                          <a:solidFill>
                            <a:srgbClr val="2B2A28"/>
                          </a:solidFill>
                          <a:latin typeface="Segoe UI"/>
                        </a:rPr>
                        <a:t>New Pips logo: Pip the cat on a Pips-red tile, matching the app colours (desktop shortcut, windows and website)</a:t>
                      </a:r>
                    </a:p>
                  </a:txBody>
                  <a:tcPr marL="73152" marR="73152" marT="36576" marB="36576">
                    <a:solidFill>
                      <a:srgbClr val="F7F4EC"/>
                    </a:solidFill>
                  </a:tcPr>
                </a:tc>
              </a:tr>
              <a:tr h="822960">
                <a:tc>
                  <a:txBody>
                    <a:bodyPr wrap="square"/>
                    <a:lstStyle/>
                    <a:p>
                      <a:r>
                        <a:rPr sz="1200" b="1">
                          <a:solidFill>
                            <a:srgbClr val="2B2A28"/>
                          </a:solidFill>
                          <a:latin typeface="Segoe UI"/>
                        </a:rPr>
                        <a:t>2.5.0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Shop, coins, props &amp; moves</a:t>
                      </a:r>
                    </a:p>
                    <a:p>
                      <a:r>
                        <a:rPr sz="1200" b="0">
                          <a:solidFill>
                            <a:srgbClr val="2B2A28"/>
                          </a:solidFill>
                          <a:latin typeface="Segoe UI"/>
                        </a:rPr>
                        <a:t>Shop: earn coins and spend them on your pet - 17 props (crown, wizard hat, headphones, shades, scarf, cape, angel wings...) and 6 moves: spin, dance, moonwalk, backflip, kung fu and spider swing!; Coins come from leveling up (+40), badges (+25), opening Pips each day (+10), friendships (+15 per affinity level), waving / chatting / visiting friends (+2) and pomodoros (+5). Everyone starts with a 100-coin gift; Your friends see your props: on avatars in the hub and when your pet visits their desktop - it shows off one of your moves; Pips is now a social pet: clicking the pet opens the Pips hub (friends, chat, groups, shop, badges)</a:t>
                      </a:r>
                    </a:p>
                  </a:txBody>
                  <a:tcPr marL="73152" marR="73152" marT="36576" marB="36576">
                    <a:solidFill>
                      <a:srgbClr val="FFFDF8"/>
                    </a:solidFill>
                  </a:tcPr>
                </a:tc>
              </a:tr>
              <a:tr h="822960">
                <a:tc>
                  <a:txBody>
                    <a:bodyPr wrap="square"/>
                    <a:lstStyle/>
                    <a:p>
                      <a:r>
                        <a:rPr sz="1200" b="1">
                          <a:solidFill>
                            <a:srgbClr val="2B2A28"/>
                          </a:solidFill>
                          <a:latin typeface="Segoe UI"/>
                        </a:rPr>
                        <a:t>2.4.0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Chat, groups, affinity &amp; pet visits</a:t>
                      </a:r>
                    </a:p>
                    <a:p>
                      <a:r>
                        <a:rPr sz="1200" b="0">
                          <a:solidFill>
                            <a:srgbClr val="2B2A28"/>
                          </a:solidFill>
                          <a:latin typeface="Segoe UI"/>
                        </a:rPr>
                        <a:t>Chat: message your friends, and chat inside groups. Your pet pops up new messages as a bubble - click it to reply; Pet interactions: wave, pet their pet, send a snack, high five - or send your pet to visit: it walks onto your friend's desktop for a little while!; Affinity: every chat and interaction grows your friendship - Acquaintance → Buddy → Good friends → Close friends → Best friends → Soulmates; Your own groups: create a private group, invite your friends, they accept or decline. Group board + group chat; the owner can remove members</a:t>
                      </a:r>
                    </a:p>
                  </a:txBody>
                  <a:tcPr marL="73152" marR="73152" marT="36576" marB="36576">
                    <a:solidFill>
                      <a:srgbClr val="F7F4EC"/>
                    </a:solidFill>
                  </a:tcPr>
                </a:tc>
              </a:tr>
              <a:tr h="822960">
                <a:tc>
                  <a:txBody>
                    <a:bodyPr wrap="square"/>
                    <a:lstStyle/>
                    <a:p>
                      <a:r>
                        <a:rPr sz="1200" b="1">
                          <a:solidFill>
                            <a:srgbClr val="2B2A28"/>
                          </a:solidFill>
                          <a:latin typeface="Segoe UI"/>
                        </a:rPr>
                        <a:t>2.3.0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Friends, levels &amp; achievements</a:t>
                      </a:r>
                    </a:p>
                    <a:p>
                      <a:r>
                        <a:rPr sz="1200" b="0">
                          <a:solidFill>
                            <a:srgbClr val="2B2A28"/>
                          </a:solidFill>
                          <a:latin typeface="Segoe UI"/>
                        </a:rPr>
                        <a:t>Levels &amp; XP: every finished pomodoro earns XP and your level grows - plus 20 achievements to unlock (first tomato, 8 in a day, 7-day streak, early bird, night owl, pet lover...). Your pet celebrates each one; Friends (optional, off by default): get a 6-letter friend code, add colleagues, see today's board and join a team board like PTB. Your pet tells you when a friend finishes a pomodoro; Privacy: only your name, pet, level, streak and pomodoro counts are shared - never apps, window titles or scores. One click turns it off and deletes your online data. Right-click the pet → Friends &amp; achievements…</a:t>
                      </a:r>
                    </a:p>
                  </a:txBody>
                  <a:tcPr marL="73152" marR="73152" marT="36576" marB="36576">
                    <a:solidFill>
                      <a:srgbClr val="FFFDF8"/>
                    </a:solidFill>
                  </a:tcPr>
                </a:tc>
              </a:tr>
              <a:tr h="822960">
                <a:tc>
                  <a:txBody>
                    <a:bodyPr wrap="square"/>
                    <a:lstStyle/>
                    <a:p>
                      <a:r>
                        <a:rPr sz="1200" b="1">
                          <a:solidFill>
                            <a:srgbClr val="2B2A28"/>
                          </a:solidFill>
                          <a:latin typeface="Segoe UI"/>
                        </a:rPr>
                        <a:t>2.2.0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Pet sounds</a:t>
                      </a:r>
                    </a:p>
                    <a:p>
                      <a:r>
                        <a:rPr sz="1200" b="0">
                          <a:solidFill>
                            <a:srgbClr val="2B2A28"/>
                          </a:solidFill>
                          <a:latin typeface="Segoe UI"/>
                        </a:rPr>
                        <a:t>Your pet has a voice! Each of the 23 animals has its own sound (meow, woof, ribbit, hoot, buzz, oink, whale song...) and it changes with its mood: happy chirps, sad whimpers, sleepy yawns, hungry calls, grumpy huffs and soft snores; It also reacts with sound when you tickle, pet, feed, shake or wake it; Settings: right-click the pet → Sounds to switch on/off; Pet status &amp; settings has a volume slider, a ▶ Hear me button and "Stay quiet while I'm focusing" (on by default)</a:t>
                      </a:r>
                    </a:p>
                  </a:txBody>
                  <a:tcPr marL="73152" marR="73152" marT="36576" marB="36576">
                    <a:solidFill>
                      <a:srgbClr val="F7F4EC"/>
                    </a:solidFill>
                  </a:tcPr>
                </a:tc>
              </a:tr>
              <a:tr h="822960">
                <a:tc>
                  <a:txBody>
                    <a:bodyPr wrap="square"/>
                    <a:lstStyle/>
                    <a:p>
                      <a:r>
                        <a:rPr sz="1200" b="1">
                          <a:solidFill>
                            <a:srgbClr val="2B2A28"/>
                          </a:solidFill>
                          <a:latin typeface="Segoe UI"/>
                        </a:rPr>
                        <a:t>2.1.2</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Tickle-only mode</a:t>
                      </a:r>
                    </a:p>
                    <a:p>
                      <a:r>
                        <a:rPr sz="1200" b="0">
                          <a:solidFill>
                            <a:srgbClr val="2B2A28"/>
                          </a:solidFill>
                          <a:latin typeface="Segoe UI"/>
                        </a:rPr>
                        <a:t>New click option "Only tickle (never open Pips)": click and tickle your pet as much as you like - the Pomodoro window stays closed (open it from the right-click menu). Right-click the pet → When I click</a:t>
                      </a:r>
                    </a:p>
                  </a:txBody>
                  <a:tcPr marL="73152" marR="73152" marT="36576" marB="36576">
                    <a:solidFill>
                      <a:srgbClr val="FFFDF8"/>
                    </a:solidFill>
                  </a:tcPr>
                </a:tc>
              </a:tr>
              <a:tr h="822960">
                <a:tc>
                  <a:txBody>
                    <a:bodyPr wrap="square"/>
                    <a:lstStyle/>
                    <a:p>
                      <a:r>
                        <a:rPr sz="1200" b="1">
                          <a:solidFill>
                            <a:srgbClr val="2B2A28"/>
                          </a:solidFill>
                          <a:latin typeface="Segoe UI"/>
                        </a:rPr>
                        <a:t>2.1.1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Owner info</a:t>
                      </a:r>
                    </a:p>
                    <a:p>
                      <a:r>
                        <a:rPr sz="1200" b="0">
                          <a:solidFill>
                            <a:srgbClr val="2B2A28"/>
                          </a:solidFill>
                          <a:latin typeface="Segoe UI"/>
                        </a:rPr>
                        <a:t>About Pips now shows the owner: Juwen Lie (right-click the pet → Help → About)</a:t>
                      </a:r>
                    </a:p>
                  </a:txBody>
                  <a:tcPr marL="73152" marR="73152" marT="36576" marB="36576">
                    <a:solidFill>
                      <a:srgbClr val="F7F4EC"/>
                    </a:solidFill>
                  </a:tcPr>
                </a:tc>
              </a:tr>
              <a:tr h="822960">
                <a:tc>
                  <a:txBody>
                    <a:bodyPr wrap="square"/>
                    <a:lstStyle/>
                    <a:p>
                      <a:r>
                        <a:rPr sz="1200" b="1">
                          <a:solidFill>
                            <a:srgbClr val="2B2A28"/>
                          </a:solidFill>
                          <a:latin typeface="Segoe UI"/>
                        </a:rPr>
                        <a:t>2.1.0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Interactive guide &amp; in-app updates</a:t>
                      </a:r>
                    </a:p>
                    <a:p>
                      <a:r>
                        <a:rPr sz="1200" b="0">
                          <a:solidFill>
                            <a:srgbClr val="2B2A28"/>
                          </a:solidFill>
                          <a:latin typeface="Segoe UI"/>
                        </a:rPr>
                        <a:t>Interactive first-run guide: your pet walks you through clicking, dragging, petting and the right-click menu; In-app updates: Pips tells you when a new version is out - update with one click (your settings and data are kept); New Help menu: replay the guide, check for updates, see the version; Option to turn automatic update checks off</a:t>
                      </a:r>
                    </a:p>
                  </a:txBody>
                  <a:tcPr marL="73152" marR="73152" marT="36576" marB="36576">
                    <a:solidFill>
                      <a:srgbClr val="FFFDF8"/>
                    </a:solidFill>
                  </a:tcPr>
                </a:tc>
              </a:tr>
              <a:tr h="822960">
                <a:tc>
                  <a:txBody>
                    <a:bodyPr wrap="square"/>
                    <a:lstStyle/>
                    <a:p>
                      <a:r>
                        <a:rPr sz="1200" b="1">
                          <a:solidFill>
                            <a:srgbClr val="2B2A28"/>
                          </a:solidFill>
                          <a:latin typeface="Segoe UI"/>
                        </a:rPr>
                        <a:t>2.0.0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Desktop pet, 23 animals &amp; 4 languages</a:t>
                      </a:r>
                    </a:p>
                    <a:p>
                      <a:r>
                        <a:rPr sz="1200" b="0">
                          <a:solidFill>
                            <a:srgbClr val="2B2A28"/>
                          </a:solidFill>
                          <a:latin typeface="Segoe UI"/>
                        </a:rPr>
                        <a:t>Desktop pet that lives on your desktop and taskbar - drag it, tickle it, pet it; 23 animals in 3 groups: Land walks, Water swims with bubbles, Sky hovers and flaps; Moods (happy, sad, tired, hungry, grumpy...), naps when you're away, wakes up when you're back; Cute chat-bubble reminders: breaks, water, 20-20-20 eye rest, pomodoro done, daily goal</a:t>
                      </a:r>
                    </a:p>
                  </a:txBody>
                  <a:tcPr marL="73152" marR="73152" marT="36576" marB="36576">
                    <a:solidFill>
                      <a:srgbClr val="F7F4EC"/>
                    </a:solidFill>
                  </a:tcPr>
                </a:tc>
              </a:tr>
              <a:tr h="822960">
                <a:tc>
                  <a:txBody>
                    <a:bodyPr wrap="square"/>
                    <a:lstStyle/>
                    <a:p>
                      <a:r>
                        <a:rPr sz="1200" b="1">
                          <a:solidFill>
                            <a:srgbClr val="2B2A28"/>
                          </a:solidFill>
                          <a:latin typeface="Segoe UI"/>
                        </a:rPr>
                        <a:t>1.5.0</a:t>
                      </a:r>
                    </a:p>
                  </a:txBody>
                  <a:tcPr marL="73152" marR="73152" marT="36576" marB="36576">
                    <a:solidFill>
                      <a:srgbClr val="FFFDF8"/>
                    </a:solidFill>
                  </a:tcPr>
                </a:tc>
                <a:tc>
                  <a:txBody>
                    <a:bodyPr wrap="square"/>
                    <a:lstStyle/>
                    <a:p>
                      <a:r>
                        <a:rPr sz="1200" b="0">
                          <a:solidFill>
                            <a:srgbClr val="2B2A28"/>
                          </a:solidFill>
                          <a:latin typeface="Segoe UI"/>
                        </a:rPr>
                        <a:t>2026-10-24</a:t>
                      </a:r>
                    </a:p>
                  </a:txBody>
                  <a:tcPr marL="73152" marR="73152" marT="36576" marB="36576">
                    <a:solidFill>
                      <a:srgbClr val="FFFDF8"/>
                    </a:solidFill>
                  </a:tcPr>
                </a:tc>
                <a:tc>
                  <a:txBody>
                    <a:bodyPr wrap="square"/>
                    <a:lstStyle/>
                    <a:p>
                      <a:r>
                        <a:rPr sz="1200" b="0">
                          <a:solidFill>
                            <a:srgbClr val="2B2A28"/>
                          </a:solidFill>
                          <a:latin typeface="Segoe UI"/>
                        </a:rPr>
                        <a:t>Renamed to Pips + insights</a:t>
                      </a:r>
                    </a:p>
                    <a:p>
                      <a:r>
                        <a:rPr sz="1200" b="0">
                          <a:solidFill>
                            <a:srgbClr val="2B2A28"/>
                          </a:solidFill>
                          <a:latin typeface="Segoe UI"/>
                        </a:rPr>
                        <a:t>Renamed from Productivity Widget to Pips; Dashboard charts: focus timeline, hour heatmap, 7-day score trend, pomodoros per day; AI token usage on the card and dashboard; Daily diary export and weekly / monthly reports</a:t>
                      </a:r>
                    </a:p>
                  </a:txBody>
                  <a:tcPr marL="73152" marR="73152" marT="36576" marB="36576">
                    <a:solidFill>
                      <a:srgbClr val="FFFDF8"/>
                    </a:solidFill>
                  </a:tcPr>
                </a:tc>
              </a:tr>
              <a:tr h="822960">
                <a:tc>
                  <a:txBody>
                    <a:bodyPr wrap="square"/>
                    <a:lstStyle/>
                    <a:p>
                      <a:r>
                        <a:rPr sz="1200" b="1">
                          <a:solidFill>
                            <a:srgbClr val="2B2A28"/>
                          </a:solidFill>
                          <a:latin typeface="Segoe UI"/>
                        </a:rPr>
                        <a:t>1.0.0</a:t>
                      </a:r>
                    </a:p>
                  </a:txBody>
                  <a:tcPr marL="73152" marR="73152" marT="36576" marB="36576">
                    <a:solidFill>
                      <a:srgbClr val="F7F4EC"/>
                    </a:solidFill>
                  </a:tcPr>
                </a:tc>
                <a:tc>
                  <a:txBody>
                    <a:bodyPr wrap="square"/>
                    <a:lstStyle/>
                    <a:p>
                      <a:r>
                        <a:rPr sz="1200" b="0">
                          <a:solidFill>
                            <a:srgbClr val="2B2A28"/>
                          </a:solidFill>
                          <a:latin typeface="Segoe UI"/>
                        </a:rPr>
                        <a:t>2026-10-21</a:t>
                      </a:r>
                    </a:p>
                  </a:txBody>
                  <a:tcPr marL="73152" marR="73152" marT="36576" marB="36576">
                    <a:solidFill>
                      <a:srgbClr val="F7F4EC"/>
                    </a:solidFill>
                  </a:tcPr>
                </a:tc>
                <a:tc>
                  <a:txBody>
                    <a:bodyPr wrap="square"/>
                    <a:lstStyle/>
                    <a:p>
                      <a:r>
                        <a:rPr sz="1200" b="0">
                          <a:solidFill>
                            <a:srgbClr val="2B2A28"/>
                          </a:solidFill>
                          <a:latin typeface="Segoe UI"/>
                        </a:rPr>
                        <a:t>First release</a:t>
                      </a:r>
                    </a:p>
                    <a:p>
                      <a:r>
                        <a:rPr sz="1200" b="0">
                          <a:solidFill>
                            <a:srgbClr val="2B2A28"/>
                          </a:solidFill>
                          <a:latin typeface="Segoe UI"/>
                        </a:rPr>
                        <a:t>Always-on-top Pomodoro card with progress ring; Rain / thunder / brown-noise / cafe soundscapes; Live app-usage tracking and a daily 1-5 star focus score; Goals, streaks, XP, coach tips and break reminders</a:t>
                      </a:r>
                    </a:p>
                  </a:txBody>
                  <a:tcPr marL="73152" marR="73152" marT="36576" marB="36576">
                    <a:solidFill>
                      <a:srgbClr val="F7F4EC"/>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TextBox 1"/>
          <p:cNvSpPr txBox="1"/>
          <p:nvPr/>
        </p:nvSpPr>
        <p:spPr>
          <a:xfrm>
            <a:off x="548640" y="2011680"/>
            <a:ext cx="11064240" cy="914400"/>
          </a:xfrm>
          <a:prstGeom prst="rect">
            <a:avLst/>
          </a:prstGeom>
          <a:noFill/>
        </p:spPr>
        <p:txBody>
          <a:bodyPr wrap="square" anchor="t" lIns="45720" rIns="45720" tIns="27432" bIns="27432">
            <a:spAutoFit/>
          </a:bodyPr>
          <a:lstStyle/>
          <a:p>
            <a:pPr algn="ctr"/>
            <a:r>
              <a:rPr sz="4000" b="1">
                <a:solidFill>
                  <a:srgbClr val="2B2A28"/>
                </a:solidFill>
                <a:latin typeface="Georgia"/>
              </a:rPr>
              <a:t>Have fun &amp; stay focused ♥</a:t>
            </a:r>
          </a:p>
        </p:txBody>
      </p:sp>
      <p:sp>
        <p:nvSpPr>
          <p:cNvPr id="3" name="TextBox 2"/>
          <p:cNvSpPr txBox="1"/>
          <p:nvPr/>
        </p:nvSpPr>
        <p:spPr>
          <a:xfrm>
            <a:off x="548640" y="3108960"/>
            <a:ext cx="11064240" cy="914400"/>
          </a:xfrm>
          <a:prstGeom prst="rect">
            <a:avLst/>
          </a:prstGeom>
          <a:noFill/>
        </p:spPr>
        <p:txBody>
          <a:bodyPr wrap="square" anchor="t" lIns="45720" rIns="45720" tIns="27432" bIns="27432">
            <a:spAutoFit/>
          </a:bodyPr>
          <a:lstStyle/>
          <a:p>
            <a:pPr algn="ctr"/>
            <a:r>
              <a:rPr sz="1800" b="0">
                <a:solidFill>
                  <a:srgbClr val="6E6A62"/>
                </a:solidFill>
                <a:latin typeface="Segoe UI"/>
              </a:rPr>
              <a:t>Pips is made and owned by Juwen Lie</a:t>
            </a:r>
          </a:p>
          <a:p>
            <a:pPr algn="ctr"/>
            <a:r>
              <a:rPr sz="1800" b="0">
                <a:solidFill>
                  <a:srgbClr val="6E6A62"/>
                </a:solidFill>
                <a:latin typeface="Segoe UI"/>
              </a:rPr>
              <a:t>Download &amp; updates: https://juw12.github.io/projects/pips/</a:t>
            </a:r>
          </a:p>
          <a:p>
            <a:pPr algn="ctr"/>
            <a:r>
              <a:rPr sz="1800" b="0">
                <a:solidFill>
                  <a:srgbClr val="6E6A62"/>
                </a:solidFill>
                <a:latin typeface="Segoe UI"/>
              </a:rPr>
              <a:t>Questions or ideas? Just reply to the Pips email.</a:t>
            </a:r>
          </a:p>
        </p:txBody>
      </p:sp>
      <p:pic>
        <p:nvPicPr>
          <p:cNvPr id="4" name="Picture 3" descr="tour_finish.png"/>
          <p:cNvPicPr>
            <a:picLocks noChangeAspect="1"/>
          </p:cNvPicPr>
          <p:nvPr/>
        </p:nvPicPr>
        <p:blipFill>
          <a:blip r:embed="rId2"/>
          <a:stretch>
            <a:fillRect/>
          </a:stretch>
        </p:blipFill>
        <p:spPr>
          <a:xfrm>
            <a:off x="4450515" y="4206240"/>
            <a:ext cx="3260489" cy="2194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Pips 2.27.1 - User Guide</dc:title>
  <dc:subject>Desktop pet + Pomodoro focus widget</dc:subject>
  <dc:creator>Juwen Lie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