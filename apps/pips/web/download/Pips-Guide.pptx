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5943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4CB86B"/>
                </a:solidFill>
                <a:latin typeface="Segoe UI"/>
              </a:rPr>
              <a:t>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59436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0" b="1">
                <a:solidFill>
                  <a:srgbClr val="2B2A28"/>
                </a:solidFill>
                <a:latin typeface="Georgia"/>
              </a:rPr>
              <a:t>Pips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56692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0">
                <a:solidFill>
                  <a:srgbClr val="2B2A28"/>
                </a:solidFill>
                <a:latin typeface="Segoe UI"/>
              </a:rPr>
              <a:t>A cute social desktop pet for Windows - friends, chat &amp; a 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56692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6E6A62"/>
                </a:solidFill>
                <a:latin typeface="Segoe UI"/>
              </a:rPr>
              <a:t>Version 2.6.0  ·  2026-10-28  ·  Owner: Juwen Lie</a:t>
            </a:r>
          </a:p>
          <a:p>
            <a:pPr algn="l"/>
            <a:r>
              <a:rPr sz="1500" b="0">
                <a:solidFill>
                  <a:srgbClr val="6E6A62"/>
                </a:solidFill>
                <a:latin typeface="Segoe UI"/>
              </a:rPr>
              <a:t>English · Bahasa Indonesia · 繁體中文 · 简体中文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5943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Segoe UI"/>
              </a:rPr>
              <a:t>https://juw12.github.io/projects/pips/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097280"/>
            <a:ext cx="4937760" cy="402336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2700">
            <a:solidFill>
              <a:srgbClr val="E2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ro_p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508760"/>
            <a:ext cx="457200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66560" y="525780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6E6A62"/>
                </a:solidFill>
                <a:latin typeface="Segoe UI"/>
              </a:rPr>
              <a:t>Pick from 23 animals - land, water and sky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4CB86B"/>
                </a:solidFill>
                <a:latin typeface="Segoe U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2B2A28"/>
                </a:solidFill>
                <a:latin typeface="Segoe UI"/>
              </a:rPr>
              <a:t>What is Pips?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E6A62"/>
                </a:solidFill>
                <a:latin typeface="Segoe UI"/>
              </a:rPr>
              <a:t>Pips 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800" b="1">
                <a:solidFill>
                  <a:srgbClr val="2B2A28"/>
                </a:solidFill>
                <a:latin typeface="Segoe UI"/>
              </a:rPr>
              <a:t>A desk buddy. </a:t>
            </a:r>
            <a:r>
              <a:rPr sz="1800">
                <a:solidFill>
                  <a:srgbClr val="2B2A28"/>
                </a:solidFill>
                <a:latin typeface="Segoe UI"/>
              </a:rPr>
              <a:t>A little animal lives on your taskbar - it walks, naps, chats and reacts when you play with it.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800" b="1">
                <a:solidFill>
                  <a:srgbClr val="2B2A28"/>
                </a:solidFill>
                <a:latin typeface="Segoe UI"/>
              </a:rPr>
              <a:t>A social pet. </a:t>
            </a:r>
            <a:r>
              <a:rPr sz="1800">
                <a:solidFill>
                  <a:srgbClr val="2B2A28"/>
                </a:solidFill>
                <a:latin typeface="Segoe UI"/>
              </a:rPr>
              <a:t>Click the pet to open the Pips hub: friends, chat, groups, and a shop with props and moves for your pet.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800" b="1">
                <a:solidFill>
                  <a:srgbClr val="2B2A28"/>
                </a:solidFill>
                <a:latin typeface="Segoe UI"/>
              </a:rPr>
              <a:t>A focus timer. </a:t>
            </a:r>
            <a:r>
              <a:rPr sz="1800">
                <a:solidFill>
                  <a:srgbClr val="2B2A28"/>
                </a:solidFill>
                <a:latin typeface="Segoe UI"/>
              </a:rPr>
              <a:t>Right-click → Focus timer: a 25-minute Pomodoro with soundscapes.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800" b="1">
                <a:solidFill>
                  <a:srgbClr val="2B2A28"/>
                </a:solidFill>
                <a:latin typeface="Segoe UI"/>
              </a:rPr>
              <a:t>Gentle reminders. </a:t>
            </a:r>
            <a:r>
              <a:rPr sz="1800">
                <a:solidFill>
                  <a:srgbClr val="2B2A28"/>
                </a:solidFill>
                <a:latin typeface="Segoe UI"/>
              </a:rPr>
              <a:t>Breaks, drinking water, 20-20-20 eye rest and your daily goal pop up as friendly chat bubbles.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800" b="1">
                <a:solidFill>
                  <a:srgbClr val="2B2A28"/>
                </a:solidFill>
                <a:latin typeface="Segoe UI"/>
              </a:rPr>
              <a:t>Insights. </a:t>
            </a:r>
            <a:r>
              <a:rPr sz="1800">
                <a:solidFill>
                  <a:srgbClr val="2B2A28"/>
                </a:solidFill>
                <a:latin typeface="Segoe UI"/>
              </a:rPr>
              <a:t>A daily 1-5 star focus score, app-usage tracking and charts in the dashboard.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800" b="1">
                <a:solidFill>
                  <a:srgbClr val="2B2A28"/>
                </a:solidFill>
                <a:latin typeface="Segoe UI"/>
              </a:rPr>
              <a:t>Private. </a:t>
            </a:r>
            <a:r>
              <a:rPr sz="1800">
                <a:solidFill>
                  <a:srgbClr val="2B2A28"/>
                </a:solidFill>
                <a:latin typeface="Segoe UI"/>
              </a:rPr>
              <a:t>Everything stays in the Pips folder on your PC. Nothing is uploaded.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800" b="1">
                <a:solidFill>
                  <a:srgbClr val="2B2A28"/>
                </a:solidFill>
                <a:latin typeface="Segoe UI"/>
              </a:rPr>
              <a:t>4 languages. </a:t>
            </a:r>
            <a:r>
              <a:rPr sz="1800">
                <a:solidFill>
                  <a:srgbClr val="2B2A28"/>
                </a:solidFill>
                <a:latin typeface="Segoe UI"/>
              </a:rPr>
              <a:t>English, Bahasa Indonesia, 繁體中文, 简体中文.</a:t>
            </a:r>
          </a:p>
        </p:txBody>
      </p:sp>
      <p:pic>
        <p:nvPicPr>
          <p:cNvPr id="8" name="Picture 7" descr="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669390"/>
            <a:ext cx="2377440" cy="3336340"/>
          </a:xfrm>
          <a:prstGeom prst="rect">
            <a:avLst/>
          </a:prstGeom>
          <a:ln w="12700">
            <a:solidFill>
              <a:srgbClr val="E2DCCE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315200" y="516636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6E6A62"/>
                </a:solidFill>
                <a:latin typeface="Segoe UI"/>
              </a:rPr>
              <a:t>The Pips card</a:t>
            </a:r>
          </a:p>
        </p:txBody>
      </p:sp>
      <p:pic>
        <p:nvPicPr>
          <p:cNvPr id="10" name="Picture 9" descr="bee_task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381292"/>
            <a:ext cx="1920240" cy="918375"/>
          </a:xfrm>
          <a:prstGeom prst="rect">
            <a:avLst/>
          </a:prstGeom>
          <a:ln w="12700">
            <a:solidFill>
              <a:srgbClr val="E2DC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9875520" y="461772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6E6A62"/>
                </a:solidFill>
                <a:latin typeface="Segoe UI"/>
              </a:rPr>
              <a:t>Your pet on the taskbar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4CB86B"/>
                </a:solidFill>
                <a:latin typeface="Segoe UI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2B2A28"/>
                </a:solidFill>
                <a:latin typeface="Segoe UI"/>
              </a:rPr>
              <a:t>Install in 3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E6A62"/>
                </a:solidFill>
                <a:latin typeface="Segoe UI"/>
              </a:rPr>
              <a:t>Pips ·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66160" cy="283464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2700">
            <a:solidFill>
              <a:srgbClr val="E2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47672"/>
            <a:ext cx="26517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2B2A28"/>
                </a:solidFill>
                <a:latin typeface="Segoe UI"/>
              </a:rPr>
              <a:t>Download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15468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2B2A28"/>
                </a:solidFill>
                <a:latin typeface="Segoe UI"/>
              </a:rPr>
              <a:t>Get Pips-Windows.zip from</a:t>
            </a:r>
          </a:p>
          <a:p>
            <a:pPr algn="l"/>
            <a:r>
              <a:rPr sz="1400" b="0">
                <a:solidFill>
                  <a:srgbClr val="2B2A28"/>
                </a:solidFill>
                <a:latin typeface="Segoe UI"/>
              </a:rPr>
              <a:t>https://juw12.github.io/projects/pips/download/Pips-Windows.zip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566160" cy="283464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2700">
            <a:solidFill>
              <a:srgbClr val="E2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1965960"/>
            <a:ext cx="457200" cy="457200"/>
          </a:xfrm>
          <a:prstGeom prst="ellipse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947672"/>
            <a:ext cx="26517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2B2A28"/>
                </a:solidFill>
                <a:latin typeface="Segoe UI"/>
              </a:rPr>
              <a:t>Unzip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51760"/>
            <a:ext cx="315468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2B2A28"/>
                </a:solidFill>
                <a:latin typeface="Segoe UI"/>
              </a:rPr>
              <a:t>Right-click the zip → Extract All…</a:t>
            </a:r>
          </a:p>
          <a:p>
            <a:pPr algn="l"/>
            <a:r>
              <a:rPr sz="1400" b="0">
                <a:solidFill>
                  <a:srgbClr val="2B2A28"/>
                </a:solidFill>
                <a:latin typeface="Segoe UI"/>
              </a:rPr>
              <a:t>Put the folder somewhere permanent, e.g. Documents\Pips (not inside the zip!).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737360"/>
            <a:ext cx="3566160" cy="283464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2700">
            <a:solidFill>
              <a:srgbClr val="E2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58200" y="1965960"/>
            <a:ext cx="457200" cy="457200"/>
          </a:xfrm>
          <a:prstGeom prst="ellipse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947672"/>
            <a:ext cx="26517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2B2A28"/>
                </a:solidFill>
                <a:latin typeface="Segoe UI"/>
              </a:rPr>
              <a:t>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651760"/>
            <a:ext cx="315468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2B2A28"/>
                </a:solidFill>
                <a:latin typeface="Segoe UI"/>
              </a:rPr>
              <a:t>Double-click  “Start Pips.bat”.</a:t>
            </a:r>
          </a:p>
          <a:p>
            <a:pPr algn="l"/>
            <a:r>
              <a:rPr sz="1400" b="0">
                <a:solidFill>
                  <a:srgbClr val="2B2A28"/>
                </a:solidFill>
                <a:latin typeface="Segoe UI"/>
              </a:rPr>
              <a:t>The first start installs two small helpers (pywin32, Pillow) - takes ~30 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92040"/>
            <a:ext cx="11155680" cy="1325880"/>
          </a:xfrm>
          <a:prstGeom prst="roundRect">
            <a:avLst>
              <a:gd name="adj" fmla="val 6000"/>
            </a:avLst>
          </a:prstGeom>
          <a:solidFill>
            <a:srgbClr val="E4F5E8"/>
          </a:solidFill>
          <a:ln w="12700">
            <a:solidFill>
              <a:srgbClr val="4CB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8348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400" b="1">
                <a:solidFill>
                  <a:srgbClr val="2B2A28"/>
                </a:solidFill>
                <a:latin typeface="Segoe UI"/>
              </a:rPr>
              <a:t>Needs Python 3.10+ </a:t>
            </a:r>
            <a:r>
              <a:rPr sz="1400">
                <a:solidFill>
                  <a:srgbClr val="2B2A28"/>
                </a:solidFill>
                <a:latin typeface="Segoe UI"/>
              </a:rPr>
              <a:t>(free from python.org - tick “Add python.exe to PATH” when installing). Windows 10 or 11.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400" b="1">
                <a:solidFill>
                  <a:srgbClr val="2B2A28"/>
                </a:solidFill>
                <a:latin typeface="Segoe UI"/>
              </a:rPr>
              <a:t>Start with Windows: </a:t>
            </a:r>
            <a:r>
              <a:rPr sz="1400">
                <a:solidFill>
                  <a:srgbClr val="2B2A28"/>
                </a:solidFill>
                <a:latin typeface="Segoe UI"/>
              </a:rPr>
              <a:t>right-click the Pips card → Autostart, or run install_autostart.ps1 (right-click → Run with PowerShell).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4CB86B"/>
                </a:solidFill>
                <a:latin typeface="Segoe UI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2B2A28"/>
                </a:solidFill>
                <a:latin typeface="Segoe UI"/>
              </a:rPr>
              <a:t>First start: language + interactive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E6A62"/>
                </a:solidFill>
                <a:latin typeface="Segoe UI"/>
              </a:rPr>
              <a:t>Pips · 4</a:t>
            </a:r>
          </a:p>
        </p:txBody>
      </p:sp>
      <p:pic>
        <p:nvPicPr>
          <p:cNvPr id="7" name="Picture 6" descr="lang_pi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01" y="1645920"/>
            <a:ext cx="3489038" cy="3749039"/>
          </a:xfrm>
          <a:prstGeom prst="rect">
            <a:avLst/>
          </a:prstGeom>
          <a:ln w="12700">
            <a:solidFill>
              <a:srgbClr val="E2DCC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44068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6E6A62"/>
                </a:solidFill>
                <a:latin typeface="Segoe UI"/>
              </a:rPr>
              <a:t>① Pick your language</a:t>
            </a:r>
          </a:p>
        </p:txBody>
      </p:sp>
      <p:pic>
        <p:nvPicPr>
          <p:cNvPr id="9" name="Picture 8" descr="tour_wel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648558"/>
            <a:ext cx="3931920" cy="2646484"/>
          </a:xfrm>
          <a:prstGeom prst="rect">
            <a:avLst/>
          </a:prstGeom>
          <a:ln w="12700">
            <a:solidFill>
              <a:srgbClr val="E2DCCE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389120" y="4343400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6E6A62"/>
                </a:solidFill>
                <a:latin typeface="Segoe UI"/>
              </a:rPr>
              <a:t>② Your pet says hi and offers a 1-minute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64592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>
                <a:solidFill>
                  <a:srgbClr val="2B2A28"/>
                </a:solidFill>
                <a:latin typeface="Segoe UI"/>
              </a:rPr>
              <a:t>A language window appears once. You can change it later (right-click the pet → Language).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>
                <a:solidFill>
                  <a:srgbClr val="2B2A28"/>
                </a:solidFill>
                <a:latin typeface="Segoe UI"/>
              </a:rPr>
              <a:t>Then your pet walks you through the basics - just follow the bubble.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>
                <a:solidFill>
                  <a:srgbClr val="2B2A28"/>
                </a:solidFill>
                <a:latin typeface="Segoe UI"/>
              </a:rPr>
              <a:t>Press “Skip guide” anytime.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 b="1">
                <a:solidFill>
                  <a:srgbClr val="2B2A28"/>
                </a:solidFill>
                <a:latin typeface="Segoe UI"/>
              </a:rPr>
              <a:t>Replay: </a:t>
            </a:r>
            <a:r>
              <a:rPr sz="1500">
                <a:solidFill>
                  <a:srgbClr val="2B2A28"/>
                </a:solidFill>
                <a:latin typeface="Segoe UI"/>
              </a:rPr>
              <a:t>right-click the pet → Help → Interactive guide.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4CB86B"/>
                </a:solidFill>
                <a:latin typeface="Segoe UI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2B2A28"/>
                </a:solidFill>
                <a:latin typeface="Segoe UI"/>
              </a:rPr>
              <a:t>The interactive guide, step by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E6A62"/>
                </a:solidFill>
                <a:latin typeface="Segoe UI"/>
              </a:rPr>
              <a:t>Pips ·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69494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377440"/>
                <a:gridCol w="38404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Step</a:t>
                      </a:r>
                    </a:p>
                  </a:txBody>
                  <a:tcPr marL="73152" marR="73152" marT="36576" marB="36576">
                    <a:solidFill>
                      <a:srgbClr val="8B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What the pet asks</a:t>
                      </a:r>
                    </a:p>
                  </a:txBody>
                  <a:tcPr marL="73152" marR="73152" marT="36576" marB="36576">
                    <a:solidFill>
                      <a:srgbClr val="8B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What it teaches</a:t>
                      </a:r>
                    </a:p>
                  </a:txBody>
                  <a:tcPr marL="73152" marR="73152" marT="36576" marB="36576">
                    <a:solidFill>
                      <a:srgbClr val="8B1A1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B2A2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2A28"/>
                          </a:solidFill>
                          <a:latin typeface="Segoe UI"/>
                        </a:rPr>
                        <a:t>Click me once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2A28"/>
                          </a:solidFill>
                          <a:latin typeface="Segoe UI"/>
                        </a:rPr>
                        <a:t>Clicking the pet opens the Pips hub (friends, chat, shop)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B2A2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2A28"/>
                          </a:solidFill>
                          <a:latin typeface="Segoe UI"/>
                        </a:rPr>
                        <a:t>Click the ring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2A28"/>
                          </a:solidFill>
                          <a:latin typeface="Segoe UI"/>
                        </a:rPr>
                        <a:t>Start / pause a 25-minute focus session; – or ✕ hides the card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B2A2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2A28"/>
                          </a:solidFill>
                          <a:latin typeface="Segoe UI"/>
                        </a:rPr>
                        <a:t>Drag me anywhere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2A28"/>
                          </a:solidFill>
                          <a:latin typeface="Segoe UI"/>
                        </a:rPr>
                        <a:t>Move the pet; drop it on the taskbar to walk there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B2A2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2A28"/>
                          </a:solidFill>
                          <a:latin typeface="Segoe UI"/>
                        </a:rPr>
                        <a:t>Rub your mouse over me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2A28"/>
                          </a:solidFill>
                          <a:latin typeface="Segoe UI"/>
                        </a:rPr>
                        <a:t>Petting makes it happy (hearts!)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B2A2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2A28"/>
                          </a:solidFill>
                          <a:latin typeface="Segoe UI"/>
                        </a:rPr>
                        <a:t>Right-click me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2A28"/>
                          </a:solidFill>
                          <a:latin typeface="Segoe UI"/>
                        </a:rPr>
                        <a:t>The menu: snacks, sleep, animals, colours, language, settings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B2A2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2A28"/>
                          </a:solidFill>
                          <a:latin typeface="Segoe UI"/>
                        </a:rPr>
                        <a:t>I have moods!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2A28"/>
                          </a:solidFill>
                          <a:latin typeface="Segoe UI"/>
                        </a:rPr>
                        <a:t>Keep it happy: pet, feed and finish pomodoros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tour_cl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60452"/>
            <a:ext cx="2011680" cy="1354015"/>
          </a:xfrm>
          <a:prstGeom prst="rect">
            <a:avLst/>
          </a:prstGeom>
          <a:ln w="12700">
            <a:solidFill>
              <a:srgbClr val="E2DCCE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772400" y="3456432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6E6A62"/>
                </a:solidFill>
                <a:latin typeface="Segoe UI"/>
              </a:rPr>
              <a:t>Step 1</a:t>
            </a:r>
          </a:p>
        </p:txBody>
      </p:sp>
      <p:pic>
        <p:nvPicPr>
          <p:cNvPr id="10" name="Picture 9" descr="tour_dr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1860452"/>
            <a:ext cx="2011680" cy="1354015"/>
          </a:xfrm>
          <a:prstGeom prst="rect">
            <a:avLst/>
          </a:prstGeom>
          <a:ln w="12700">
            <a:solidFill>
              <a:srgbClr val="E2DC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9921240" y="3456432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6E6A62"/>
                </a:solidFill>
                <a:latin typeface="Segoe UI"/>
              </a:rPr>
              <a:t>Step 3</a:t>
            </a:r>
          </a:p>
        </p:txBody>
      </p:sp>
      <p:pic>
        <p:nvPicPr>
          <p:cNvPr id="12" name="Picture 11" descr="tour_p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4100732"/>
            <a:ext cx="2011680" cy="1354015"/>
          </a:xfrm>
          <a:prstGeom prst="rect">
            <a:avLst/>
          </a:prstGeom>
          <a:ln w="12700">
            <a:solidFill>
              <a:srgbClr val="E2DCCE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7772400" y="5696712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6E6A62"/>
                </a:solidFill>
                <a:latin typeface="Segoe UI"/>
              </a:rPr>
              <a:t>Step 4</a:t>
            </a:r>
          </a:p>
        </p:txBody>
      </p:sp>
      <p:pic>
        <p:nvPicPr>
          <p:cNvPr id="14" name="Picture 13" descr="tour_men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0" y="4100732"/>
            <a:ext cx="2011680" cy="1354015"/>
          </a:xfrm>
          <a:prstGeom prst="rect">
            <a:avLst/>
          </a:prstGeom>
          <a:ln w="12700">
            <a:solidFill>
              <a:srgbClr val="E2DCCE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9921240" y="5696712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6E6A62"/>
                </a:solidFill>
                <a:latin typeface="Segoe UI"/>
              </a:rPr>
              <a:t>Step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4CB86B"/>
                </a:solidFill>
                <a:latin typeface="Segoe UI"/>
              </a:rPr>
              <a:t>YOUR PET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2B2A28"/>
                </a:solidFill>
                <a:latin typeface="Segoe UI"/>
              </a:rPr>
              <a:t>Playing with your pet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E6A62"/>
                </a:solidFill>
                <a:latin typeface="Segoe UI"/>
              </a:rPr>
              <a:t>Pips ·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7315200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Do this</a:t>
                      </a:r>
                    </a:p>
                  </a:txBody>
                  <a:tcPr marL="73152" marR="73152" marT="36576" marB="36576">
                    <a:solidFill>
                      <a:srgbClr val="8B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What happens</a:t>
                      </a:r>
                    </a:p>
                  </a:txBody>
                  <a:tcPr marL="73152" marR="73152" marT="36576" marB="36576">
                    <a:solidFill>
                      <a:srgbClr val="8B1A1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A28"/>
                          </a:solidFill>
                          <a:latin typeface="Segoe UI"/>
                        </a:rPr>
                        <a:t>Click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A28"/>
                          </a:solidFill>
                          <a:latin typeface="Segoe UI"/>
                        </a:rPr>
                        <a:t>Giggles and opens the Pips hub (friends, chat, groups, shop)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A28"/>
                          </a:solidFill>
                          <a:latin typeface="Segoe UI"/>
                        </a:rPr>
                        <a:t>Drag &amp; drop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A28"/>
                          </a:solidFill>
                          <a:latin typeface="Segoe UI"/>
                        </a:rPr>
                        <a:t>Carry it anywhere. Drop on the taskbar → it walks along it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A28"/>
                          </a:solidFill>
                          <a:latin typeface="Segoe UI"/>
                        </a:rPr>
                        <a:t>Rub the mouse back and forth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A28"/>
                          </a:solidFill>
                          <a:latin typeface="Segoe UI"/>
                        </a:rPr>
                        <a:t>Petting ♥ - happiness and bond go up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A28"/>
                          </a:solidFill>
                          <a:latin typeface="Segoe UI"/>
                        </a:rPr>
                        <a:t>Shake while dragging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A28"/>
                          </a:solidFill>
                          <a:latin typeface="Segoe UI"/>
                        </a:rPr>
                        <a:t>Dizzy! (don't overdo it)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A28"/>
                          </a:solidFill>
                          <a:latin typeface="Segoe UI"/>
                        </a:rPr>
                        <a:t>Right-click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A28"/>
                          </a:solidFill>
                          <a:latin typeface="Segoe UI"/>
                        </a:rPr>
                        <a:t>Menu: snack, sleep / wake, Animal, colours, size, Language, Help…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A28"/>
                          </a:solidFill>
                          <a:latin typeface="Segoe UI"/>
                        </a:rPr>
                        <a:t>Give a snack ♨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A28"/>
                          </a:solidFill>
                          <a:latin typeface="Segoe UI"/>
                        </a:rPr>
                        <a:t>Fills its tummy (right-click → Give a snack)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A28"/>
                          </a:solidFill>
                          <a:latin typeface="Segoe UI"/>
                        </a:rPr>
                        <a:t>Leave the PC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A28"/>
                          </a:solidFill>
                          <a:latin typeface="Segoe UI"/>
                        </a:rPr>
                        <a:t>It naps after a few minutes and wakes up when you're back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A28"/>
                          </a:solidFill>
                          <a:latin typeface="Segoe UI"/>
                        </a:rPr>
                        <a:t>Listen ♪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A28"/>
                          </a:solidFill>
                          <a:latin typeface="Segoe UI"/>
                        </a:rPr>
                        <a:t>Meows, barks, ribbits, hoots… its voice changes with its mood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tour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664384"/>
            <a:ext cx="3749039" cy="2523391"/>
          </a:xfrm>
          <a:prstGeom prst="rect">
            <a:avLst/>
          </a:prstGeom>
          <a:ln w="12700">
            <a:solidFill>
              <a:srgbClr val="E2DCCE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138160" y="4251960"/>
            <a:ext cx="374903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6E6A62"/>
                </a:solidFill>
                <a:latin typeface="Segoe UI"/>
              </a:rPr>
              <a:t>Right-click = everything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754880"/>
            <a:ext cx="3749039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E6A62"/>
                </a:solidFill>
                <a:latin typeface="Segoe UI"/>
              </a:rPr>
              <a:t>Just want to tickle? Right-click → When I click → Only tickle (never open Pips).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4CB86B"/>
                </a:solidFill>
                <a:latin typeface="Segoe UI"/>
              </a:rPr>
              <a:t>YOUR PET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2B2A28"/>
                </a:solidFill>
                <a:latin typeface="Segoe UI"/>
              </a:rPr>
              <a:t>23 animals in 3 groups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E6A62"/>
                </a:solidFill>
                <a:latin typeface="Segoe UI"/>
              </a:rPr>
              <a:t>Pips · 7</a:t>
            </a:r>
          </a:p>
        </p:txBody>
      </p:sp>
      <p:pic>
        <p:nvPicPr>
          <p:cNvPr id="7" name="Picture 6" descr="species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13447"/>
            <a:ext cx="7040880" cy="4179745"/>
          </a:xfrm>
          <a:prstGeom prst="rect">
            <a:avLst/>
          </a:prstGeom>
          <a:ln w="12700">
            <a:solidFill>
              <a:srgbClr val="E2DCC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863840" y="164592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 b="1">
                <a:solidFill>
                  <a:srgbClr val="2B2A28"/>
                </a:solidFill>
                <a:latin typeface="Segoe UI"/>
              </a:rPr>
              <a:t>Land (9): </a:t>
            </a:r>
            <a:r>
              <a:rPr sz="1500">
                <a:solidFill>
                  <a:srgbClr val="2B2A28"/>
                </a:solidFill>
                <a:latin typeface="Segoe UI"/>
              </a:rPr>
              <a:t>cat, dog, bunny, bear, panda, fox, hamster, pig, sprout - they walk &amp; hop.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 b="1">
                <a:solidFill>
                  <a:srgbClr val="2B2A28"/>
                </a:solidFill>
                <a:latin typeface="Segoe UI"/>
              </a:rPr>
              <a:t>Water (8): </a:t>
            </a:r>
            <a:r>
              <a:rPr sz="1500">
                <a:solidFill>
                  <a:srgbClr val="2B2A28"/>
                </a:solidFill>
                <a:latin typeface="Segoe UI"/>
              </a:rPr>
              <a:t>fish, whale, octopus, axolotl, penguin, turtle, frog, jellyfish - they swim with bubbles.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 b="1">
                <a:solidFill>
                  <a:srgbClr val="2B2A28"/>
                </a:solidFill>
                <a:latin typeface="Segoe UI"/>
              </a:rPr>
              <a:t>Sky (6): </a:t>
            </a:r>
            <a:r>
              <a:rPr sz="1500">
                <a:solidFill>
                  <a:srgbClr val="2B2A28"/>
                </a:solidFill>
                <a:latin typeface="Segoe UI"/>
              </a:rPr>
              <a:t>bird, owl, bat, bee, butterfly, dragon - they hover and flap.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 b="1">
                <a:solidFill>
                  <a:srgbClr val="2B2A28"/>
                </a:solidFill>
                <a:latin typeface="Segoe UI"/>
              </a:rPr>
              <a:t>Change: </a:t>
            </a:r>
            <a:r>
              <a:rPr sz="1500">
                <a:solidFill>
                  <a:srgbClr val="2B2A28"/>
                </a:solidFill>
                <a:latin typeface="Segoe UI"/>
              </a:rPr>
              <a:t>right-click → Animal, or the tabs in Pet status &amp; settings.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 b="1">
                <a:solidFill>
                  <a:srgbClr val="2B2A28"/>
                </a:solidFill>
                <a:latin typeface="Segoe UI"/>
              </a:rPr>
              <a:t>Make it yours: </a:t>
            </a:r>
            <a:r>
              <a:rPr sz="1500">
                <a:solidFill>
                  <a:srgbClr val="2B2A28"/>
                </a:solidFill>
                <a:latin typeface="Segoe UI"/>
              </a:rPr>
              <a:t>name, body colour, cheek colour and size S / M / L.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 b="1">
                <a:solidFill>
                  <a:srgbClr val="2B2A28"/>
                </a:solidFill>
                <a:latin typeface="Segoe UI"/>
              </a:rPr>
              <a:t>Own voice ♪: </a:t>
            </a:r>
            <a:r>
              <a:rPr sz="1500">
                <a:solidFill>
                  <a:srgbClr val="2B2A28"/>
                </a:solidFill>
                <a:latin typeface="Segoe UI"/>
              </a:rPr>
              <a:t>every animal sounds different - happy, sleepy, hungry or grumpy.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4CB86B"/>
                </a:solidFill>
                <a:latin typeface="Segoe UI"/>
              </a:rPr>
              <a:t>YOUR PET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2B2A28"/>
                </a:solidFill>
                <a:latin typeface="Segoe UI"/>
              </a:rPr>
              <a:t>Moods &amp;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E6A62"/>
                </a:solidFill>
                <a:latin typeface="Segoe UI"/>
              </a:rPr>
              <a:t>Pips ·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7498080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474720"/>
                <a:gridCol w="25603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Stat</a:t>
                      </a:r>
                    </a:p>
                  </a:txBody>
                  <a:tcPr marL="73152" marR="73152" marT="36576" marB="36576">
                    <a:solidFill>
                      <a:srgbClr val="8B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Goes up when…</a:t>
                      </a:r>
                    </a:p>
                  </a:txBody>
                  <a:tcPr marL="73152" marR="73152" marT="36576" marB="36576">
                    <a:solidFill>
                      <a:srgbClr val="8B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Goes down when…</a:t>
                      </a:r>
                    </a:p>
                  </a:txBody>
                  <a:tcPr marL="73152" marR="73152" marT="36576" marB="36576">
                    <a:solidFill>
                      <a:srgbClr val="8B1A1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A28"/>
                          </a:solidFill>
                          <a:latin typeface="Segoe UI"/>
                        </a:rPr>
                        <a:t>Happiness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A28"/>
                          </a:solidFill>
                          <a:latin typeface="Segoe UI"/>
                        </a:rPr>
                        <a:t>You pet it, finish pomodoros, hit your goal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A28"/>
                          </a:solidFill>
                          <a:latin typeface="Segoe UI"/>
                        </a:rPr>
                        <a:t>Ignored for long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A28"/>
                          </a:solidFill>
                          <a:latin typeface="Segoe UI"/>
                        </a:rPr>
                        <a:t>Energy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A28"/>
                          </a:solidFill>
                          <a:latin typeface="Segoe UI"/>
                        </a:rPr>
                        <a:t>It naps (when you're away or via Sleep)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A28"/>
                          </a:solidFill>
                          <a:latin typeface="Segoe UI"/>
                        </a:rPr>
                        <a:t>Time awake, lots of play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A28"/>
                          </a:solidFill>
                          <a:latin typeface="Segoe UI"/>
                        </a:rPr>
                        <a:t>Food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A28"/>
                          </a:solidFill>
                          <a:latin typeface="Segoe UI"/>
                        </a:rPr>
                        <a:t>You give a snack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A28"/>
                          </a:solidFill>
                          <a:latin typeface="Segoe UI"/>
                        </a:rPr>
                        <a:t>Slowly over the day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A28"/>
                          </a:solidFill>
                          <a:latin typeface="Segoe UI"/>
                        </a:rPr>
                        <a:t>Bond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A28"/>
                          </a:solidFill>
                          <a:latin typeface="Segoe UI"/>
                        </a:rPr>
                        <a:t>Every interaction, every day together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A28"/>
                          </a:solidFill>
                          <a:latin typeface="Segoe UI"/>
                        </a:rPr>
                        <a:t>(never really drops)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663440"/>
            <a:ext cx="7498079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2B2A28"/>
                </a:solidFill>
                <a:latin typeface="Segoe UI"/>
              </a:rPr>
              <a:t>Moods you'll see: very happy · happy · okay · sad · very sad · tired · hungry · grumpy · sleeping.</a:t>
            </a:r>
          </a:p>
          <a:p>
            <a:pPr algn="l"/>
            <a:r>
              <a:rPr sz="1500" b="0">
                <a:solidFill>
                  <a:srgbClr val="2B2A28"/>
                </a:solidFill>
                <a:latin typeface="Segoe UI"/>
              </a:rPr>
              <a:t>Check them anytime: right-click → Pet status &amp; settings.</a:t>
            </a:r>
          </a:p>
        </p:txBody>
      </p:sp>
      <p:pic>
        <p:nvPicPr>
          <p:cNvPr id="9" name="Picture 8" descr="tour_mo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680210"/>
            <a:ext cx="3566160" cy="2400300"/>
          </a:xfrm>
          <a:prstGeom prst="rect">
            <a:avLst/>
          </a:prstGeom>
          <a:ln w="12700">
            <a:solidFill>
              <a:srgbClr val="E2DCCE"/>
            </a:solidFill>
          </a:ln>
        </p:spPr>
      </p:pic>
      <p:pic>
        <p:nvPicPr>
          <p:cNvPr id="10" name="Picture 9" descr="tour_fini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56" y="4297680"/>
            <a:ext cx="2852928" cy="1920239"/>
          </a:xfrm>
          <a:prstGeom prst="rect">
            <a:avLst/>
          </a:prstGeom>
          <a:ln w="12700">
            <a:solidFill>
              <a:srgbClr val="E2DCCE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4CB86B"/>
                </a:solidFill>
                <a:latin typeface="Segoe UI"/>
              </a:rPr>
              <a:t>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2B2A28"/>
                </a:solidFill>
                <a:latin typeface="Segoe UI"/>
              </a:rPr>
              <a:t>Focus timer (right-click → Focus timer)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E6A62"/>
                </a:solidFill>
                <a:latin typeface="Segoe UI"/>
              </a:rPr>
              <a:t>Pips · 9</a:t>
            </a:r>
          </a:p>
        </p:txBody>
      </p:sp>
      <p:pic>
        <p:nvPicPr>
          <p:cNvPr id="7" name="Picture 6" descr="tou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151" y="1554480"/>
            <a:ext cx="2428818" cy="4754880"/>
          </a:xfrm>
          <a:prstGeom prst="rect">
            <a:avLst/>
          </a:prstGeom>
          <a:ln w="12700">
            <a:solidFill>
              <a:srgbClr val="E2DCC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206240" y="1645920"/>
            <a:ext cx="7589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600" b="1">
                <a:solidFill>
                  <a:srgbClr val="2B2A28"/>
                </a:solidFill>
                <a:latin typeface="Segoe UI"/>
              </a:rPr>
              <a:t>Start: </a:t>
            </a:r>
            <a:r>
              <a:rPr sz="1600">
                <a:solidFill>
                  <a:srgbClr val="2B2A28"/>
                </a:solidFill>
                <a:latin typeface="Segoe UI"/>
              </a:rPr>
              <a:t>click the ring or ► Start. 25 min focus → 5 min break; every 4th break is longer.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600" b="1">
                <a:solidFill>
                  <a:srgbClr val="2B2A28"/>
                </a:solidFill>
                <a:latin typeface="Segoe UI"/>
              </a:rPr>
              <a:t>Pause / reset: </a:t>
            </a:r>
            <a:r>
              <a:rPr sz="1600">
                <a:solidFill>
                  <a:srgbClr val="2B2A28"/>
                </a:solidFill>
                <a:latin typeface="Segoe UI"/>
              </a:rPr>
              <a:t>click the ring again, or ↻ Reset.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600" b="1">
                <a:solidFill>
                  <a:srgbClr val="2B2A28"/>
                </a:solidFill>
                <a:latin typeface="Segoe UI"/>
              </a:rPr>
              <a:t>Sound: </a:t>
            </a:r>
            <a:r>
              <a:rPr sz="1600">
                <a:solidFill>
                  <a:srgbClr val="2B2A28"/>
                </a:solidFill>
                <a:latin typeface="Segoe UI"/>
              </a:rPr>
              <a:t>rain, thunder, brown noise, café, ocean, forest, fireplace, crickets, wind - pick one and set its volume (♪ button).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600" b="1">
                <a:solidFill>
                  <a:srgbClr val="2B2A28"/>
                </a:solidFill>
                <a:latin typeface="Segoe UI"/>
              </a:rPr>
              <a:t>Status pill: </a:t>
            </a:r>
            <a:r>
              <a:rPr sz="1600">
                <a:solidFill>
                  <a:srgbClr val="2B2A28"/>
                </a:solidFill>
                <a:latin typeface="Segoe UI"/>
              </a:rPr>
              <a:t>shows what you're doing now (Focus / Idle / Break) and the app in front.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600" b="1">
                <a:solidFill>
                  <a:srgbClr val="2B2A28"/>
                </a:solidFill>
                <a:latin typeface="Segoe UI"/>
              </a:rPr>
              <a:t>Score: </a:t>
            </a:r>
            <a:r>
              <a:rPr sz="1600">
                <a:solidFill>
                  <a:srgbClr val="2B2A28"/>
                </a:solidFill>
                <a:latin typeface="Segoe UI"/>
              </a:rPr>
              <a:t>★ 1-5 focus score for today, updated live.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600" b="1">
                <a:solidFill>
                  <a:srgbClr val="2B2A28"/>
                </a:solidFill>
                <a:latin typeface="Segoe UI"/>
              </a:rPr>
              <a:t>Hide: </a:t>
            </a:r>
            <a:r>
              <a:rPr sz="1600">
                <a:solidFill>
                  <a:srgbClr val="2B2A28"/>
                </a:solidFill>
                <a:latin typeface="Segoe UI"/>
              </a:rPr>
              <a:t>– or ✕ tucks the card back into your pet. Click the pet to bring it back.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600" b="1">
                <a:solidFill>
                  <a:srgbClr val="2B2A28"/>
                </a:solidFill>
                <a:latin typeface="Segoe UI"/>
              </a:rPr>
              <a:t>While you focus, </a:t>
            </a:r>
            <a:r>
              <a:rPr sz="1600">
                <a:solidFill>
                  <a:srgbClr val="2B2A28"/>
                </a:solidFill>
                <a:latin typeface="Segoe UI"/>
              </a:rPr>
              <a:t>your pet wears a little headband and nudges you if you drift to distracting apps.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4CB86B"/>
                </a:solidFill>
                <a:latin typeface="Segoe UI"/>
              </a:rPr>
              <a:t>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2B2A28"/>
                </a:solidFill>
                <a:latin typeface="Segoe UI"/>
              </a:rPr>
              <a:t>Reminders, goals &amp;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E6A62"/>
                </a:solidFill>
                <a:latin typeface="Segoe UI"/>
              </a:rPr>
              <a:t>Pips ·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600" b="1">
                <a:solidFill>
                  <a:srgbClr val="2B2A28"/>
                </a:solidFill>
                <a:latin typeface="Segoe UI"/>
              </a:rPr>
              <a:t>Reminders as bubbles: </a:t>
            </a:r>
            <a:r>
              <a:rPr sz="1600">
                <a:solidFill>
                  <a:srgbClr val="2B2A28"/>
                </a:solidFill>
                <a:latin typeface="Segoe UI"/>
              </a:rPr>
              <a:t>stand-up breaks, drink water, 20-20-20 eye rest, pomodoro done, daily goal reached.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600" b="1">
                <a:solidFill>
                  <a:srgbClr val="2B2A28"/>
                </a:solidFill>
                <a:latin typeface="Segoe UI"/>
              </a:rPr>
              <a:t>Daily goal &amp; streaks: </a:t>
            </a:r>
            <a:r>
              <a:rPr sz="1600">
                <a:solidFill>
                  <a:srgbClr val="2B2A28"/>
                </a:solidFill>
                <a:latin typeface="Segoe UI"/>
              </a:rPr>
              <a:t>set a pomodoro goal; streaks and XP keep you going.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600" b="1">
                <a:solidFill>
                  <a:srgbClr val="2B2A28"/>
                </a:solidFill>
                <a:latin typeface="Segoe UI"/>
              </a:rPr>
              <a:t>Coach tips: </a:t>
            </a:r>
            <a:r>
              <a:rPr sz="1600">
                <a:solidFill>
                  <a:srgbClr val="2B2A28"/>
                </a:solidFill>
                <a:latin typeface="Segoe UI"/>
              </a:rPr>
              <a:t>short, friendly suggestions based on your day.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600" b="1">
                <a:solidFill>
                  <a:srgbClr val="2B2A28"/>
                </a:solidFill>
                <a:latin typeface="Segoe UI"/>
              </a:rPr>
              <a:t>Turn bubbles off: </a:t>
            </a:r>
            <a:r>
              <a:rPr sz="1600">
                <a:solidFill>
                  <a:srgbClr val="2B2A28"/>
                </a:solidFill>
                <a:latin typeface="Segoe UI"/>
              </a:rPr>
              <a:t>Pet status &amp; settings → uncheck “Show reminders &amp; notifications as chat bubbles” (you'll get normal notifications).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394960" cy="438912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2700">
            <a:solidFill>
              <a:srgbClr val="E2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8308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2B2A28"/>
                </a:solidFill>
                <a:latin typeface="Segoe UI"/>
              </a:rPr>
              <a:t>Dashboard (right-click the card → Dashboard)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317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>
                <a:solidFill>
                  <a:srgbClr val="2B2A28"/>
                </a:solidFill>
                <a:latin typeface="Segoe UI"/>
              </a:rPr>
              <a:t>Focus timeline of today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>
                <a:solidFill>
                  <a:srgbClr val="2B2A28"/>
                </a:solidFill>
                <a:latin typeface="Segoe UI"/>
              </a:rPr>
              <a:t>Hour-of-day heatmap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>
                <a:solidFill>
                  <a:srgbClr val="2B2A28"/>
                </a:solidFill>
                <a:latin typeface="Segoe UI"/>
              </a:rPr>
              <a:t>7-day focus score trend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>
                <a:solidFill>
                  <a:srgbClr val="2B2A28"/>
                </a:solidFill>
                <a:latin typeface="Segoe UI"/>
              </a:rPr>
              <a:t>Pomodoros per day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>
                <a:solidFill>
                  <a:srgbClr val="2B2A28"/>
                </a:solidFill>
                <a:latin typeface="Segoe UI"/>
              </a:rPr>
              <a:t>Top apps &amp; time per app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>
                <a:solidFill>
                  <a:srgbClr val="2B2A28"/>
                </a:solidFill>
                <a:latin typeface="Segoe UI"/>
              </a:rPr>
              <a:t>History, weekly and monthly reports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4CB86B"/>
                </a:solidFill>
                <a:latin typeface="Segoe UI"/>
              </a:rPr>
              <a:t>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2B2A28"/>
                </a:solidFill>
                <a:latin typeface="Segoe UI"/>
              </a:rPr>
              <a:t>Friends, profiles, ranks &amp; badges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E6A62"/>
                </a:solidFill>
                <a:latin typeface="Segoe UI"/>
              </a:rPr>
              <a:t>Pips ·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600" b="1">
                <a:solidFill>
                  <a:srgbClr val="2B2A28"/>
                </a:solidFill>
                <a:latin typeface="Segoe UI"/>
              </a:rPr>
              <a:t>Levels &amp; XP: </a:t>
            </a:r>
            <a:r>
              <a:rPr sz="1600">
                <a:solidFill>
                  <a:srgbClr val="2B2A28"/>
                </a:solidFill>
                <a:latin typeface="Segoe UI"/>
              </a:rPr>
              <a:t>every finished pomodoro gives XP - level up as you focus.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600" b="1">
                <a:solidFill>
                  <a:srgbClr val="2B2A28"/>
                </a:solidFill>
                <a:latin typeface="Segoe UI"/>
              </a:rPr>
              <a:t>22 achievements: </a:t>
            </a:r>
            <a:r>
              <a:rPr sz="1600">
                <a:solidFill>
                  <a:srgbClr val="2B2A28"/>
                </a:solidFill>
                <a:latin typeface="Segoe UI"/>
              </a:rPr>
              <a:t>first tomato, 4 / 8 in a day, 3 / 7 / 14-day streaks, early bird, night owl, pet lover... Your pet celebrates each one.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600" b="1">
                <a:solidFill>
                  <a:srgbClr val="2B2A28"/>
                </a:solidFill>
                <a:latin typeface="Segoe UI"/>
              </a:rPr>
              <a:t>Open: </a:t>
            </a:r>
            <a:r>
              <a:rPr sz="1600">
                <a:solidFill>
                  <a:srgbClr val="2B2A28"/>
                </a:solidFill>
                <a:latin typeface="Segoe UI"/>
              </a:rPr>
              <a:t>click the pet (or right-click → Pips hub…).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600" b="1">
                <a:solidFill>
                  <a:srgbClr val="2B2A28"/>
                </a:solidFill>
                <a:latin typeface="Segoe UI"/>
              </a:rPr>
              <a:t>Works offline: </a:t>
            </a:r>
            <a:r>
              <a:rPr sz="1600">
                <a:solidFill>
                  <a:srgbClr val="2B2A28"/>
                </a:solidFill>
                <a:latin typeface="Segoe UI"/>
              </a:rPr>
              <a:t>levels and achievements are calculated on your PC.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394960" cy="438912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2700">
            <a:solidFill>
              <a:srgbClr val="E2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8308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2B2A28"/>
                </a:solidFill>
                <a:latin typeface="Segoe UI"/>
              </a:rPr>
              <a:t>Friends (optional, off by default)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317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300">
                <a:solidFill>
                  <a:srgbClr val="2B2A28"/>
                </a:solidFill>
                <a:latin typeface="Segoe UI"/>
              </a:rPr>
              <a:t>Turn on Friends, swap 6-letter friend codes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300">
                <a:solidFill>
                  <a:srgbClr val="2B2A28"/>
                </a:solidFill>
                <a:latin typeface="Segoe UI"/>
              </a:rPr>
              <a:t>Chat with friends and in your own groups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300">
                <a:solidFill>
                  <a:srgbClr val="2B2A28"/>
                </a:solidFill>
                <a:latin typeface="Segoe UI"/>
              </a:rPr>
              <a:t>Wave, pet, send a snack, high five - or send your pet to visit their desktop!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300">
                <a:solidFill>
                  <a:srgbClr val="2B2A28"/>
                </a:solidFill>
                <a:latin typeface="Segoe UI"/>
              </a:rPr>
              <a:t>Affinity: friendship grows from Acquaintance to Soulmates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300">
                <a:solidFill>
                  <a:srgbClr val="2B2A28"/>
                </a:solidFill>
                <a:latin typeface="Segoe UI"/>
              </a:rPr>
              <a:t>Create a private group and invite friends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300">
                <a:solidFill>
                  <a:srgbClr val="2B2A28"/>
                </a:solidFill>
                <a:latin typeface="Segoe UI"/>
              </a:rPr>
              <a:t>Ranks: everyone on Pips by XP, badges or streak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300">
                <a:solidFill>
                  <a:srgbClr val="2B2A28"/>
                </a:solidFill>
                <a:latin typeface="Segoe UI"/>
              </a:rPr>
              <a:t>Profile: photo, bio, info, status (online / busy / away) - public or private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300">
                <a:solidFill>
                  <a:srgbClr val="2B2A28"/>
                </a:solidFill>
                <a:latin typeface="Segoe UI"/>
              </a:rPr>
              <a:t>Label friends: Bro, Bestie, Partner, Soulmate...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300">
                <a:solidFill>
                  <a:srgbClr val="2B2A28"/>
                </a:solidFill>
                <a:latin typeface="Segoe UI"/>
              </a:rPr>
              <a:t>Never shared: apps, window titles, scores, files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300">
                <a:solidFill>
                  <a:srgbClr val="2B2A28"/>
                </a:solidFill>
                <a:latin typeface="Segoe UI"/>
              </a:rPr>
              <a:t>One click turns it off and deletes your online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4CB86B"/>
                </a:solidFill>
                <a:latin typeface="Segoe UI"/>
              </a:rPr>
              <a:t>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2B2A28"/>
                </a:solidFill>
                <a:latin typeface="Segoe UI"/>
              </a:rPr>
              <a:t>Shop: props &amp; moves for your pet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E6A62"/>
                </a:solidFill>
                <a:latin typeface="Segoe UI"/>
              </a:rPr>
              <a:t>Pips ·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 b="1">
                <a:solidFill>
                  <a:srgbClr val="2B2A28"/>
                </a:solidFill>
                <a:latin typeface="Segoe UI"/>
              </a:rPr>
              <a:t>Open: </a:t>
            </a:r>
            <a:r>
              <a:rPr sz="1500">
                <a:solidFill>
                  <a:srgbClr val="2B2A28"/>
                </a:solidFill>
                <a:latin typeface="Segoe UI"/>
              </a:rPr>
              <a:t>click the pet → Shop tab (or right-click → Shop…).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 b="1">
                <a:solidFill>
                  <a:srgbClr val="2B2A28"/>
                </a:solidFill>
                <a:latin typeface="Segoe UI"/>
              </a:rPr>
              <a:t>Coins: </a:t>
            </a:r>
            <a:r>
              <a:rPr sz="1500">
                <a:solidFill>
                  <a:srgbClr val="2B2A28"/>
                </a:solidFill>
                <a:latin typeface="Segoe UI"/>
              </a:rPr>
              <a:t>level up +40, badges +25, open Pips each day +10, friendship +15 per affinity level, wave / chat / visit a friend +2, pomodoro +5. Start gift: 100.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 b="1">
                <a:solidFill>
                  <a:srgbClr val="2B2A28"/>
                </a:solidFill>
                <a:latin typeface="Segoe UI"/>
              </a:rPr>
              <a:t>Props: </a:t>
            </a:r>
            <a:r>
              <a:rPr sz="1500">
                <a:solidFill>
                  <a:srgbClr val="2B2A28"/>
                </a:solidFill>
                <a:latin typeface="Segoe UI"/>
              </a:rPr>
              <a:t>17 to collect - crown, wizard hat, headphones, shades, scarf, cape, wings... Wear one per slot: head, face, neck, back.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 b="1">
                <a:solidFill>
                  <a:srgbClr val="2B2A28"/>
                </a:solidFill>
                <a:latin typeface="Segoe UI"/>
              </a:rPr>
              <a:t>Moves: </a:t>
            </a:r>
            <a:r>
              <a:rPr sz="1500">
                <a:solidFill>
                  <a:srgbClr val="2B2A28"/>
                </a:solidFill>
                <a:latin typeface="Segoe UI"/>
              </a:rPr>
              <a:t>spin, dance, moonwalk, backflip, kung fu, spider swing. Right-click → Do a trick - your happy pet also shows off on its own.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 b="1">
                <a:solidFill>
                  <a:srgbClr val="2B2A28"/>
                </a:solidFill>
                <a:latin typeface="Segoe UI"/>
              </a:rPr>
              <a:t>Friends see it: </a:t>
            </a:r>
            <a:r>
              <a:rPr sz="1500">
                <a:solidFill>
                  <a:srgbClr val="2B2A28"/>
                </a:solidFill>
                <a:latin typeface="Segoe UI"/>
              </a:rPr>
              <a:t>your props appear on your avatar, and your pet does a move when it visits a friend's desktop.</a:t>
            </a:r>
          </a:p>
        </p:txBody>
      </p:sp>
      <p:pic>
        <p:nvPicPr>
          <p:cNvPr id="8" name="Picture 7" descr="s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8085" y="1463040"/>
            <a:ext cx="3028950" cy="4846320"/>
          </a:xfrm>
          <a:prstGeom prst="rect">
            <a:avLst/>
          </a:prstGeom>
          <a:ln w="12700">
            <a:solidFill>
              <a:srgbClr val="E2DCCE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949440" y="6355080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6E6A62"/>
                </a:solidFill>
                <a:latin typeface="Segoe UI"/>
              </a:rPr>
              <a:t>The Shop tab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4CB86B"/>
                </a:solidFill>
                <a:latin typeface="Segoe UI"/>
              </a:rPr>
              <a:t>CUSTOMIZE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2B2A28"/>
                </a:solidFill>
                <a:latin typeface="Segoe UI"/>
              </a:rPr>
              <a:t>Make it yours: Pet status &amp; settings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E6A62"/>
                </a:solidFill>
                <a:latin typeface="Segoe UI"/>
              </a:rPr>
              <a:t>Pips · 13</a:t>
            </a:r>
          </a:p>
        </p:txBody>
      </p:sp>
      <p:pic>
        <p:nvPicPr>
          <p:cNvPr id="7" name="Picture 6" descr="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70" y="1508760"/>
            <a:ext cx="1850100" cy="4846320"/>
          </a:xfrm>
          <a:prstGeom prst="rect">
            <a:avLst/>
          </a:prstGeom>
          <a:ln w="12700">
            <a:solidFill>
              <a:srgbClr val="E2DCC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65760" y="6382512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6E6A62"/>
                </a:solidFill>
                <a:latin typeface="Segoe UI"/>
              </a:rPr>
              <a:t>(shown in Bahasa Indonesia)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60020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Segoe UI"/>
              </a:rPr>
              <a:t>Right-click the pet → Pet status &amp; settings…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 b="1">
                <a:solidFill>
                  <a:srgbClr val="2B2A28"/>
                </a:solidFill>
                <a:latin typeface="Segoe UI"/>
              </a:rPr>
              <a:t>Status: </a:t>
            </a:r>
            <a:r>
              <a:rPr sz="1500">
                <a:solidFill>
                  <a:srgbClr val="2B2A28"/>
                </a:solidFill>
                <a:latin typeface="Segoe UI"/>
              </a:rPr>
              <a:t>mood + happiness, energy, food, bond bars.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 b="1">
                <a:solidFill>
                  <a:srgbClr val="2B2A28"/>
                </a:solidFill>
                <a:latin typeface="Segoe UI"/>
              </a:rPr>
              <a:t>Animal: </a:t>
            </a:r>
            <a:r>
              <a:rPr sz="1500">
                <a:solidFill>
                  <a:srgbClr val="2B2A28"/>
                </a:solidFill>
                <a:latin typeface="Segoe UI"/>
              </a:rPr>
              <a:t>Land / Water / Sky tabs - click a tile.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 b="1">
                <a:solidFill>
                  <a:srgbClr val="2B2A28"/>
                </a:solidFill>
                <a:latin typeface="Segoe UI"/>
              </a:rPr>
              <a:t>Look: </a:t>
            </a:r>
            <a:r>
              <a:rPr sz="1500">
                <a:solidFill>
                  <a:srgbClr val="2B2A28"/>
                </a:solidFill>
                <a:latin typeface="Segoe UI"/>
              </a:rPr>
              <a:t>name, colour, cheeks, size S / M / L.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 b="1">
                <a:solidFill>
                  <a:srgbClr val="2B2A28"/>
                </a:solidFill>
                <a:latin typeface="Segoe UI"/>
              </a:rPr>
              <a:t>Language: </a:t>
            </a:r>
            <a:r>
              <a:rPr sz="1500">
                <a:solidFill>
                  <a:srgbClr val="2B2A28"/>
                </a:solidFill>
                <a:latin typeface="Segoe UI"/>
              </a:rPr>
              <a:t>switch instantly.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400">
                <a:solidFill>
                  <a:srgbClr val="2B2A28"/>
                </a:solidFill>
                <a:latin typeface="Segoe UI"/>
              </a:rPr>
              <a:t>Click action: open hub · open focus timer · tickle (double-click opens) · only tickle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400">
                <a:solidFill>
                  <a:srgbClr val="2B2A28"/>
                </a:solidFill>
                <a:latin typeface="Segoe UI"/>
              </a:rPr>
              <a:t>Show reminders as chat bubbles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400">
                <a:solidFill>
                  <a:srgbClr val="2B2A28"/>
                </a:solidFill>
                <a:latin typeface="Segoe UI"/>
              </a:rPr>
              <a:t>Walk around on the taskbar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400">
                <a:solidFill>
                  <a:srgbClr val="2B2A28"/>
                </a:solidFill>
                <a:latin typeface="Segoe UI"/>
              </a:rPr>
              <a:t>Gravity (falls when dropped)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400">
                <a:solidFill>
                  <a:srgbClr val="2B2A28"/>
                </a:solidFill>
                <a:latin typeface="Segoe UI"/>
              </a:rPr>
              <a:t>Nap when I'm away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400">
                <a:solidFill>
                  <a:srgbClr val="2B2A28"/>
                </a:solidFill>
                <a:latin typeface="Segoe UI"/>
              </a:rPr>
              <a:t>Open the card next to the pet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400">
                <a:solidFill>
                  <a:srgbClr val="2B2A28"/>
                </a:solidFill>
                <a:latin typeface="Segoe UI"/>
              </a:rPr>
              <a:t>Chatty (little messages)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400">
                <a:solidFill>
                  <a:srgbClr val="2B2A28"/>
                </a:solidFill>
                <a:latin typeface="Segoe UI"/>
              </a:rPr>
              <a:t>Hide during full-screen apps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400">
                <a:solidFill>
                  <a:srgbClr val="2B2A28"/>
                </a:solidFill>
                <a:latin typeface="Segoe UI"/>
              </a:rPr>
              <a:t>Check for updates automatically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400">
                <a:solidFill>
                  <a:srgbClr val="2B2A28"/>
                </a:solidFill>
                <a:latin typeface="Segoe UI"/>
              </a:rPr>
              <a:t>Animal sounds + volume (quiet while focusing)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400">
                <a:solidFill>
                  <a:srgbClr val="2B2A28"/>
                </a:solidFill>
                <a:latin typeface="Segoe UI"/>
              </a:rPr>
              <a:t>Dark mode (also: right-click the pet → Dark mode)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4CB86B"/>
                </a:solidFill>
                <a:latin typeface="Segoe UI"/>
              </a:rPr>
              <a:t>CUSTOMIZE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2B2A28"/>
                </a:solidFill>
                <a:latin typeface="Segoe UI"/>
              </a:rPr>
              <a:t>Languages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E6A62"/>
                </a:solidFill>
                <a:latin typeface="Segoe UI"/>
              </a:rPr>
              <a:t>Pips ·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2700">
            <a:solidFill>
              <a:srgbClr val="E2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6060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2B2A28"/>
                </a:solidFill>
                <a:latin typeface="Microsoft JhengHei"/>
              </a:rPr>
              <a:t>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0">
                <a:solidFill>
                  <a:srgbClr val="6E6A62"/>
                </a:solidFill>
                <a:latin typeface="Microsoft JhengHei"/>
              </a:rPr>
              <a:t>Hello!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73736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2700">
            <a:solidFill>
              <a:srgbClr val="E2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920240"/>
            <a:ext cx="26060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2B2A28"/>
                </a:solidFill>
                <a:latin typeface="Microsoft JhengHei"/>
              </a:rPr>
              <a:t>Bahasa Indonesia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51460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0">
                <a:solidFill>
                  <a:srgbClr val="6E6A62"/>
                </a:solidFill>
                <a:latin typeface="Microsoft JhengHei"/>
              </a:rPr>
              <a:t>Halo!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2700">
            <a:solidFill>
              <a:srgbClr val="E2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26060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2B2A28"/>
                </a:solidFill>
                <a:latin typeface="Microsoft JhengHei"/>
              </a:rPr>
              <a:t>繁體中文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51460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0">
                <a:solidFill>
                  <a:srgbClr val="6E6A62"/>
                </a:solidFill>
                <a:latin typeface="Microsoft JhengHei"/>
              </a:rPr>
              <a:t>你好！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73736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2700">
            <a:solidFill>
              <a:srgbClr val="E2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920240"/>
            <a:ext cx="26060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2B2A28"/>
                </a:solidFill>
                <a:latin typeface="Microsoft JhengHei"/>
              </a:rPr>
              <a:t>简体中文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51460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0">
                <a:solidFill>
                  <a:srgbClr val="6E6A62"/>
                </a:solidFill>
                <a:latin typeface="Microsoft JhengHei"/>
              </a:rPr>
              <a:t>你好！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566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700" b="1">
                <a:solidFill>
                  <a:srgbClr val="2B2A28"/>
                </a:solidFill>
                <a:latin typeface="Segoe UI"/>
              </a:rPr>
              <a:t>Change anytime: </a:t>
            </a:r>
            <a:r>
              <a:rPr sz="1700">
                <a:solidFill>
                  <a:srgbClr val="2B2A28"/>
                </a:solidFill>
                <a:latin typeface="Segoe UI"/>
              </a:rPr>
              <a:t>right-click the pet (or the card) → Language. Everything switches instantly - menus, bubbles, reminders, the card.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700" b="1">
                <a:solidFill>
                  <a:srgbClr val="2B2A28"/>
                </a:solidFill>
                <a:latin typeface="Segoe UI"/>
              </a:rPr>
              <a:t>First start: </a:t>
            </a:r>
            <a:r>
              <a:rPr sz="1700">
                <a:solidFill>
                  <a:srgbClr val="2B2A28"/>
                </a:solidFill>
                <a:latin typeface="Segoe UI"/>
              </a:rPr>
              <a:t>Pips guesses from your Windows language and asks once.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700" b="1">
                <a:solidFill>
                  <a:srgbClr val="2B2A28"/>
                </a:solidFill>
                <a:latin typeface="Segoe UI"/>
              </a:rPr>
              <a:t>Update notes </a:t>
            </a:r>
            <a:r>
              <a:rPr sz="1700">
                <a:solidFill>
                  <a:srgbClr val="2B2A28"/>
                </a:solidFill>
                <a:latin typeface="Segoe UI"/>
              </a:rPr>
              <a:t>are shown in your language too.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4CB86B"/>
                </a:solidFill>
                <a:latin typeface="Segoe UI"/>
              </a:rPr>
              <a:t>NEW IN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2B2A28"/>
                </a:solidFill>
                <a:latin typeface="Segoe UI"/>
              </a:rPr>
              <a:t>Updates - right inside Pips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E6A62"/>
                </a:solidFill>
                <a:latin typeface="Segoe UI"/>
              </a:rPr>
              <a:t>Pips · 15</a:t>
            </a:r>
          </a:p>
        </p:txBody>
      </p:sp>
      <p:pic>
        <p:nvPicPr>
          <p:cNvPr id="7" name="Picture 6" descr="update_of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153" y="1645920"/>
            <a:ext cx="4890733" cy="3291840"/>
          </a:xfrm>
          <a:prstGeom prst="rect">
            <a:avLst/>
          </a:prstGeom>
          <a:ln w="12700">
            <a:solidFill>
              <a:srgbClr val="E2DCC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49834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6E6A62"/>
                </a:solidFill>
                <a:latin typeface="Segoe UI"/>
              </a:rPr>
              <a:t>Example of an update notice (sample version 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 b="1">
                <a:solidFill>
                  <a:srgbClr val="2B2A28"/>
                </a:solidFill>
                <a:latin typeface="Segoe UI"/>
              </a:rPr>
              <a:t>Automatic check: </a:t>
            </a:r>
            <a:r>
              <a:rPr sz="1500">
                <a:solidFill>
                  <a:srgbClr val="2B2A28"/>
                </a:solidFill>
                <a:latin typeface="Segoe UI"/>
              </a:rPr>
              <a:t>shortly after start and every 6 hours (needs internet).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 b="1">
                <a:solidFill>
                  <a:srgbClr val="2B2A28"/>
                </a:solidFill>
                <a:latin typeface="Segoe UI"/>
              </a:rPr>
              <a:t>Your pet tells you </a:t>
            </a:r>
            <a:r>
              <a:rPr sz="1500">
                <a:solidFill>
                  <a:srgbClr val="2B2A28"/>
                </a:solidFill>
                <a:latin typeface="Segoe UI"/>
              </a:rPr>
              <a:t>what's new and offers: Update now · Later · Skip this version.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 b="1">
                <a:solidFill>
                  <a:srgbClr val="2B2A28"/>
                </a:solidFill>
                <a:latin typeface="Segoe UI"/>
              </a:rPr>
              <a:t>Update now: </a:t>
            </a:r>
            <a:r>
              <a:rPr sz="1500">
                <a:solidFill>
                  <a:srgbClr val="2B2A28"/>
                </a:solidFill>
                <a:latin typeface="Segoe UI"/>
              </a:rPr>
              <a:t>downloads, verifies (SHA-256), installs and restarts Pips by itself - about 10 seconds.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 b="1">
                <a:solidFill>
                  <a:srgbClr val="2B2A28"/>
                </a:solidFill>
                <a:latin typeface="Segoe UI"/>
              </a:rPr>
              <a:t>Your stuff is safe: </a:t>
            </a:r>
            <a:r>
              <a:rPr sz="1500">
                <a:solidFill>
                  <a:srgbClr val="2B2A28"/>
                </a:solidFill>
                <a:latin typeface="Segoe UI"/>
              </a:rPr>
              <a:t>settings, pet, history and reports are never touched. The old version is backed up in the backup\ folder.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 b="1">
                <a:solidFill>
                  <a:srgbClr val="2B2A28"/>
                </a:solidFill>
                <a:latin typeface="Segoe UI"/>
              </a:rPr>
              <a:t>Manual check: </a:t>
            </a:r>
            <a:r>
              <a:rPr sz="1500">
                <a:solidFill>
                  <a:srgbClr val="2B2A28"/>
                </a:solidFill>
                <a:latin typeface="Segoe UI"/>
              </a:rPr>
              <a:t>right-click the pet → Help → Check for updates.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500" b="1">
                <a:solidFill>
                  <a:srgbClr val="2B2A28"/>
                </a:solidFill>
                <a:latin typeface="Segoe UI"/>
              </a:rPr>
              <a:t>Don't want it? </a:t>
            </a:r>
            <a:r>
              <a:rPr sz="1500">
                <a:solidFill>
                  <a:srgbClr val="2B2A28"/>
                </a:solidFill>
                <a:latin typeface="Segoe UI"/>
              </a:rPr>
              <a:t>Pet status &amp; settings → uncheck “Check for updates automatically”.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4CB86B"/>
                </a:solidFill>
                <a:latin typeface="Segoe UI"/>
              </a:rPr>
              <a:t>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2B2A28"/>
                </a:solidFill>
                <a:latin typeface="Segoe UI"/>
              </a:rPr>
              <a:t>Troubleshooting &amp; FAQ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E6A62"/>
                </a:solidFill>
                <a:latin typeface="Segoe UI"/>
              </a:rPr>
              <a:t>Pips ·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1115568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80467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Problem</a:t>
                      </a:r>
                    </a:p>
                  </a:txBody>
                  <a:tcPr marL="73152" marR="73152" marT="36576" marB="36576">
                    <a:solidFill>
                      <a:srgbClr val="8B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Try this</a:t>
                      </a:r>
                    </a:p>
                  </a:txBody>
                  <a:tcPr marL="73152" marR="73152" marT="36576" marB="36576">
                    <a:solidFill>
                      <a:srgbClr val="8B1A1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B2A28"/>
                          </a:solidFill>
                          <a:latin typeface="Segoe UI"/>
                        </a:rPr>
                        <a:t>Nothing happens when I start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2A28"/>
                          </a:solidFill>
                          <a:latin typeface="Segoe UI"/>
                        </a:rPr>
                        <a:t>Install Python 3 from python.org (tick “Add to PATH”), then run Start Pips.bat again.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B2A28"/>
                          </a:solidFill>
                          <a:latin typeface="Segoe UI"/>
                        </a:rPr>
                        <a:t>“Windows protected your PC”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2A28"/>
                          </a:solidFill>
                          <a:latin typeface="Segoe UI"/>
                        </a:rPr>
                        <a:t>Click More info → Run anyway (the .bat just starts Python).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B2A28"/>
                          </a:solidFill>
                          <a:latin typeface="Segoe UI"/>
                        </a:rPr>
                        <a:t>Where is my pet?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2A28"/>
                          </a:solidFill>
                          <a:latin typeface="Segoe UI"/>
                        </a:rPr>
                        <a:t>Look on the taskbar. Right-click the card → Pet → Show. It hides during full-screen apps.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B2A28"/>
                          </a:solidFill>
                          <a:latin typeface="Segoe UI"/>
                        </a:rPr>
                        <a:t>The focus card is gone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2A28"/>
                          </a:solidFill>
                          <a:latin typeface="Segoe UI"/>
                        </a:rPr>
                        <a:t>Right-click the pet → Focus timer → Open. Or restart Pips.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B2A28"/>
                          </a:solidFill>
                          <a:latin typeface="Segoe UI"/>
                        </a:rPr>
                        <a:t>Update failed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2A28"/>
                          </a:solidFill>
                          <a:latin typeface="Segoe UI"/>
                        </a:rPr>
                        <a:t>Check internet / proxy, try Help → Check for updates later, or download the zip again and unzip over the old folder.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B2A28"/>
                          </a:solidFill>
                          <a:latin typeface="Segoe UI"/>
                        </a:rPr>
                        <a:t>Move Pips to another PC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2A28"/>
                          </a:solidFill>
                          <a:latin typeface="Segoe UI"/>
                        </a:rPr>
                        <a:t>Copy the whole folder - config.json and data\ keep your settings and history.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B2A28"/>
                          </a:solidFill>
                          <a:latin typeface="Segoe UI"/>
                        </a:rPr>
                        <a:t>Uninstall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2A28"/>
                          </a:solidFill>
                          <a:latin typeface="Segoe UI"/>
                        </a:rPr>
                        <a:t>Quit (right-click → Quit), disable Autostart, delete the folder.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4CB86B"/>
                </a:solidFill>
                <a:latin typeface="Segoe UI"/>
              </a:rPr>
              <a:t>RELEASE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2B2A28"/>
                </a:solidFill>
                <a:latin typeface="Segoe UI"/>
              </a:rPr>
              <a:t>What's new in 2.6.0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E6A62"/>
                </a:solidFill>
                <a:latin typeface="Segoe UI"/>
              </a:rPr>
              <a:t>Pips ·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Segoe UI"/>
              </a:rPr>
              <a:t>Profiles, ranks, online status &amp; dark mode  ·  2026-10-28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700">
                <a:solidFill>
                  <a:srgbClr val="2B2A28"/>
                </a:solidFill>
                <a:latin typeface="Segoe UI"/>
              </a:rPr>
              <a:t>Profile tab: profile picture (or your pet), about me, job, location, hobbies, birthday and a status message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700">
                <a:solidFill>
                  <a:srgbClr val="2B2A28"/>
                </a:solidFill>
                <a:latin typeface="Segoe UI"/>
              </a:rPr>
              <a:t>Public or private: public profiles can be added directly and viewed in full; private profiles need a friend request that they accept, and strangers only see name, photo, pet, level and status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700">
                <a:solidFill>
                  <a:srgbClr val="2B2A28"/>
                </a:solidFill>
                <a:latin typeface="Segoe UI"/>
              </a:rPr>
              <a:t>Click anyone to open their profile - badges, info, their friends - and add them, chat or wave from there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700">
                <a:solidFill>
                  <a:srgbClr val="2B2A28"/>
                </a:solidFill>
                <a:latin typeface="Segoe UI"/>
              </a:rPr>
              <a:t>Ranks tab replaces Teams: everyone using Pips, sorted by XP, badges or streak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700">
                <a:solidFill>
                  <a:srgbClr val="2B2A28"/>
                </a:solidFill>
                <a:latin typeface="Segoe UI"/>
              </a:rPr>
              <a:t>Online status: auto (online / away when idle / offline) or set Online, Busy, Away or Appear offline yourself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700">
                <a:solidFill>
                  <a:srgbClr val="2B2A28"/>
                </a:solidFill>
                <a:latin typeface="Segoe UI"/>
              </a:rPr>
              <a:t>Relationship labels for friends: Buddy, Bro, Sis, Bestie, Partner, Soulmate, Family, Work buddy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700">
                <a:solidFill>
                  <a:srgbClr val="2B2A28"/>
                </a:solidFill>
                <a:latin typeface="Segoe UI"/>
              </a:rPr>
              <a:t>Dark mode: Profile tab or right-click the pet → Dark mode (hub, settings and the focus card)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2103120"/>
            <a:ext cx="4114800" cy="4023360"/>
          </a:xfrm>
          <a:prstGeom prst="roundRect">
            <a:avLst>
              <a:gd name="adj" fmla="val 6000"/>
            </a:avLst>
          </a:prstGeom>
          <a:solidFill>
            <a:srgbClr val="E4F5E8"/>
          </a:solidFill>
          <a:ln w="12700">
            <a:solidFill>
              <a:srgbClr val="4CB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2194560"/>
            <a:ext cx="374903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4CB86B"/>
                </a:solidFill>
                <a:latin typeface="Segoe UI"/>
              </a:rPr>
              <a:t>Bahasa Indonesia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560320"/>
            <a:ext cx="37490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200">
                <a:solidFill>
                  <a:srgbClr val="2B2A28"/>
                </a:solidFill>
                <a:latin typeface="Segoe UI"/>
              </a:rPr>
              <a:t>Tab Profil: foto profil (atau peliharaanmu), tentang aku, pekerjaan, lokasi, hobi, ulang tahun dan pesan status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200">
                <a:solidFill>
                  <a:srgbClr val="2B2A28"/>
                </a:solidFill>
                <a:latin typeface="Segoe UI"/>
              </a:rPr>
              <a:t>Publik atau pribadi: profil publik bisa langsung ditambahkan dan dilihat lengkap; profil pribadi perlu permintaan pertemanan yang diterima, dan orang asing hanya melihat nama, foto, peliharaan, level dan status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200">
                <a:solidFill>
                  <a:srgbClr val="2B2A28"/>
                </a:solidFill>
                <a:latin typeface="Segoe UI"/>
              </a:rPr>
              <a:t>Klik siapa saja untuk membuka profilnya - lencana, info, teman-temannya - lalu tambahkan, chat atau lambaikan dari sana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200">
                <a:solidFill>
                  <a:srgbClr val="2B2A28"/>
                </a:solidFill>
                <a:latin typeface="Segoe UI"/>
              </a:rPr>
              <a:t>Tab Peringkat menggantikan Tim: semua pengguna Pips, diurutkan menurut XP, lencana atau beruntun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200">
                <a:solidFill>
                  <a:srgbClr val="2B2A28"/>
                </a:solidFill>
                <a:latin typeface="Segoe UI"/>
              </a:rPr>
              <a:t>Status online: otomatis (online / pergi saat tidak aktif / offline) atau atur sendiri Online, Sibuk, Pergi atau tampak offline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200">
                <a:solidFill>
                  <a:srgbClr val="2B2A28"/>
                </a:solidFill>
                <a:latin typeface="Segoe UI"/>
              </a:rPr>
              <a:t>Label hubungan untuk teman: Sobat, Bro, Sis, Sahabat, Pasangan, Belahan jiwa, Keluarga, Rekan kerja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CB86B"/>
                </a:solidFill>
                <a:latin typeface="Segoe UI"/>
              </a:rPr>
              <a:t>•  </a:t>
            </a:r>
            <a:r>
              <a:rPr sz="1200">
                <a:solidFill>
                  <a:srgbClr val="2B2A28"/>
                </a:solidFill>
                <a:latin typeface="Segoe UI"/>
              </a:rPr>
              <a:t>Mode gelap: tab Profil atau klik kanan peliharaan → Mode gelap (hub, pengaturan dan kartu fokus)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4CB86B"/>
                </a:solidFill>
                <a:latin typeface="Segoe UI"/>
              </a:rPr>
              <a:t>RELEASE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2B2A28"/>
                </a:solidFill>
                <a:latin typeface="Segoe UI"/>
              </a:rPr>
              <a:t>Version history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E6A62"/>
                </a:solidFill>
                <a:latin typeface="Segoe UI"/>
              </a:rPr>
              <a:t>Pips ·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11155680" cy="10259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463040"/>
                <a:gridCol w="85039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Version</a:t>
                      </a:r>
                    </a:p>
                  </a:txBody>
                  <a:tcPr marL="73152" marR="73152" marT="36576" marB="36576">
                    <a:solidFill>
                      <a:srgbClr val="8B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Date</a:t>
                      </a:r>
                    </a:p>
                  </a:txBody>
                  <a:tcPr marL="73152" marR="73152" marT="36576" marB="36576">
                    <a:solidFill>
                      <a:srgbClr val="8B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Highlights</a:t>
                      </a:r>
                    </a:p>
                  </a:txBody>
                  <a:tcPr marL="73152" marR="73152" marT="36576" marB="36576">
                    <a:solidFill>
                      <a:srgbClr val="8B1A1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B2A28"/>
                          </a:solidFill>
                          <a:latin typeface="Segoe UI"/>
                        </a:rPr>
                        <a:t>2.6.0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2026-10-28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Profiles, ranks, online status &amp; dark mode</a:t>
                      </a:r>
                    </a:p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Profile tab: profile picture (or your pet), about me, job, location, hobbies, birthday and a status message; Public or private: public profiles can be added directly and viewed in full; private profiles need a friend request that they accept, and strangers only see name, photo, pet, level and status; Click anyone to open their profile - badges, info, their friends - and add them, chat or wave from there; Ranks tab replaces Teams: everyone using Pips, sorted by XP, badges or streak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B2A28"/>
                          </a:solidFill>
                          <a:latin typeface="Segoe UI"/>
                        </a:rPr>
                        <a:t>2.5.1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2026-10-28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New cute Pips logo</a:t>
                      </a:r>
                    </a:p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New Pips logo: Pip the cat on a Pips-red tile, matching the app colours (desktop shortcut, windows and website)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B2A28"/>
                          </a:solidFill>
                          <a:latin typeface="Segoe UI"/>
                        </a:rPr>
                        <a:t>2.5.0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2026-10-28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Shop, coins, props &amp; moves</a:t>
                      </a:r>
                    </a:p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Shop: earn coins and spend them on your pet - 17 props (crown, wizard hat, headphones, shades, scarf, cape, angel wings...) and 6 moves: spin, dance, moonwalk, backflip, kung fu and spider swing!; Coins come from leveling up (+40), badges (+25), opening Pips each day (+10), friendships (+15 per affinity level), waving / chatting / visiting friends (+2) and pomodoros (+5). Everyone starts with a 100-coin gift; Your friends see your props: on avatars in the hub and when your pet visits their desktop - it shows off one of your moves; Pips is now a social pet: clicking the pet opens the Pips hub (friends, chat, groups, shop, badges)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B2A28"/>
                          </a:solidFill>
                          <a:latin typeface="Segoe UI"/>
                        </a:rPr>
                        <a:t>2.4.0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2026-10-28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Chat, groups, affinity &amp; pet visits</a:t>
                      </a:r>
                    </a:p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Chat: message your friends, and chat inside groups. Your pet pops up new messages as a bubble - click it to reply; Pet interactions: wave, pet their pet, send a snack, high five - or send your pet to visit: it walks onto your friend's desktop for a little while!; Affinity: every chat and interaction grows your friendship - Acquaintance → Buddy → Good friends → Close friends → Best friends → Soulmates; Your own groups: create a private group, invite your friends, they accept or decline. Group board + group chat; the owner can remove members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B2A28"/>
                          </a:solidFill>
                          <a:latin typeface="Segoe UI"/>
                        </a:rPr>
                        <a:t>2.3.0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2026-10-28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Friends, levels &amp; achievements</a:t>
                      </a:r>
                    </a:p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Levels &amp; XP: every finished pomodoro earns XP and your level grows - plus 20 achievements to unlock (first tomato, 8 in a day, 7-day streak, early bird, night owl, pet lover...). Your pet celebrates each one; Friends (optional, off by default): get a 6-letter friend code, add colleagues, see today's board and join a team board like PTB. Your pet tells you when a friend finishes a pomodoro; Privacy: only your name, pet, level, streak and pomodoro counts are shared - never apps, window titles or scores. One click turns it off and deletes your online data. Right-click the pet → Friends &amp; achievements…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B2A28"/>
                          </a:solidFill>
                          <a:latin typeface="Segoe UI"/>
                        </a:rPr>
                        <a:t>2.2.0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2026-10-28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Pet sounds</a:t>
                      </a:r>
                    </a:p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Your pet has a voice! Each of the 23 animals has its own sound (meow, woof, ribbit, hoot, buzz, oink, whale song...) and it changes with its mood: happy chirps, sad whimpers, sleepy yawns, hungry calls, grumpy huffs and soft snores; It also reacts with sound when you tickle, pet, feed, shake or wake it; Settings: right-click the pet → Sounds to switch on/off; Pet status &amp; settings has a volume slider, a ▶ Hear me button and "Stay quiet while I'm focusing" (on by default)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B2A28"/>
                          </a:solidFill>
                          <a:latin typeface="Segoe UI"/>
                        </a:rPr>
                        <a:t>2.1.2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2026-10-28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Tickle-only mode</a:t>
                      </a:r>
                    </a:p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New click option "Only tickle (never open Pips)": click and tickle your pet as much as you like - the Pomodoro window stays closed (open it from the right-click menu). Right-click the pet → When I click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B2A28"/>
                          </a:solidFill>
                          <a:latin typeface="Segoe UI"/>
                        </a:rPr>
                        <a:t>2.1.1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2026-10-28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Owner info</a:t>
                      </a:r>
                    </a:p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About Pips now shows the owner: Juwen Lie (right-click the pet → Help → About)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B2A28"/>
                          </a:solidFill>
                          <a:latin typeface="Segoe UI"/>
                        </a:rPr>
                        <a:t>2.1.0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2026-10-28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Interactive guide &amp; in-app updates</a:t>
                      </a:r>
                    </a:p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Interactive first-run guide: your pet walks you through clicking, dragging, petting and the right-click menu; In-app updates: Pips tells you when a new version is out - update with one click (your settings and data are kept); New Help menu: replay the guide, check for updates, see the version; Option to turn automatic update checks off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B2A28"/>
                          </a:solidFill>
                          <a:latin typeface="Segoe UI"/>
                        </a:rPr>
                        <a:t>2.0.0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2026-10-28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Desktop pet, 23 animals &amp; 4 languages</a:t>
                      </a:r>
                    </a:p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Desktop pet that lives on your desktop and taskbar - drag it, tickle it, pet it; 23 animals in 3 groups: Land walks, Water swims with bubbles, Sky hovers and flaps; Moods (happy, sad, tired, hungry, grumpy...), naps when you're away, wakes up when you're back; Cute chat-bubble reminders: breaks, water, 20-20-20 eye rest, pomodoro done, daily goal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B2A28"/>
                          </a:solidFill>
                          <a:latin typeface="Segoe UI"/>
                        </a:rPr>
                        <a:t>1.5.0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2026-10-24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Renamed to Pips + insights</a:t>
                      </a:r>
                    </a:p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Renamed from Productivity Widget to Pips; Dashboard charts: focus timeline, hour heatmap, 7-day score trend, pomodoros per day; AI token usage on the card and dashboard; Daily diary export and weekly / monthly reports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B2A28"/>
                          </a:solidFill>
                          <a:latin typeface="Segoe UI"/>
                        </a:rPr>
                        <a:t>1.0.0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2026-10-21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First release</a:t>
                      </a:r>
                    </a:p>
                    <a:p>
                      <a:r>
                        <a:rPr sz="1200" b="0">
                          <a:solidFill>
                            <a:srgbClr val="2B2A28"/>
                          </a:solidFill>
                          <a:latin typeface="Segoe UI"/>
                        </a:rPr>
                        <a:t>Always-on-top Pomodoro card with progress ring; Rain / thunder / brown-noise / cafe soundscapes; Live app-usage tracking and a daily 1-5 star focus score; Goals, streaks, XP, coach tips and break reminders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4000" b="1">
                <a:solidFill>
                  <a:srgbClr val="2B2A28"/>
                </a:solidFill>
                <a:latin typeface="Georgia"/>
              </a:rPr>
              <a:t>Have fun &amp; stay focused 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800" b="0">
                <a:solidFill>
                  <a:srgbClr val="6E6A62"/>
                </a:solidFill>
                <a:latin typeface="Segoe UI"/>
              </a:rPr>
              <a:t>Pips is made and owned by Juwen Lie</a:t>
            </a:r>
          </a:p>
          <a:p>
            <a:pPr algn="ctr"/>
            <a:r>
              <a:rPr sz="1800" b="0">
                <a:solidFill>
                  <a:srgbClr val="6E6A62"/>
                </a:solidFill>
                <a:latin typeface="Segoe UI"/>
              </a:rPr>
              <a:t>Download &amp; updates: https://juw12.github.io/projects/pips/</a:t>
            </a:r>
          </a:p>
          <a:p>
            <a:pPr algn="ctr"/>
            <a:r>
              <a:rPr sz="1800" b="0">
                <a:solidFill>
                  <a:srgbClr val="6E6A62"/>
                </a:solidFill>
                <a:latin typeface="Segoe UI"/>
              </a:rPr>
              <a:t>Questions or ideas? Just reply to the Pips email.</a:t>
            </a:r>
          </a:p>
        </p:txBody>
      </p:sp>
      <p:pic>
        <p:nvPicPr>
          <p:cNvPr id="4" name="Picture 3" descr="tour_fin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515" y="4206240"/>
            <a:ext cx="3260489" cy="2194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Pips 2.6.0 - User Guide</dc:title>
  <dc:subject>Desktop pet + Pomodoro focus widget</dc:subject>
  <dc:creator>Juwen Lie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