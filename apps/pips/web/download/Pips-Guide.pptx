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image" Target="../media/image8.png"/><Relationship Id="rId5" Type="http://schemas.openxmlformats.org/officeDocument/2006/relationships/image" Target="../media/image9.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274320"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1280160"/>
            <a:ext cx="5943600" cy="457200"/>
          </a:xfrm>
          <a:prstGeom prst="rect">
            <a:avLst/>
          </a:prstGeom>
          <a:noFill/>
        </p:spPr>
        <p:txBody>
          <a:bodyPr wrap="square" anchor="t" lIns="45720" rIns="45720" tIns="27432" bIns="27432">
            <a:spAutoFit/>
          </a:bodyPr>
          <a:lstStyle/>
          <a:p>
            <a:pPr algn="l"/>
            <a:r>
              <a:rPr sz="1600" b="1">
                <a:solidFill>
                  <a:srgbClr val="4CB86B"/>
                </a:solidFill>
                <a:latin typeface="Segoe UI"/>
              </a:rPr>
              <a:t>USER GUIDE</a:t>
            </a:r>
          </a:p>
        </p:txBody>
      </p:sp>
      <p:sp>
        <p:nvSpPr>
          <p:cNvPr id="4" name="TextBox 3"/>
          <p:cNvSpPr txBox="1"/>
          <p:nvPr/>
        </p:nvSpPr>
        <p:spPr>
          <a:xfrm>
            <a:off x="822960" y="1691640"/>
            <a:ext cx="5943600" cy="1280160"/>
          </a:xfrm>
          <a:prstGeom prst="rect">
            <a:avLst/>
          </a:prstGeom>
          <a:noFill/>
        </p:spPr>
        <p:txBody>
          <a:bodyPr wrap="square" anchor="t" lIns="45720" rIns="45720" tIns="27432" bIns="27432">
            <a:spAutoFit/>
          </a:bodyPr>
          <a:lstStyle/>
          <a:p>
            <a:pPr algn="l"/>
            <a:r>
              <a:rPr sz="8000" b="1">
                <a:solidFill>
                  <a:srgbClr val="2B2A28"/>
                </a:solidFill>
                <a:latin typeface="Georgia"/>
              </a:rPr>
              <a:t>Pips</a:t>
            </a:r>
          </a:p>
        </p:txBody>
      </p:sp>
      <p:sp>
        <p:nvSpPr>
          <p:cNvPr id="5" name="TextBox 4"/>
          <p:cNvSpPr txBox="1"/>
          <p:nvPr/>
        </p:nvSpPr>
        <p:spPr>
          <a:xfrm>
            <a:off x="822960" y="2971800"/>
            <a:ext cx="5669280" cy="1097280"/>
          </a:xfrm>
          <a:prstGeom prst="rect">
            <a:avLst/>
          </a:prstGeom>
          <a:noFill/>
        </p:spPr>
        <p:txBody>
          <a:bodyPr wrap="square" anchor="t" lIns="45720" rIns="45720" tIns="27432" bIns="27432">
            <a:spAutoFit/>
          </a:bodyPr>
          <a:lstStyle/>
          <a:p>
            <a:pPr algn="l"/>
            <a:r>
              <a:rPr sz="2400" b="0">
                <a:solidFill>
                  <a:srgbClr val="2B2A28"/>
                </a:solidFill>
                <a:latin typeface="Segoe UI"/>
              </a:rPr>
              <a:t>A cute social desktop pet for Windows - friends, chat &amp; a shop</a:t>
            </a:r>
          </a:p>
        </p:txBody>
      </p:sp>
      <p:sp>
        <p:nvSpPr>
          <p:cNvPr id="6" name="TextBox 5"/>
          <p:cNvSpPr txBox="1"/>
          <p:nvPr/>
        </p:nvSpPr>
        <p:spPr>
          <a:xfrm>
            <a:off x="822960" y="4160520"/>
            <a:ext cx="5669280" cy="822960"/>
          </a:xfrm>
          <a:prstGeom prst="rect">
            <a:avLst/>
          </a:prstGeom>
          <a:noFill/>
        </p:spPr>
        <p:txBody>
          <a:bodyPr wrap="square" anchor="t" lIns="45720" rIns="45720" tIns="27432" bIns="27432">
            <a:spAutoFit/>
          </a:bodyPr>
          <a:lstStyle/>
          <a:p>
            <a:pPr algn="l"/>
            <a:r>
              <a:rPr sz="1500" b="0">
                <a:solidFill>
                  <a:srgbClr val="6E6A62"/>
                </a:solidFill>
                <a:latin typeface="Segoe UI"/>
              </a:rPr>
              <a:t>Version 2.15.0  ·  2026-10-29  ·  Made by Juwen Lie (owner)</a:t>
            </a:r>
          </a:p>
          <a:p>
            <a:pPr algn="l"/>
            <a:r>
              <a:rPr sz="1500" b="0">
                <a:solidFill>
                  <a:srgbClr val="6E6A62"/>
                </a:solidFill>
                <a:latin typeface="Segoe UI"/>
              </a:rPr>
              <a:t>Contact: Juwen_Lie@pegatroncorp.com</a:t>
            </a:r>
          </a:p>
          <a:p>
            <a:pPr algn="l"/>
            <a:r>
              <a:rPr sz="1500" b="0">
                <a:solidFill>
                  <a:srgbClr val="6E6A62"/>
                </a:solidFill>
                <a:latin typeface="Segoe UI"/>
              </a:rPr>
              <a:t>English · Bahasa Indonesia · 繁體中文 · 简体中文</a:t>
            </a:r>
          </a:p>
        </p:txBody>
      </p:sp>
      <p:sp>
        <p:nvSpPr>
          <p:cNvPr id="7" name="TextBox 6"/>
          <p:cNvSpPr txBox="1"/>
          <p:nvPr/>
        </p:nvSpPr>
        <p:spPr>
          <a:xfrm>
            <a:off x="822960" y="5760720"/>
            <a:ext cx="5943600" cy="457200"/>
          </a:xfrm>
          <a:prstGeom prst="rect">
            <a:avLst/>
          </a:prstGeom>
          <a:noFill/>
        </p:spPr>
        <p:txBody>
          <a:bodyPr wrap="square" anchor="t" lIns="45720" rIns="45720" tIns="27432" bIns="27432">
            <a:spAutoFit/>
          </a:bodyPr>
          <a:lstStyle/>
          <a:p>
            <a:pPr algn="l"/>
            <a:r>
              <a:rPr sz="1400" b="1">
                <a:solidFill>
                  <a:srgbClr val="8B1A1A"/>
                </a:solidFill>
                <a:latin typeface="Segoe UI"/>
              </a:rPr>
              <a:t>https://juw12.github.io/projects/pips/</a:t>
            </a:r>
          </a:p>
        </p:txBody>
      </p:sp>
      <p:sp>
        <p:nvSpPr>
          <p:cNvPr id="8" name="Rounded Rectangle 7"/>
          <p:cNvSpPr/>
          <p:nvPr/>
        </p:nvSpPr>
        <p:spPr>
          <a:xfrm>
            <a:off x="6766560" y="1097280"/>
            <a:ext cx="4937760" cy="402336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hero_pets.png"/>
          <p:cNvPicPr>
            <a:picLocks noChangeAspect="1"/>
          </p:cNvPicPr>
          <p:nvPr/>
        </p:nvPicPr>
        <p:blipFill>
          <a:blip r:embed="rId2"/>
          <a:stretch>
            <a:fillRect/>
          </a:stretch>
        </p:blipFill>
        <p:spPr>
          <a:xfrm>
            <a:off x="6949440" y="1508760"/>
            <a:ext cx="4572000" cy="3200400"/>
          </a:xfrm>
          <a:prstGeom prst="rect">
            <a:avLst/>
          </a:prstGeom>
        </p:spPr>
      </p:pic>
      <p:sp>
        <p:nvSpPr>
          <p:cNvPr id="10" name="TextBox 9"/>
          <p:cNvSpPr txBox="1"/>
          <p:nvPr/>
        </p:nvSpPr>
        <p:spPr>
          <a:xfrm>
            <a:off x="6766560" y="525780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Pick from 23 animals - land, water and sky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OVERVIEW</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 is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2</a:t>
            </a:r>
          </a:p>
        </p:txBody>
      </p:sp>
      <p:sp>
        <p:nvSpPr>
          <p:cNvPr id="7" name="TextBox 6"/>
          <p:cNvSpPr txBox="1"/>
          <p:nvPr/>
        </p:nvSpPr>
        <p:spPr>
          <a:xfrm>
            <a:off x="548640" y="1645920"/>
            <a:ext cx="6583680" cy="4572000"/>
          </a:xfrm>
          <a:prstGeom prst="rect">
            <a:avLst/>
          </a:prstGeom>
          <a:noFill/>
        </p:spPr>
        <p:txBody>
          <a:bodyPr wrap="square">
            <a:spAutoFit/>
          </a:bodyPr>
          <a:lstStyle/>
          <a:p>
            <a:pPr>
              <a:spcAft>
                <a:spcPts val="1000"/>
              </a:spcAft>
            </a:pPr>
            <a:r>
              <a:rPr sz="1800" b="1">
                <a:solidFill>
                  <a:srgbClr val="4CB86B"/>
                </a:solidFill>
                <a:latin typeface="Segoe UI"/>
              </a:rPr>
              <a:t>•  </a:t>
            </a:r>
            <a:r>
              <a:rPr sz="1800" b="1">
                <a:solidFill>
                  <a:srgbClr val="2B2A28"/>
                </a:solidFill>
                <a:latin typeface="Segoe UI"/>
              </a:rPr>
              <a:t>A desk buddy. </a:t>
            </a:r>
            <a:r>
              <a:rPr sz="1800">
                <a:solidFill>
                  <a:srgbClr val="2B2A28"/>
                </a:solidFill>
                <a:latin typeface="Segoe UI"/>
              </a:rPr>
              <a:t>A little animal lives on your taskbar - it walks, naps, chats and reacts when you play with it.</a:t>
            </a:r>
          </a:p>
          <a:p>
            <a:pPr>
              <a:spcAft>
                <a:spcPts val="1000"/>
              </a:spcAft>
            </a:pPr>
            <a:r>
              <a:rPr sz="1800" b="1">
                <a:solidFill>
                  <a:srgbClr val="4CB86B"/>
                </a:solidFill>
                <a:latin typeface="Segoe UI"/>
              </a:rPr>
              <a:t>•  </a:t>
            </a:r>
            <a:r>
              <a:rPr sz="1800" b="1">
                <a:solidFill>
                  <a:srgbClr val="2B2A28"/>
                </a:solidFill>
                <a:latin typeface="Segoe UI"/>
              </a:rPr>
              <a:t>A social pet. </a:t>
            </a:r>
            <a:r>
              <a:rPr sz="1800">
                <a:solidFill>
                  <a:srgbClr val="2B2A28"/>
                </a:solidFill>
                <a:latin typeface="Segoe UI"/>
              </a:rPr>
              <a:t>Click the pet to open the Pips hub: friends, chat, groups, and a shop with props and moves for your pet.</a:t>
            </a:r>
          </a:p>
          <a:p>
            <a:pPr>
              <a:spcAft>
                <a:spcPts val="1000"/>
              </a:spcAft>
            </a:pPr>
            <a:r>
              <a:rPr sz="1800" b="1">
                <a:solidFill>
                  <a:srgbClr val="4CB86B"/>
                </a:solidFill>
                <a:latin typeface="Segoe UI"/>
              </a:rPr>
              <a:t>•  </a:t>
            </a:r>
            <a:r>
              <a:rPr sz="1800" b="1">
                <a:solidFill>
                  <a:srgbClr val="2B2A28"/>
                </a:solidFill>
                <a:latin typeface="Segoe UI"/>
              </a:rPr>
              <a:t>A focus timer. </a:t>
            </a:r>
            <a:r>
              <a:rPr sz="1800">
                <a:solidFill>
                  <a:srgbClr val="2B2A28"/>
                </a:solidFill>
                <a:latin typeface="Segoe UI"/>
              </a:rPr>
              <a:t>Right-click → Focus timer: a 25-minute Pomodoro with soundscapes.</a:t>
            </a:r>
          </a:p>
          <a:p>
            <a:pPr>
              <a:spcAft>
                <a:spcPts val="1000"/>
              </a:spcAft>
            </a:pPr>
            <a:r>
              <a:rPr sz="1800" b="1">
                <a:solidFill>
                  <a:srgbClr val="4CB86B"/>
                </a:solidFill>
                <a:latin typeface="Segoe UI"/>
              </a:rPr>
              <a:t>•  </a:t>
            </a:r>
            <a:r>
              <a:rPr sz="1800" b="1">
                <a:solidFill>
                  <a:srgbClr val="2B2A28"/>
                </a:solidFill>
                <a:latin typeface="Segoe UI"/>
              </a:rPr>
              <a:t>Gentle reminders. </a:t>
            </a:r>
            <a:r>
              <a:rPr sz="1800">
                <a:solidFill>
                  <a:srgbClr val="2B2A28"/>
                </a:solidFill>
                <a:latin typeface="Segoe UI"/>
              </a:rPr>
              <a:t>Breaks, drinking water, 20-20-20 eye rest and your daily goal pop up as friendly chat bubbles.</a:t>
            </a:r>
          </a:p>
          <a:p>
            <a:pPr>
              <a:spcAft>
                <a:spcPts val="1000"/>
              </a:spcAft>
            </a:pPr>
            <a:r>
              <a:rPr sz="1800" b="1">
                <a:solidFill>
                  <a:srgbClr val="4CB86B"/>
                </a:solidFill>
                <a:latin typeface="Segoe UI"/>
              </a:rPr>
              <a:t>•  </a:t>
            </a:r>
            <a:r>
              <a:rPr sz="1800" b="1">
                <a:solidFill>
                  <a:srgbClr val="2B2A28"/>
                </a:solidFill>
                <a:latin typeface="Segoe UI"/>
              </a:rPr>
              <a:t>Insights. </a:t>
            </a:r>
            <a:r>
              <a:rPr sz="1800">
                <a:solidFill>
                  <a:srgbClr val="2B2A28"/>
                </a:solidFill>
                <a:latin typeface="Segoe UI"/>
              </a:rPr>
              <a:t>A daily 1-5 star focus score, app-usage tracking and charts in the dashboard.</a:t>
            </a:r>
          </a:p>
          <a:p>
            <a:pPr>
              <a:spcAft>
                <a:spcPts val="1000"/>
              </a:spcAft>
            </a:pPr>
            <a:r>
              <a:rPr sz="1800" b="1">
                <a:solidFill>
                  <a:srgbClr val="4CB86B"/>
                </a:solidFill>
                <a:latin typeface="Segoe UI"/>
              </a:rPr>
              <a:t>•  </a:t>
            </a:r>
            <a:r>
              <a:rPr sz="1800" b="1">
                <a:solidFill>
                  <a:srgbClr val="2B2A28"/>
                </a:solidFill>
                <a:latin typeface="Segoe UI"/>
              </a:rPr>
              <a:t>Private. </a:t>
            </a:r>
            <a:r>
              <a:rPr sz="1800">
                <a:solidFill>
                  <a:srgbClr val="2B2A28"/>
                </a:solidFill>
                <a:latin typeface="Segoe UI"/>
              </a:rPr>
              <a:t>Everything stays in the Pips folder on your PC. Nothing is uploaded.</a:t>
            </a:r>
          </a:p>
          <a:p>
            <a:pPr>
              <a:spcAft>
                <a:spcPts val="1000"/>
              </a:spcAft>
            </a:pPr>
            <a:r>
              <a:rPr sz="1800" b="1">
                <a:solidFill>
                  <a:srgbClr val="4CB86B"/>
                </a:solidFill>
                <a:latin typeface="Segoe UI"/>
              </a:rPr>
              <a:t>•  </a:t>
            </a:r>
            <a:r>
              <a:rPr sz="1800" b="1">
                <a:solidFill>
                  <a:srgbClr val="2B2A28"/>
                </a:solidFill>
                <a:latin typeface="Segoe UI"/>
              </a:rPr>
              <a:t>4 languages. </a:t>
            </a:r>
            <a:r>
              <a:rPr sz="1800">
                <a:solidFill>
                  <a:srgbClr val="2B2A28"/>
                </a:solidFill>
                <a:latin typeface="Segoe UI"/>
              </a:rPr>
              <a:t>English, Bahasa Indonesia, 繁體中文, 简体中文.</a:t>
            </a:r>
          </a:p>
        </p:txBody>
      </p:sp>
      <p:pic>
        <p:nvPicPr>
          <p:cNvPr id="8" name="Picture 7" descr="card.png"/>
          <p:cNvPicPr>
            <a:picLocks noChangeAspect="1"/>
          </p:cNvPicPr>
          <p:nvPr/>
        </p:nvPicPr>
        <p:blipFill>
          <a:blip r:embed="rId2"/>
          <a:stretch>
            <a:fillRect/>
          </a:stretch>
        </p:blipFill>
        <p:spPr>
          <a:xfrm>
            <a:off x="7589520" y="1669390"/>
            <a:ext cx="2377440" cy="3336340"/>
          </a:xfrm>
          <a:prstGeom prst="rect">
            <a:avLst/>
          </a:prstGeom>
          <a:ln w="12700">
            <a:solidFill>
              <a:srgbClr val="E2DCCE"/>
            </a:solidFill>
          </a:ln>
        </p:spPr>
      </p:pic>
      <p:sp>
        <p:nvSpPr>
          <p:cNvPr id="9" name="TextBox 8"/>
          <p:cNvSpPr txBox="1"/>
          <p:nvPr/>
        </p:nvSpPr>
        <p:spPr>
          <a:xfrm>
            <a:off x="7315200" y="5166360"/>
            <a:ext cx="292608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Pips card</a:t>
            </a:r>
          </a:p>
        </p:txBody>
      </p:sp>
      <p:pic>
        <p:nvPicPr>
          <p:cNvPr id="10" name="Picture 9" descr="bee_taskbar.png"/>
          <p:cNvPicPr>
            <a:picLocks noChangeAspect="1"/>
          </p:cNvPicPr>
          <p:nvPr/>
        </p:nvPicPr>
        <p:blipFill>
          <a:blip r:embed="rId3"/>
          <a:stretch>
            <a:fillRect/>
          </a:stretch>
        </p:blipFill>
        <p:spPr>
          <a:xfrm>
            <a:off x="9966960" y="3381292"/>
            <a:ext cx="1920240" cy="918375"/>
          </a:xfrm>
          <a:prstGeom prst="rect">
            <a:avLst/>
          </a:prstGeom>
          <a:ln w="12700">
            <a:solidFill>
              <a:srgbClr val="E2DCCE"/>
            </a:solidFill>
          </a:ln>
        </p:spPr>
      </p:pic>
      <p:sp>
        <p:nvSpPr>
          <p:cNvPr id="11" name="TextBox 10"/>
          <p:cNvSpPr txBox="1"/>
          <p:nvPr/>
        </p:nvSpPr>
        <p:spPr>
          <a:xfrm>
            <a:off x="9875520" y="4617720"/>
            <a:ext cx="2103120" cy="365760"/>
          </a:xfrm>
          <a:prstGeom prst="rect">
            <a:avLst/>
          </a:prstGeom>
          <a:noFill/>
        </p:spPr>
        <p:txBody>
          <a:bodyPr wrap="square" anchor="t" lIns="45720" rIns="45720" tIns="27432" bIns="27432">
            <a:spAutoFit/>
          </a:bodyPr>
          <a:lstStyle/>
          <a:p>
            <a:pPr algn="ctr"/>
            <a:r>
              <a:rPr sz="1200" b="0">
                <a:solidFill>
                  <a:srgbClr val="6E6A62"/>
                </a:solidFill>
                <a:latin typeface="Segoe UI"/>
              </a:rPr>
              <a:t>Your pet on the taskbar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Install in 3 steps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3</a:t>
            </a:r>
          </a:p>
        </p:txBody>
      </p:sp>
      <p:sp>
        <p:nvSpPr>
          <p:cNvPr id="7" name="Rounded Rectangle 6"/>
          <p:cNvSpPr/>
          <p:nvPr/>
        </p:nvSpPr>
        <p:spPr>
          <a:xfrm>
            <a:off x="54864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77724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1</a:t>
            </a:r>
          </a:p>
        </p:txBody>
      </p:sp>
      <p:sp>
        <p:nvSpPr>
          <p:cNvPr id="9" name="TextBox 8"/>
          <p:cNvSpPr txBox="1"/>
          <p:nvPr/>
        </p:nvSpPr>
        <p:spPr>
          <a:xfrm>
            <a:off x="137160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Download</a:t>
            </a:r>
          </a:p>
        </p:txBody>
      </p:sp>
      <p:sp>
        <p:nvSpPr>
          <p:cNvPr id="10" name="TextBox 9"/>
          <p:cNvSpPr txBox="1"/>
          <p:nvPr/>
        </p:nvSpPr>
        <p:spPr>
          <a:xfrm>
            <a:off x="77724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Click Download Pips for Windows at</a:t>
            </a:r>
          </a:p>
          <a:p>
            <a:pPr algn="l"/>
            <a:r>
              <a:rPr sz="1400" b="0">
                <a:solidFill>
                  <a:srgbClr val="2B2A28"/>
                </a:solidFill>
                <a:latin typeface="Segoe UI"/>
              </a:rPr>
              <a:t>https://juw12.github.io/projects/pips/</a:t>
            </a:r>
          </a:p>
        </p:txBody>
      </p:sp>
      <p:sp>
        <p:nvSpPr>
          <p:cNvPr id="11" name="Rounded Rectangle 10"/>
          <p:cNvSpPr/>
          <p:nvPr/>
        </p:nvSpPr>
        <p:spPr>
          <a:xfrm>
            <a:off x="438912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461772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2</a:t>
            </a:r>
          </a:p>
        </p:txBody>
      </p:sp>
      <p:sp>
        <p:nvSpPr>
          <p:cNvPr id="13" name="TextBox 12"/>
          <p:cNvSpPr txBox="1"/>
          <p:nvPr/>
        </p:nvSpPr>
        <p:spPr>
          <a:xfrm>
            <a:off x="521208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Install</a:t>
            </a:r>
          </a:p>
        </p:txBody>
      </p:sp>
      <p:sp>
        <p:nvSpPr>
          <p:cNvPr id="14" name="TextBox 13"/>
          <p:cNvSpPr txBox="1"/>
          <p:nvPr/>
        </p:nvSpPr>
        <p:spPr>
          <a:xfrm>
            <a:off x="461772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Open Pips-Setup.exe, then click Install Pips.</a:t>
            </a:r>
          </a:p>
          <a:p>
            <a:pPr algn="l"/>
            <a:r>
              <a:rPr sz="1400" b="0">
                <a:solidFill>
                  <a:srgbClr val="2B2A28"/>
                </a:solidFill>
                <a:latin typeface="Segoe UI"/>
              </a:rPr>
              <a:t>Python and every helper are included. Nothing to unzip.</a:t>
            </a:r>
          </a:p>
        </p:txBody>
      </p:sp>
      <p:sp>
        <p:nvSpPr>
          <p:cNvPr id="15" name="Rounded Rectangle 14"/>
          <p:cNvSpPr/>
          <p:nvPr/>
        </p:nvSpPr>
        <p:spPr>
          <a:xfrm>
            <a:off x="8229600" y="1737360"/>
            <a:ext cx="3566160" cy="28346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8458200" y="1965960"/>
            <a:ext cx="457200" cy="457200"/>
          </a:xfrm>
          <a:prstGeom prst="ellipse">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Segoe UI"/>
              </a:rPr>
              <a:t>3</a:t>
            </a:r>
          </a:p>
        </p:txBody>
      </p:sp>
      <p:sp>
        <p:nvSpPr>
          <p:cNvPr id="17" name="TextBox 16"/>
          <p:cNvSpPr txBox="1"/>
          <p:nvPr/>
        </p:nvSpPr>
        <p:spPr>
          <a:xfrm>
            <a:off x="9052560" y="1947672"/>
            <a:ext cx="2651760" cy="548640"/>
          </a:xfrm>
          <a:prstGeom prst="rect">
            <a:avLst/>
          </a:prstGeom>
          <a:noFill/>
        </p:spPr>
        <p:txBody>
          <a:bodyPr wrap="square" anchor="t" lIns="45720" rIns="45720" tIns="27432" bIns="27432">
            <a:spAutoFit/>
          </a:bodyPr>
          <a:lstStyle/>
          <a:p>
            <a:pPr algn="l"/>
            <a:r>
              <a:rPr sz="2200" b="1">
                <a:solidFill>
                  <a:srgbClr val="2B2A28"/>
                </a:solidFill>
                <a:latin typeface="Segoe UI"/>
              </a:rPr>
              <a:t>Meet your pet</a:t>
            </a:r>
          </a:p>
        </p:txBody>
      </p:sp>
      <p:sp>
        <p:nvSpPr>
          <p:cNvPr id="18" name="TextBox 17"/>
          <p:cNvSpPr txBox="1"/>
          <p:nvPr/>
        </p:nvSpPr>
        <p:spPr>
          <a:xfrm>
            <a:off x="8458200" y="2651760"/>
            <a:ext cx="3154680" cy="1828800"/>
          </a:xfrm>
          <a:prstGeom prst="rect">
            <a:avLst/>
          </a:prstGeom>
          <a:noFill/>
        </p:spPr>
        <p:txBody>
          <a:bodyPr wrap="square" anchor="t" lIns="45720" rIns="45720" tIns="27432" bIns="27432">
            <a:spAutoFit/>
          </a:bodyPr>
          <a:lstStyle/>
          <a:p>
            <a:pPr algn="l"/>
            <a:r>
              <a:rPr sz="1400" b="0">
                <a:solidFill>
                  <a:srgbClr val="2B2A28"/>
                </a:solidFill>
                <a:latin typeface="Segoe UI"/>
              </a:rPr>
              <a:t>Pips opens automatically. Choose your language.</a:t>
            </a:r>
          </a:p>
          <a:p>
            <a:pPr algn="l"/>
            <a:r>
              <a:rPr sz="1400" b="0">
                <a:solidFill>
                  <a:srgbClr val="2B2A28"/>
                </a:solidFill>
                <a:latin typeface="Segoe UI"/>
              </a:rPr>
              <a:t>Desktop and Start Menu shortcuts are ready for next time.</a:t>
            </a:r>
          </a:p>
        </p:txBody>
      </p:sp>
      <p:sp>
        <p:nvSpPr>
          <p:cNvPr id="19" name="Rounded Rectangle 18"/>
          <p:cNvSpPr/>
          <p:nvPr/>
        </p:nvSpPr>
        <p:spPr>
          <a:xfrm>
            <a:off x="548640" y="4892040"/>
            <a:ext cx="11155680" cy="132588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4983480"/>
            <a:ext cx="10789920" cy="1188720"/>
          </a:xfrm>
          <a:prstGeom prst="rect">
            <a:avLst/>
          </a:prstGeom>
          <a:noFill/>
        </p:spPr>
        <p:txBody>
          <a:bodyPr wrap="square">
            <a:spAutoFit/>
          </a:bodyPr>
          <a:lstStyle/>
          <a:p>
            <a:pPr>
              <a:spcAft>
                <a:spcPts val="400"/>
              </a:spcAft>
            </a:pPr>
            <a:r>
              <a:rPr sz="1400" b="1">
                <a:solidFill>
                  <a:srgbClr val="4CB86B"/>
                </a:solidFill>
                <a:latin typeface="Segoe UI"/>
              </a:rPr>
              <a:t>•  </a:t>
            </a:r>
            <a:r>
              <a:rPr sz="1400" b="1">
                <a:solidFill>
                  <a:srgbClr val="2B2A28"/>
                </a:solidFill>
                <a:latin typeface="Segoe UI"/>
              </a:rPr>
              <a:t>Windows 10/11, 64-bit: </a:t>
            </a:r>
            <a:r>
              <a:rPr sz="1400">
                <a:solidFill>
                  <a:srgbClr val="2B2A28"/>
                </a:solidFill>
                <a:latin typeface="Segoe UI"/>
              </a:rPr>
              <a:t>no separate Python setup, terminal or administrator password.</a:t>
            </a:r>
          </a:p>
          <a:p>
            <a:pPr>
              <a:spcAft>
                <a:spcPts val="400"/>
              </a:spcAft>
            </a:pPr>
            <a:r>
              <a:rPr sz="1400" b="1">
                <a:solidFill>
                  <a:srgbClr val="4CB86B"/>
                </a:solidFill>
                <a:latin typeface="Segoe UI"/>
              </a:rPr>
              <a:t>•  </a:t>
            </a:r>
            <a:r>
              <a:rPr sz="1400" b="1">
                <a:solidFill>
                  <a:srgbClr val="2B2A28"/>
                </a:solidFill>
                <a:latin typeface="Segoe UI"/>
              </a:rPr>
              <a:t>Already have Pips? </a:t>
            </a:r>
            <a:r>
              <a:rPr sz="1400">
                <a:solidFill>
                  <a:srgbClr val="2B2A28"/>
                </a:solidFill>
                <a:latin typeface="Segoe UI"/>
              </a:rPr>
              <a:t>use Help → Check for updates in your current copy. No reinstall needed.</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First start: language + interactive guide</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4</a:t>
            </a:r>
          </a:p>
        </p:txBody>
      </p:sp>
      <p:pic>
        <p:nvPicPr>
          <p:cNvPr id="7" name="Picture 6" descr="lang_picker.png"/>
          <p:cNvPicPr>
            <a:picLocks noChangeAspect="1"/>
          </p:cNvPicPr>
          <p:nvPr/>
        </p:nvPicPr>
        <p:blipFill>
          <a:blip r:embed="rId2"/>
          <a:stretch>
            <a:fillRect/>
          </a:stretch>
        </p:blipFill>
        <p:spPr>
          <a:xfrm>
            <a:off x="587201" y="1645920"/>
            <a:ext cx="3489038" cy="3749039"/>
          </a:xfrm>
          <a:prstGeom prst="rect">
            <a:avLst/>
          </a:prstGeom>
          <a:ln w="12700">
            <a:solidFill>
              <a:srgbClr val="E2DCCE"/>
            </a:solidFill>
          </a:ln>
        </p:spPr>
      </p:pic>
      <p:sp>
        <p:nvSpPr>
          <p:cNvPr id="8" name="TextBox 7"/>
          <p:cNvSpPr txBox="1"/>
          <p:nvPr/>
        </p:nvSpPr>
        <p:spPr>
          <a:xfrm>
            <a:off x="548640" y="5440680"/>
            <a:ext cx="3566160" cy="365760"/>
          </a:xfrm>
          <a:prstGeom prst="rect">
            <a:avLst/>
          </a:prstGeom>
          <a:noFill/>
        </p:spPr>
        <p:txBody>
          <a:bodyPr wrap="square" anchor="t" lIns="45720" rIns="45720" tIns="27432" bIns="27432">
            <a:spAutoFit/>
          </a:bodyPr>
          <a:lstStyle/>
          <a:p>
            <a:pPr algn="ctr"/>
            <a:r>
              <a:rPr sz="1200" b="0">
                <a:solidFill>
                  <a:srgbClr val="6E6A62"/>
                </a:solidFill>
                <a:latin typeface="Segoe UI"/>
              </a:rPr>
              <a:t>① Pick your language</a:t>
            </a:r>
          </a:p>
        </p:txBody>
      </p:sp>
      <p:pic>
        <p:nvPicPr>
          <p:cNvPr id="9" name="Picture 8" descr="tour_welcome.png"/>
          <p:cNvPicPr>
            <a:picLocks noChangeAspect="1"/>
          </p:cNvPicPr>
          <p:nvPr/>
        </p:nvPicPr>
        <p:blipFill>
          <a:blip r:embed="rId3"/>
          <a:stretch>
            <a:fillRect/>
          </a:stretch>
        </p:blipFill>
        <p:spPr>
          <a:xfrm>
            <a:off x="4389120" y="1648558"/>
            <a:ext cx="3931920" cy="2646484"/>
          </a:xfrm>
          <a:prstGeom prst="rect">
            <a:avLst/>
          </a:prstGeom>
          <a:ln w="12700">
            <a:solidFill>
              <a:srgbClr val="E2DCCE"/>
            </a:solidFill>
          </a:ln>
        </p:spPr>
      </p:pic>
      <p:sp>
        <p:nvSpPr>
          <p:cNvPr id="10" name="TextBox 9"/>
          <p:cNvSpPr txBox="1"/>
          <p:nvPr/>
        </p:nvSpPr>
        <p:spPr>
          <a:xfrm>
            <a:off x="4389120" y="4343400"/>
            <a:ext cx="3931920" cy="365760"/>
          </a:xfrm>
          <a:prstGeom prst="rect">
            <a:avLst/>
          </a:prstGeom>
          <a:noFill/>
        </p:spPr>
        <p:txBody>
          <a:bodyPr wrap="square" anchor="t" lIns="45720" rIns="45720" tIns="27432" bIns="27432">
            <a:spAutoFit/>
          </a:bodyPr>
          <a:lstStyle/>
          <a:p>
            <a:pPr algn="ctr"/>
            <a:r>
              <a:rPr sz="1200" b="0">
                <a:solidFill>
                  <a:srgbClr val="6E6A62"/>
                </a:solidFill>
                <a:latin typeface="Segoe UI"/>
              </a:rPr>
              <a:t>② Your pet says hi and offers a 1-minute guide</a:t>
            </a:r>
          </a:p>
        </p:txBody>
      </p:sp>
      <p:sp>
        <p:nvSpPr>
          <p:cNvPr id="11" name="TextBox 10"/>
          <p:cNvSpPr txBox="1"/>
          <p:nvPr/>
        </p:nvSpPr>
        <p:spPr>
          <a:xfrm>
            <a:off x="8595360" y="1645920"/>
            <a:ext cx="329184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a:solidFill>
                  <a:srgbClr val="2B2A28"/>
                </a:solidFill>
                <a:latin typeface="Segoe UI"/>
              </a:rPr>
              <a:t>A language window appears once. You can change it later (right-click the pet → Language).</a:t>
            </a:r>
          </a:p>
          <a:p>
            <a:pPr>
              <a:spcAft>
                <a:spcPts val="800"/>
              </a:spcAft>
            </a:pPr>
            <a:r>
              <a:rPr sz="1500" b="1">
                <a:solidFill>
                  <a:srgbClr val="4CB86B"/>
                </a:solidFill>
                <a:latin typeface="Segoe UI"/>
              </a:rPr>
              <a:t>•  </a:t>
            </a:r>
            <a:r>
              <a:rPr sz="1500">
                <a:solidFill>
                  <a:srgbClr val="2B2A28"/>
                </a:solidFill>
                <a:latin typeface="Segoe UI"/>
              </a:rPr>
              <a:t>Then your pet walks you through the basics - just follow the bubble.</a:t>
            </a:r>
          </a:p>
          <a:p>
            <a:pPr>
              <a:spcAft>
                <a:spcPts val="800"/>
              </a:spcAft>
            </a:pPr>
            <a:r>
              <a:rPr sz="1500" b="1">
                <a:solidFill>
                  <a:srgbClr val="4CB86B"/>
                </a:solidFill>
                <a:latin typeface="Segoe UI"/>
              </a:rPr>
              <a:t>•  </a:t>
            </a:r>
            <a:r>
              <a:rPr sz="1500">
                <a:solidFill>
                  <a:srgbClr val="2B2A28"/>
                </a:solidFill>
                <a:latin typeface="Segoe UI"/>
              </a:rPr>
              <a:t>Press “Skip guide” anytime.</a:t>
            </a:r>
          </a:p>
          <a:p>
            <a:pPr>
              <a:spcAft>
                <a:spcPts val="800"/>
              </a:spcAft>
            </a:pPr>
            <a:r>
              <a:rPr sz="1500" b="1">
                <a:solidFill>
                  <a:srgbClr val="4CB86B"/>
                </a:solidFill>
                <a:latin typeface="Segoe UI"/>
              </a:rPr>
              <a:t>•  </a:t>
            </a:r>
            <a:r>
              <a:rPr sz="1500" b="1">
                <a:solidFill>
                  <a:srgbClr val="2B2A28"/>
                </a:solidFill>
                <a:latin typeface="Segoe UI"/>
              </a:rPr>
              <a:t>Replay: </a:t>
            </a:r>
            <a:r>
              <a:rPr sz="1500">
                <a:solidFill>
                  <a:srgbClr val="2B2A28"/>
                </a:solidFill>
                <a:latin typeface="Segoe UI"/>
              </a:rPr>
              <a:t>right-click the pet → Help → Interactive guide.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GETTING STARTED</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The interactive guide, step by step</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5</a:t>
            </a:r>
          </a:p>
        </p:txBody>
      </p:sp>
      <p:graphicFrame>
        <p:nvGraphicFramePr>
          <p:cNvPr id="7" name="Table 6"/>
          <p:cNvGraphicFramePr>
            <a:graphicFrameLocks noGrp="1"/>
          </p:cNvGraphicFramePr>
          <p:nvPr/>
        </p:nvGraphicFramePr>
        <p:xfrm>
          <a:off x="548640" y="1645920"/>
          <a:ext cx="6949440" cy="3401568"/>
        </p:xfrm>
        <a:graphic>
          <a:graphicData uri="http://schemas.openxmlformats.org/drawingml/2006/table">
            <a:tbl>
              <a:tblPr firstRow="1" bandRow="1">
                <a:tableStyleId>{5C22544A-7EE6-4342-B048-85BDC9FD1C3A}</a:tableStyleId>
              </a:tblPr>
              <a:tblGrid>
                <a:gridCol w="731520"/>
                <a:gridCol w="2377440"/>
                <a:gridCol w="3840480"/>
              </a:tblGrid>
              <a:tr h="384048">
                <a:tc>
                  <a:txBody>
                    <a:bodyPr wrap="square"/>
                    <a:lstStyle/>
                    <a:p>
                      <a:r>
                        <a:rPr sz="1300" b="1">
                          <a:solidFill>
                            <a:srgbClr val="FFFFFF"/>
                          </a:solidFill>
                          <a:latin typeface="Segoe UI"/>
                        </a:rPr>
                        <a:t>Step</a:t>
                      </a:r>
                    </a:p>
                  </a:txBody>
                  <a:tcPr marL="73152" marR="73152" marT="36576" marB="36576">
                    <a:solidFill>
                      <a:srgbClr val="8B1A1A"/>
                    </a:solidFill>
                  </a:tcPr>
                </a:tc>
                <a:tc>
                  <a:txBody>
                    <a:bodyPr wrap="square"/>
                    <a:lstStyle/>
                    <a:p>
                      <a:r>
                        <a:rPr sz="1300" b="1">
                          <a:solidFill>
                            <a:srgbClr val="FFFFFF"/>
                          </a:solidFill>
                          <a:latin typeface="Segoe UI"/>
                        </a:rPr>
                        <a:t>What the pet asks</a:t>
                      </a:r>
                    </a:p>
                  </a:txBody>
                  <a:tcPr marL="73152" marR="73152" marT="36576" marB="36576">
                    <a:solidFill>
                      <a:srgbClr val="8B1A1A"/>
                    </a:solidFill>
                  </a:tcPr>
                </a:tc>
                <a:tc>
                  <a:txBody>
                    <a:bodyPr wrap="square"/>
                    <a:lstStyle/>
                    <a:p>
                      <a:r>
                        <a:rPr sz="1300" b="1">
                          <a:solidFill>
                            <a:srgbClr val="FFFFFF"/>
                          </a:solidFill>
                          <a:latin typeface="Segoe UI"/>
                        </a:rPr>
                        <a:t>What it teaches</a:t>
                      </a:r>
                    </a:p>
                  </a:txBody>
                  <a:tcPr marL="73152" marR="73152" marT="36576" marB="36576">
                    <a:solidFill>
                      <a:srgbClr val="8B1A1A"/>
                    </a:solidFill>
                  </a:tcPr>
                </a:tc>
              </a:tr>
              <a:tr h="502920">
                <a:tc>
                  <a:txBody>
                    <a:bodyPr wrap="square"/>
                    <a:lstStyle/>
                    <a:p>
                      <a:r>
                        <a:rPr sz="1300" b="1">
                          <a:solidFill>
                            <a:srgbClr val="2B2A28"/>
                          </a:solidFill>
                          <a:latin typeface="Segoe UI"/>
                        </a:rPr>
                        <a:t>1</a:t>
                      </a:r>
                    </a:p>
                  </a:txBody>
                  <a:tcPr marL="73152" marR="73152" marT="36576" marB="36576">
                    <a:solidFill>
                      <a:srgbClr val="FFFDF8"/>
                    </a:solidFill>
                  </a:tcPr>
                </a:tc>
                <a:tc>
                  <a:txBody>
                    <a:bodyPr wrap="square"/>
                    <a:lstStyle/>
                    <a:p>
                      <a:r>
                        <a:rPr sz="1300" b="0">
                          <a:solidFill>
                            <a:srgbClr val="2B2A28"/>
                          </a:solidFill>
                          <a:latin typeface="Segoe UI"/>
                        </a:rPr>
                        <a:t>Click me once</a:t>
                      </a:r>
                    </a:p>
                  </a:txBody>
                  <a:tcPr marL="73152" marR="73152" marT="36576" marB="36576">
                    <a:solidFill>
                      <a:srgbClr val="FFFDF8"/>
                    </a:solidFill>
                  </a:tcPr>
                </a:tc>
                <a:tc>
                  <a:txBody>
                    <a:bodyPr wrap="square"/>
                    <a:lstStyle/>
                    <a:p>
                      <a:r>
                        <a:rPr sz="1300" b="0">
                          <a:solidFill>
                            <a:srgbClr val="2B2A28"/>
                          </a:solidFill>
                          <a:latin typeface="Segoe UI"/>
                        </a:rPr>
                        <a:t>Clicking the pet opens the Pips hub (friends, chat, shop)</a:t>
                      </a:r>
                    </a:p>
                  </a:txBody>
                  <a:tcPr marL="73152" marR="73152" marT="36576" marB="36576">
                    <a:solidFill>
                      <a:srgbClr val="FFFDF8"/>
                    </a:solidFill>
                  </a:tcPr>
                </a:tc>
              </a:tr>
              <a:tr h="502920">
                <a:tc>
                  <a:txBody>
                    <a:bodyPr wrap="square"/>
                    <a:lstStyle/>
                    <a:p>
                      <a:r>
                        <a:rPr sz="1300" b="1">
                          <a:solidFill>
                            <a:srgbClr val="2B2A28"/>
                          </a:solidFill>
                          <a:latin typeface="Segoe UI"/>
                        </a:rPr>
                        <a:t>2</a:t>
                      </a:r>
                    </a:p>
                  </a:txBody>
                  <a:tcPr marL="73152" marR="73152" marT="36576" marB="36576">
                    <a:solidFill>
                      <a:srgbClr val="F7F4EC"/>
                    </a:solidFill>
                  </a:tcPr>
                </a:tc>
                <a:tc>
                  <a:txBody>
                    <a:bodyPr wrap="square"/>
                    <a:lstStyle/>
                    <a:p>
                      <a:r>
                        <a:rPr sz="1300" b="0">
                          <a:solidFill>
                            <a:srgbClr val="2B2A28"/>
                          </a:solidFill>
                          <a:latin typeface="Segoe UI"/>
                        </a:rPr>
                        <a:t>Click the ring</a:t>
                      </a:r>
                    </a:p>
                  </a:txBody>
                  <a:tcPr marL="73152" marR="73152" marT="36576" marB="36576">
                    <a:solidFill>
                      <a:srgbClr val="F7F4EC"/>
                    </a:solidFill>
                  </a:tcPr>
                </a:tc>
                <a:tc>
                  <a:txBody>
                    <a:bodyPr wrap="square"/>
                    <a:lstStyle/>
                    <a:p>
                      <a:r>
                        <a:rPr sz="1300" b="0">
                          <a:solidFill>
                            <a:srgbClr val="2B2A28"/>
                          </a:solidFill>
                          <a:latin typeface="Segoe UI"/>
                        </a:rPr>
                        <a:t>Start / pause a 25-minute focus session; – or ✕ hides the card</a:t>
                      </a:r>
                    </a:p>
                  </a:txBody>
                  <a:tcPr marL="73152" marR="73152" marT="36576" marB="36576">
                    <a:solidFill>
                      <a:srgbClr val="F7F4EC"/>
                    </a:solidFill>
                  </a:tcPr>
                </a:tc>
              </a:tr>
              <a:tr h="502920">
                <a:tc>
                  <a:txBody>
                    <a:bodyPr wrap="square"/>
                    <a:lstStyle/>
                    <a:p>
                      <a:r>
                        <a:rPr sz="1300" b="1">
                          <a:solidFill>
                            <a:srgbClr val="2B2A28"/>
                          </a:solidFill>
                          <a:latin typeface="Segoe UI"/>
                        </a:rPr>
                        <a:t>3</a:t>
                      </a:r>
                    </a:p>
                  </a:txBody>
                  <a:tcPr marL="73152" marR="73152" marT="36576" marB="36576">
                    <a:solidFill>
                      <a:srgbClr val="FFFDF8"/>
                    </a:solidFill>
                  </a:tcPr>
                </a:tc>
                <a:tc>
                  <a:txBody>
                    <a:bodyPr wrap="square"/>
                    <a:lstStyle/>
                    <a:p>
                      <a:r>
                        <a:rPr sz="1300" b="0">
                          <a:solidFill>
                            <a:srgbClr val="2B2A28"/>
                          </a:solidFill>
                          <a:latin typeface="Segoe UI"/>
                        </a:rPr>
                        <a:t>Drag me anywhere</a:t>
                      </a:r>
                    </a:p>
                  </a:txBody>
                  <a:tcPr marL="73152" marR="73152" marT="36576" marB="36576">
                    <a:solidFill>
                      <a:srgbClr val="FFFDF8"/>
                    </a:solidFill>
                  </a:tcPr>
                </a:tc>
                <a:tc>
                  <a:txBody>
                    <a:bodyPr wrap="square"/>
                    <a:lstStyle/>
                    <a:p>
                      <a:r>
                        <a:rPr sz="1300" b="0">
                          <a:solidFill>
                            <a:srgbClr val="2B2A28"/>
                          </a:solidFill>
                          <a:latin typeface="Segoe UI"/>
                        </a:rPr>
                        <a:t>Move the pet; drop it on the taskbar to walk there</a:t>
                      </a:r>
                    </a:p>
                  </a:txBody>
                  <a:tcPr marL="73152" marR="73152" marT="36576" marB="36576">
                    <a:solidFill>
                      <a:srgbClr val="FFFDF8"/>
                    </a:solidFill>
                  </a:tcPr>
                </a:tc>
              </a:tr>
              <a:tr h="502920">
                <a:tc>
                  <a:txBody>
                    <a:bodyPr wrap="square"/>
                    <a:lstStyle/>
                    <a:p>
                      <a:r>
                        <a:rPr sz="1300" b="1">
                          <a:solidFill>
                            <a:srgbClr val="2B2A28"/>
                          </a:solidFill>
                          <a:latin typeface="Segoe UI"/>
                        </a:rPr>
                        <a:t>4</a:t>
                      </a:r>
                    </a:p>
                  </a:txBody>
                  <a:tcPr marL="73152" marR="73152" marT="36576" marB="36576">
                    <a:solidFill>
                      <a:srgbClr val="F7F4EC"/>
                    </a:solidFill>
                  </a:tcPr>
                </a:tc>
                <a:tc>
                  <a:txBody>
                    <a:bodyPr wrap="square"/>
                    <a:lstStyle/>
                    <a:p>
                      <a:r>
                        <a:rPr sz="1300" b="0">
                          <a:solidFill>
                            <a:srgbClr val="2B2A28"/>
                          </a:solidFill>
                          <a:latin typeface="Segoe UI"/>
                        </a:rPr>
                        <a:t>Rub your mouse over me</a:t>
                      </a:r>
                    </a:p>
                  </a:txBody>
                  <a:tcPr marL="73152" marR="73152" marT="36576" marB="36576">
                    <a:solidFill>
                      <a:srgbClr val="F7F4EC"/>
                    </a:solidFill>
                  </a:tcPr>
                </a:tc>
                <a:tc>
                  <a:txBody>
                    <a:bodyPr wrap="square"/>
                    <a:lstStyle/>
                    <a:p>
                      <a:r>
                        <a:rPr sz="1300" b="0">
                          <a:solidFill>
                            <a:srgbClr val="2B2A28"/>
                          </a:solidFill>
                          <a:latin typeface="Segoe UI"/>
                        </a:rPr>
                        <a:t>Petting makes it happy (hearts!)</a:t>
                      </a:r>
                    </a:p>
                  </a:txBody>
                  <a:tcPr marL="73152" marR="73152" marT="36576" marB="36576">
                    <a:solidFill>
                      <a:srgbClr val="F7F4EC"/>
                    </a:solidFill>
                  </a:tcPr>
                </a:tc>
              </a:tr>
              <a:tr h="502920">
                <a:tc>
                  <a:txBody>
                    <a:bodyPr wrap="square"/>
                    <a:lstStyle/>
                    <a:p>
                      <a:r>
                        <a:rPr sz="1300" b="1">
                          <a:solidFill>
                            <a:srgbClr val="2B2A28"/>
                          </a:solidFill>
                          <a:latin typeface="Segoe UI"/>
                        </a:rPr>
                        <a:t>5</a:t>
                      </a:r>
                    </a:p>
                  </a:txBody>
                  <a:tcPr marL="73152" marR="73152" marT="36576" marB="36576">
                    <a:solidFill>
                      <a:srgbClr val="FFFDF8"/>
                    </a:solidFill>
                  </a:tcPr>
                </a:tc>
                <a:tc>
                  <a:txBody>
                    <a:bodyPr wrap="square"/>
                    <a:lstStyle/>
                    <a:p>
                      <a:r>
                        <a:rPr sz="1300" b="0">
                          <a:solidFill>
                            <a:srgbClr val="2B2A28"/>
                          </a:solidFill>
                          <a:latin typeface="Segoe UI"/>
                        </a:rPr>
                        <a:t>Right-click me</a:t>
                      </a:r>
                    </a:p>
                  </a:txBody>
                  <a:tcPr marL="73152" marR="73152" marT="36576" marB="36576">
                    <a:solidFill>
                      <a:srgbClr val="FFFDF8"/>
                    </a:solidFill>
                  </a:tcPr>
                </a:tc>
                <a:tc>
                  <a:txBody>
                    <a:bodyPr wrap="square"/>
                    <a:lstStyle/>
                    <a:p>
                      <a:r>
                        <a:rPr sz="1300" b="0">
                          <a:solidFill>
                            <a:srgbClr val="2B2A28"/>
                          </a:solidFill>
                          <a:latin typeface="Segoe UI"/>
                        </a:rPr>
                        <a:t>The menu: snacks, sleep, animals, colours, language, settings</a:t>
                      </a:r>
                    </a:p>
                  </a:txBody>
                  <a:tcPr marL="73152" marR="73152" marT="36576" marB="36576">
                    <a:solidFill>
                      <a:srgbClr val="FFFDF8"/>
                    </a:solidFill>
                  </a:tcPr>
                </a:tc>
              </a:tr>
              <a:tr h="502920">
                <a:tc>
                  <a:txBody>
                    <a:bodyPr wrap="square"/>
                    <a:lstStyle/>
                    <a:p>
                      <a:r>
                        <a:rPr sz="1300" b="1">
                          <a:solidFill>
                            <a:srgbClr val="2B2A28"/>
                          </a:solidFill>
                          <a:latin typeface="Segoe UI"/>
                        </a:rPr>
                        <a:t>6</a:t>
                      </a:r>
                    </a:p>
                  </a:txBody>
                  <a:tcPr marL="73152" marR="73152" marT="36576" marB="36576">
                    <a:solidFill>
                      <a:srgbClr val="F7F4EC"/>
                    </a:solidFill>
                  </a:tcPr>
                </a:tc>
                <a:tc>
                  <a:txBody>
                    <a:bodyPr wrap="square"/>
                    <a:lstStyle/>
                    <a:p>
                      <a:r>
                        <a:rPr sz="1300" b="0">
                          <a:solidFill>
                            <a:srgbClr val="2B2A28"/>
                          </a:solidFill>
                          <a:latin typeface="Segoe UI"/>
                        </a:rPr>
                        <a:t>I have moods!</a:t>
                      </a:r>
                    </a:p>
                  </a:txBody>
                  <a:tcPr marL="73152" marR="73152" marT="36576" marB="36576">
                    <a:solidFill>
                      <a:srgbClr val="F7F4EC"/>
                    </a:solidFill>
                  </a:tcPr>
                </a:tc>
                <a:tc>
                  <a:txBody>
                    <a:bodyPr wrap="square"/>
                    <a:lstStyle/>
                    <a:p>
                      <a:r>
                        <a:rPr sz="1300" b="0">
                          <a:solidFill>
                            <a:srgbClr val="2B2A28"/>
                          </a:solidFill>
                          <a:latin typeface="Segoe UI"/>
                        </a:rPr>
                        <a:t>Keep it happy: pet, feed and finish pomodoros</a:t>
                      </a:r>
                    </a:p>
                  </a:txBody>
                  <a:tcPr marL="73152" marR="73152" marT="36576" marB="36576">
                    <a:solidFill>
                      <a:srgbClr val="F7F4EC"/>
                    </a:solidFill>
                  </a:tcPr>
                </a:tc>
              </a:tr>
            </a:tbl>
          </a:graphicData>
        </a:graphic>
      </p:graphicFrame>
      <p:pic>
        <p:nvPicPr>
          <p:cNvPr id="8" name="Picture 7" descr="tour_click.png"/>
          <p:cNvPicPr>
            <a:picLocks noChangeAspect="1"/>
          </p:cNvPicPr>
          <p:nvPr/>
        </p:nvPicPr>
        <p:blipFill>
          <a:blip r:embed="rId2"/>
          <a:stretch>
            <a:fillRect/>
          </a:stretch>
        </p:blipFill>
        <p:spPr>
          <a:xfrm>
            <a:off x="7772400" y="1860452"/>
            <a:ext cx="2011680" cy="1354015"/>
          </a:xfrm>
          <a:prstGeom prst="rect">
            <a:avLst/>
          </a:prstGeom>
          <a:ln w="12700">
            <a:solidFill>
              <a:srgbClr val="E2DCCE"/>
            </a:solidFill>
          </a:ln>
        </p:spPr>
      </p:pic>
      <p:sp>
        <p:nvSpPr>
          <p:cNvPr id="9" name="TextBox 8"/>
          <p:cNvSpPr txBox="1"/>
          <p:nvPr/>
        </p:nvSpPr>
        <p:spPr>
          <a:xfrm>
            <a:off x="777240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1</a:t>
            </a:r>
          </a:p>
        </p:txBody>
      </p:sp>
      <p:pic>
        <p:nvPicPr>
          <p:cNvPr id="10" name="Picture 9" descr="tour_drag.png"/>
          <p:cNvPicPr>
            <a:picLocks noChangeAspect="1"/>
          </p:cNvPicPr>
          <p:nvPr/>
        </p:nvPicPr>
        <p:blipFill>
          <a:blip r:embed="rId3"/>
          <a:stretch>
            <a:fillRect/>
          </a:stretch>
        </p:blipFill>
        <p:spPr>
          <a:xfrm>
            <a:off x="9921240" y="1860452"/>
            <a:ext cx="2011680" cy="1354015"/>
          </a:xfrm>
          <a:prstGeom prst="rect">
            <a:avLst/>
          </a:prstGeom>
          <a:ln w="12700">
            <a:solidFill>
              <a:srgbClr val="E2DCCE"/>
            </a:solidFill>
          </a:ln>
        </p:spPr>
      </p:pic>
      <p:sp>
        <p:nvSpPr>
          <p:cNvPr id="11" name="TextBox 10"/>
          <p:cNvSpPr txBox="1"/>
          <p:nvPr/>
        </p:nvSpPr>
        <p:spPr>
          <a:xfrm>
            <a:off x="9921240" y="345643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3</a:t>
            </a:r>
          </a:p>
        </p:txBody>
      </p:sp>
      <p:pic>
        <p:nvPicPr>
          <p:cNvPr id="12" name="Picture 11" descr="tour_pet.png"/>
          <p:cNvPicPr>
            <a:picLocks noChangeAspect="1"/>
          </p:cNvPicPr>
          <p:nvPr/>
        </p:nvPicPr>
        <p:blipFill>
          <a:blip r:embed="rId4"/>
          <a:stretch>
            <a:fillRect/>
          </a:stretch>
        </p:blipFill>
        <p:spPr>
          <a:xfrm>
            <a:off x="7772400" y="4100732"/>
            <a:ext cx="2011680" cy="1354015"/>
          </a:xfrm>
          <a:prstGeom prst="rect">
            <a:avLst/>
          </a:prstGeom>
          <a:ln w="12700">
            <a:solidFill>
              <a:srgbClr val="E2DCCE"/>
            </a:solidFill>
          </a:ln>
        </p:spPr>
      </p:pic>
      <p:sp>
        <p:nvSpPr>
          <p:cNvPr id="13" name="TextBox 12"/>
          <p:cNvSpPr txBox="1"/>
          <p:nvPr/>
        </p:nvSpPr>
        <p:spPr>
          <a:xfrm>
            <a:off x="777240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4</a:t>
            </a:r>
          </a:p>
        </p:txBody>
      </p:sp>
      <p:pic>
        <p:nvPicPr>
          <p:cNvPr id="14" name="Picture 13" descr="tour_menu.png"/>
          <p:cNvPicPr>
            <a:picLocks noChangeAspect="1"/>
          </p:cNvPicPr>
          <p:nvPr/>
        </p:nvPicPr>
        <p:blipFill>
          <a:blip r:embed="rId5"/>
          <a:stretch>
            <a:fillRect/>
          </a:stretch>
        </p:blipFill>
        <p:spPr>
          <a:xfrm>
            <a:off x="9921240" y="4100732"/>
            <a:ext cx="2011680" cy="1354015"/>
          </a:xfrm>
          <a:prstGeom prst="rect">
            <a:avLst/>
          </a:prstGeom>
          <a:ln w="12700">
            <a:solidFill>
              <a:srgbClr val="E2DCCE"/>
            </a:solidFill>
          </a:ln>
        </p:spPr>
      </p:pic>
      <p:sp>
        <p:nvSpPr>
          <p:cNvPr id="15" name="TextBox 14"/>
          <p:cNvSpPr txBox="1"/>
          <p:nvPr/>
        </p:nvSpPr>
        <p:spPr>
          <a:xfrm>
            <a:off x="9921240" y="5696712"/>
            <a:ext cx="2011680" cy="365760"/>
          </a:xfrm>
          <a:prstGeom prst="rect">
            <a:avLst/>
          </a:prstGeom>
          <a:noFill/>
        </p:spPr>
        <p:txBody>
          <a:bodyPr wrap="square" anchor="t" lIns="45720" rIns="45720" tIns="27432" bIns="27432">
            <a:spAutoFit/>
          </a:bodyPr>
          <a:lstStyle/>
          <a:p>
            <a:pPr algn="ctr"/>
            <a:r>
              <a:rPr sz="1200" b="0">
                <a:solidFill>
                  <a:srgbClr val="6E6A62"/>
                </a:solidFill>
                <a:latin typeface="Segoe UI"/>
              </a:rPr>
              <a:t>Step 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Playing with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6</a:t>
            </a:r>
          </a:p>
        </p:txBody>
      </p:sp>
      <p:graphicFrame>
        <p:nvGraphicFramePr>
          <p:cNvPr id="7" name="Table 6"/>
          <p:cNvGraphicFramePr>
            <a:graphicFrameLocks noGrp="1"/>
          </p:cNvGraphicFramePr>
          <p:nvPr/>
        </p:nvGraphicFramePr>
        <p:xfrm>
          <a:off x="548640" y="1645920"/>
          <a:ext cx="7315200" cy="4187952"/>
        </p:xfrm>
        <a:graphic>
          <a:graphicData uri="http://schemas.openxmlformats.org/drawingml/2006/table">
            <a:tbl>
              <a:tblPr firstRow="1" bandRow="1">
                <a:tableStyleId>{5C22544A-7EE6-4342-B048-85BDC9FD1C3A}</a:tableStyleId>
              </a:tblPr>
              <a:tblGrid>
                <a:gridCol w="2743200"/>
                <a:gridCol w="4572000"/>
              </a:tblGrid>
              <a:tr h="384048">
                <a:tc>
                  <a:txBody>
                    <a:bodyPr wrap="square"/>
                    <a:lstStyle/>
                    <a:p>
                      <a:r>
                        <a:rPr sz="1400" b="1">
                          <a:solidFill>
                            <a:srgbClr val="FFFFFF"/>
                          </a:solidFill>
                          <a:latin typeface="Segoe UI"/>
                        </a:rPr>
                        <a:t>Do this</a:t>
                      </a:r>
                    </a:p>
                  </a:txBody>
                  <a:tcPr marL="73152" marR="73152" marT="36576" marB="36576">
                    <a:solidFill>
                      <a:srgbClr val="8B1A1A"/>
                    </a:solidFill>
                  </a:tcPr>
                </a:tc>
                <a:tc>
                  <a:txBody>
                    <a:bodyPr wrap="square"/>
                    <a:lstStyle/>
                    <a:p>
                      <a:r>
                        <a:rPr sz="1400" b="1">
                          <a:solidFill>
                            <a:srgbClr val="FFFFFF"/>
                          </a:solidFill>
                          <a:latin typeface="Segoe UI"/>
                        </a:rPr>
                        <a:t>What happens</a:t>
                      </a:r>
                    </a:p>
                  </a:txBody>
                  <a:tcPr marL="73152" marR="73152" marT="36576" marB="36576">
                    <a:solidFill>
                      <a:srgbClr val="8B1A1A"/>
                    </a:solidFill>
                  </a:tcPr>
                </a:tc>
              </a:tr>
              <a:tr h="475488">
                <a:tc>
                  <a:txBody>
                    <a:bodyPr wrap="square"/>
                    <a:lstStyle/>
                    <a:p>
                      <a:r>
                        <a:rPr sz="1400" b="1">
                          <a:solidFill>
                            <a:srgbClr val="2B2A28"/>
                          </a:solidFill>
                          <a:latin typeface="Segoe UI"/>
                        </a:rPr>
                        <a:t>Click</a:t>
                      </a:r>
                    </a:p>
                  </a:txBody>
                  <a:tcPr marL="73152" marR="73152" marT="36576" marB="36576">
                    <a:solidFill>
                      <a:srgbClr val="FFFDF8"/>
                    </a:solidFill>
                  </a:tcPr>
                </a:tc>
                <a:tc>
                  <a:txBody>
                    <a:bodyPr wrap="square"/>
                    <a:lstStyle/>
                    <a:p>
                      <a:r>
                        <a:rPr sz="1400" b="0">
                          <a:solidFill>
                            <a:srgbClr val="2B2A28"/>
                          </a:solidFill>
                          <a:latin typeface="Segoe UI"/>
                        </a:rPr>
                        <a:t>Giggles and opens the Pips hub (friends, chat, groups, shop)</a:t>
                      </a:r>
                    </a:p>
                  </a:txBody>
                  <a:tcPr marL="73152" marR="73152" marT="36576" marB="36576">
                    <a:solidFill>
                      <a:srgbClr val="FFFDF8"/>
                    </a:solidFill>
                  </a:tcPr>
                </a:tc>
              </a:tr>
              <a:tr h="475488">
                <a:tc>
                  <a:txBody>
                    <a:bodyPr wrap="square"/>
                    <a:lstStyle/>
                    <a:p>
                      <a:r>
                        <a:rPr sz="1400" b="1">
                          <a:solidFill>
                            <a:srgbClr val="2B2A28"/>
                          </a:solidFill>
                          <a:latin typeface="Segoe UI"/>
                        </a:rPr>
                        <a:t>Drag &amp; drop</a:t>
                      </a:r>
                    </a:p>
                  </a:txBody>
                  <a:tcPr marL="73152" marR="73152" marT="36576" marB="36576">
                    <a:solidFill>
                      <a:srgbClr val="F7F4EC"/>
                    </a:solidFill>
                  </a:tcPr>
                </a:tc>
                <a:tc>
                  <a:txBody>
                    <a:bodyPr wrap="square"/>
                    <a:lstStyle/>
                    <a:p>
                      <a:r>
                        <a:rPr sz="1400" b="0">
                          <a:solidFill>
                            <a:srgbClr val="2B2A28"/>
                          </a:solidFill>
                          <a:latin typeface="Segoe UI"/>
                        </a:rPr>
                        <a:t>Carry it anywhere. Drop on the taskbar → it walks along it</a:t>
                      </a:r>
                    </a:p>
                  </a:txBody>
                  <a:tcPr marL="73152" marR="73152" marT="36576" marB="36576">
                    <a:solidFill>
                      <a:srgbClr val="F7F4EC"/>
                    </a:solidFill>
                  </a:tcPr>
                </a:tc>
              </a:tr>
              <a:tr h="475488">
                <a:tc>
                  <a:txBody>
                    <a:bodyPr wrap="square"/>
                    <a:lstStyle/>
                    <a:p>
                      <a:r>
                        <a:rPr sz="1400" b="1">
                          <a:solidFill>
                            <a:srgbClr val="2B2A28"/>
                          </a:solidFill>
                          <a:latin typeface="Segoe UI"/>
                        </a:rPr>
                        <a:t>Rub the mouse back and forth</a:t>
                      </a:r>
                    </a:p>
                  </a:txBody>
                  <a:tcPr marL="73152" marR="73152" marT="36576" marB="36576">
                    <a:solidFill>
                      <a:srgbClr val="FFFDF8"/>
                    </a:solidFill>
                  </a:tcPr>
                </a:tc>
                <a:tc>
                  <a:txBody>
                    <a:bodyPr wrap="square"/>
                    <a:lstStyle/>
                    <a:p>
                      <a:r>
                        <a:rPr sz="1400" b="0">
                          <a:solidFill>
                            <a:srgbClr val="2B2A28"/>
                          </a:solidFill>
                          <a:latin typeface="Segoe UI"/>
                        </a:rPr>
                        <a:t>Petting ♥ - happiness and bond go up</a:t>
                      </a:r>
                    </a:p>
                  </a:txBody>
                  <a:tcPr marL="73152" marR="73152" marT="36576" marB="36576">
                    <a:solidFill>
                      <a:srgbClr val="FFFDF8"/>
                    </a:solidFill>
                  </a:tcPr>
                </a:tc>
              </a:tr>
              <a:tr h="475488">
                <a:tc>
                  <a:txBody>
                    <a:bodyPr wrap="square"/>
                    <a:lstStyle/>
                    <a:p>
                      <a:r>
                        <a:rPr sz="1400" b="1">
                          <a:solidFill>
                            <a:srgbClr val="2B2A28"/>
                          </a:solidFill>
                          <a:latin typeface="Segoe UI"/>
                        </a:rPr>
                        <a:t>Shake while dragging</a:t>
                      </a:r>
                    </a:p>
                  </a:txBody>
                  <a:tcPr marL="73152" marR="73152" marT="36576" marB="36576">
                    <a:solidFill>
                      <a:srgbClr val="F7F4EC"/>
                    </a:solidFill>
                  </a:tcPr>
                </a:tc>
                <a:tc>
                  <a:txBody>
                    <a:bodyPr wrap="square"/>
                    <a:lstStyle/>
                    <a:p>
                      <a:r>
                        <a:rPr sz="1400" b="0">
                          <a:solidFill>
                            <a:srgbClr val="2B2A28"/>
                          </a:solidFill>
                          <a:latin typeface="Segoe UI"/>
                        </a:rPr>
                        <a:t>Dizzy! (don't overdo it)</a:t>
                      </a:r>
                    </a:p>
                  </a:txBody>
                  <a:tcPr marL="73152" marR="73152" marT="36576" marB="36576">
                    <a:solidFill>
                      <a:srgbClr val="F7F4EC"/>
                    </a:solidFill>
                  </a:tcPr>
                </a:tc>
              </a:tr>
              <a:tr h="475488">
                <a:tc>
                  <a:txBody>
                    <a:bodyPr wrap="square"/>
                    <a:lstStyle/>
                    <a:p>
                      <a:r>
                        <a:rPr sz="1400" b="1">
                          <a:solidFill>
                            <a:srgbClr val="2B2A28"/>
                          </a:solidFill>
                          <a:latin typeface="Segoe UI"/>
                        </a:rPr>
                        <a:t>Right-click</a:t>
                      </a:r>
                    </a:p>
                  </a:txBody>
                  <a:tcPr marL="73152" marR="73152" marT="36576" marB="36576">
                    <a:solidFill>
                      <a:srgbClr val="FFFDF8"/>
                    </a:solidFill>
                  </a:tcPr>
                </a:tc>
                <a:tc>
                  <a:txBody>
                    <a:bodyPr wrap="square"/>
                    <a:lstStyle/>
                    <a:p>
                      <a:r>
                        <a:rPr sz="1400" b="0">
                          <a:solidFill>
                            <a:srgbClr val="2B2A28"/>
                          </a:solidFill>
                          <a:latin typeface="Segoe UI"/>
                        </a:rPr>
                        <a:t>Menu: snack, sleep / wake, Animal, colours, size, Language, Help…</a:t>
                      </a:r>
                    </a:p>
                  </a:txBody>
                  <a:tcPr marL="73152" marR="73152" marT="36576" marB="36576">
                    <a:solidFill>
                      <a:srgbClr val="FFFDF8"/>
                    </a:solidFill>
                  </a:tcPr>
                </a:tc>
              </a:tr>
              <a:tr h="475488">
                <a:tc>
                  <a:txBody>
                    <a:bodyPr wrap="square"/>
                    <a:lstStyle/>
                    <a:p>
                      <a:r>
                        <a:rPr sz="1400" b="1">
                          <a:solidFill>
                            <a:srgbClr val="2B2A28"/>
                          </a:solidFill>
                          <a:latin typeface="Segoe UI"/>
                        </a:rPr>
                        <a:t>Give a snack ♨</a:t>
                      </a:r>
                    </a:p>
                  </a:txBody>
                  <a:tcPr marL="73152" marR="73152" marT="36576" marB="36576">
                    <a:solidFill>
                      <a:srgbClr val="F7F4EC"/>
                    </a:solidFill>
                  </a:tcPr>
                </a:tc>
                <a:tc>
                  <a:txBody>
                    <a:bodyPr wrap="square"/>
                    <a:lstStyle/>
                    <a:p>
                      <a:r>
                        <a:rPr sz="1400" b="0">
                          <a:solidFill>
                            <a:srgbClr val="2B2A28"/>
                          </a:solidFill>
                          <a:latin typeface="Segoe UI"/>
                        </a:rPr>
                        <a:t>Fills its tummy (right-click → Give a snack)</a:t>
                      </a:r>
                    </a:p>
                  </a:txBody>
                  <a:tcPr marL="73152" marR="73152" marT="36576" marB="36576">
                    <a:solidFill>
                      <a:srgbClr val="F7F4EC"/>
                    </a:solidFill>
                  </a:tcPr>
                </a:tc>
              </a:tr>
              <a:tr h="475488">
                <a:tc>
                  <a:txBody>
                    <a:bodyPr wrap="square"/>
                    <a:lstStyle/>
                    <a:p>
                      <a:r>
                        <a:rPr sz="1400" b="1">
                          <a:solidFill>
                            <a:srgbClr val="2B2A28"/>
                          </a:solidFill>
                          <a:latin typeface="Segoe UI"/>
                        </a:rPr>
                        <a:t>Leave the PC</a:t>
                      </a:r>
                    </a:p>
                  </a:txBody>
                  <a:tcPr marL="73152" marR="73152" marT="36576" marB="36576">
                    <a:solidFill>
                      <a:srgbClr val="FFFDF8"/>
                    </a:solidFill>
                  </a:tcPr>
                </a:tc>
                <a:tc>
                  <a:txBody>
                    <a:bodyPr wrap="square"/>
                    <a:lstStyle/>
                    <a:p>
                      <a:r>
                        <a:rPr sz="1400" b="0">
                          <a:solidFill>
                            <a:srgbClr val="2B2A28"/>
                          </a:solidFill>
                          <a:latin typeface="Segoe UI"/>
                        </a:rPr>
                        <a:t>It naps after a few minutes and wakes up when you're back</a:t>
                      </a:r>
                    </a:p>
                  </a:txBody>
                  <a:tcPr marL="73152" marR="73152" marT="36576" marB="36576">
                    <a:solidFill>
                      <a:srgbClr val="FFFDF8"/>
                    </a:solidFill>
                  </a:tcPr>
                </a:tc>
              </a:tr>
              <a:tr h="475488">
                <a:tc>
                  <a:txBody>
                    <a:bodyPr wrap="square"/>
                    <a:lstStyle/>
                    <a:p>
                      <a:r>
                        <a:rPr sz="1400" b="1">
                          <a:solidFill>
                            <a:srgbClr val="2B2A28"/>
                          </a:solidFill>
                          <a:latin typeface="Segoe UI"/>
                        </a:rPr>
                        <a:t>Listen ♪</a:t>
                      </a:r>
                    </a:p>
                  </a:txBody>
                  <a:tcPr marL="73152" marR="73152" marT="36576" marB="36576">
                    <a:solidFill>
                      <a:srgbClr val="F7F4EC"/>
                    </a:solidFill>
                  </a:tcPr>
                </a:tc>
                <a:tc>
                  <a:txBody>
                    <a:bodyPr wrap="square"/>
                    <a:lstStyle/>
                    <a:p>
                      <a:r>
                        <a:rPr sz="1400" b="0">
                          <a:solidFill>
                            <a:srgbClr val="2B2A28"/>
                          </a:solidFill>
                          <a:latin typeface="Segoe UI"/>
                        </a:rPr>
                        <a:t>Meows, barks, ribbits, hoots… its voice changes with its mood</a:t>
                      </a:r>
                    </a:p>
                  </a:txBody>
                  <a:tcPr marL="73152" marR="73152" marT="36576" marB="36576">
                    <a:solidFill>
                      <a:srgbClr val="F7F4EC"/>
                    </a:solidFill>
                  </a:tcPr>
                </a:tc>
              </a:tr>
            </a:tbl>
          </a:graphicData>
        </a:graphic>
      </p:graphicFrame>
      <p:pic>
        <p:nvPicPr>
          <p:cNvPr id="8" name="Picture 7" descr="tour_menu.png"/>
          <p:cNvPicPr>
            <a:picLocks noChangeAspect="1"/>
          </p:cNvPicPr>
          <p:nvPr/>
        </p:nvPicPr>
        <p:blipFill>
          <a:blip r:embed="rId2"/>
          <a:stretch>
            <a:fillRect/>
          </a:stretch>
        </p:blipFill>
        <p:spPr>
          <a:xfrm>
            <a:off x="8138160" y="1664384"/>
            <a:ext cx="3749039" cy="2523391"/>
          </a:xfrm>
          <a:prstGeom prst="rect">
            <a:avLst/>
          </a:prstGeom>
          <a:ln w="12700">
            <a:solidFill>
              <a:srgbClr val="E2DCCE"/>
            </a:solidFill>
          </a:ln>
        </p:spPr>
      </p:pic>
      <p:sp>
        <p:nvSpPr>
          <p:cNvPr id="9" name="TextBox 8"/>
          <p:cNvSpPr txBox="1"/>
          <p:nvPr/>
        </p:nvSpPr>
        <p:spPr>
          <a:xfrm>
            <a:off x="8138160" y="4251960"/>
            <a:ext cx="3749039" cy="365760"/>
          </a:xfrm>
          <a:prstGeom prst="rect">
            <a:avLst/>
          </a:prstGeom>
          <a:noFill/>
        </p:spPr>
        <p:txBody>
          <a:bodyPr wrap="square" anchor="t" lIns="45720" rIns="45720" tIns="27432" bIns="27432">
            <a:spAutoFit/>
          </a:bodyPr>
          <a:lstStyle/>
          <a:p>
            <a:pPr algn="ctr"/>
            <a:r>
              <a:rPr sz="1200" b="0">
                <a:solidFill>
                  <a:srgbClr val="6E6A62"/>
                </a:solidFill>
                <a:latin typeface="Segoe UI"/>
              </a:rPr>
              <a:t>Right-click = everything</a:t>
            </a:r>
          </a:p>
        </p:txBody>
      </p:sp>
      <p:sp>
        <p:nvSpPr>
          <p:cNvPr id="10" name="TextBox 9"/>
          <p:cNvSpPr txBox="1"/>
          <p:nvPr/>
        </p:nvSpPr>
        <p:spPr>
          <a:xfrm>
            <a:off x="8138160" y="4754880"/>
            <a:ext cx="3749039" cy="1371600"/>
          </a:xfrm>
          <a:prstGeom prst="rect">
            <a:avLst/>
          </a:prstGeom>
          <a:noFill/>
        </p:spPr>
        <p:txBody>
          <a:bodyPr wrap="square" anchor="t" lIns="45720" rIns="45720" tIns="27432" bIns="27432">
            <a:spAutoFit/>
          </a:bodyPr>
          <a:lstStyle/>
          <a:p>
            <a:pPr algn="l"/>
            <a:r>
              <a:rPr sz="1300" b="0">
                <a:solidFill>
                  <a:srgbClr val="6E6A62"/>
                </a:solidFill>
                <a:latin typeface="Segoe UI"/>
              </a:rPr>
              <a:t>Just want to tickle? Right-click → When I click → Only tickle (never open Pips).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23 animals in 3 groups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7</a:t>
            </a:r>
          </a:p>
        </p:txBody>
      </p:sp>
      <p:pic>
        <p:nvPicPr>
          <p:cNvPr id="7" name="Picture 6" descr="species_sheet.png"/>
          <p:cNvPicPr>
            <a:picLocks noChangeAspect="1"/>
          </p:cNvPicPr>
          <p:nvPr/>
        </p:nvPicPr>
        <p:blipFill>
          <a:blip r:embed="rId2"/>
          <a:stretch>
            <a:fillRect/>
          </a:stretch>
        </p:blipFill>
        <p:spPr>
          <a:xfrm>
            <a:off x="548640" y="1613447"/>
            <a:ext cx="7040880" cy="4179745"/>
          </a:xfrm>
          <a:prstGeom prst="rect">
            <a:avLst/>
          </a:prstGeom>
          <a:ln w="12700">
            <a:solidFill>
              <a:srgbClr val="E2DCCE"/>
            </a:solidFill>
          </a:ln>
        </p:spPr>
      </p:pic>
      <p:sp>
        <p:nvSpPr>
          <p:cNvPr id="8" name="TextBox 7"/>
          <p:cNvSpPr txBox="1"/>
          <p:nvPr/>
        </p:nvSpPr>
        <p:spPr>
          <a:xfrm>
            <a:off x="7863840" y="1645920"/>
            <a:ext cx="4023360" cy="4572000"/>
          </a:xfrm>
          <a:prstGeom prst="rect">
            <a:avLst/>
          </a:prstGeom>
          <a:noFill/>
        </p:spPr>
        <p:txBody>
          <a:bodyPr wrap="square">
            <a:spAutoFit/>
          </a:bodyPr>
          <a:lstStyle/>
          <a:p>
            <a:pPr>
              <a:spcAft>
                <a:spcPts val="800"/>
              </a:spcAft>
            </a:pPr>
            <a:r>
              <a:rPr sz="1500" b="1">
                <a:solidFill>
                  <a:srgbClr val="4CB86B"/>
                </a:solidFill>
                <a:latin typeface="Segoe UI"/>
              </a:rPr>
              <a:t>•  </a:t>
            </a:r>
            <a:r>
              <a:rPr sz="1500" b="1">
                <a:solidFill>
                  <a:srgbClr val="2B2A28"/>
                </a:solidFill>
                <a:latin typeface="Segoe UI"/>
              </a:rPr>
              <a:t>Land (9): </a:t>
            </a:r>
            <a:r>
              <a:rPr sz="1500">
                <a:solidFill>
                  <a:srgbClr val="2B2A28"/>
                </a:solidFill>
                <a:latin typeface="Segoe UI"/>
              </a:rPr>
              <a:t>cat, dog, bunny, bear, panda, fox, hamster, pig, sprout - they walk &amp; hop.</a:t>
            </a:r>
          </a:p>
          <a:p>
            <a:pPr>
              <a:spcAft>
                <a:spcPts val="800"/>
              </a:spcAft>
            </a:pPr>
            <a:r>
              <a:rPr sz="1500" b="1">
                <a:solidFill>
                  <a:srgbClr val="4CB86B"/>
                </a:solidFill>
                <a:latin typeface="Segoe UI"/>
              </a:rPr>
              <a:t>•  </a:t>
            </a:r>
            <a:r>
              <a:rPr sz="1500" b="1">
                <a:solidFill>
                  <a:srgbClr val="2B2A28"/>
                </a:solidFill>
                <a:latin typeface="Segoe UI"/>
              </a:rPr>
              <a:t>Water (8): </a:t>
            </a:r>
            <a:r>
              <a:rPr sz="1500">
                <a:solidFill>
                  <a:srgbClr val="2B2A28"/>
                </a:solidFill>
                <a:latin typeface="Segoe UI"/>
              </a:rPr>
              <a:t>fish, whale, octopus, axolotl, penguin, turtle, frog, jellyfish - they swim with bubbles.</a:t>
            </a:r>
          </a:p>
          <a:p>
            <a:pPr>
              <a:spcAft>
                <a:spcPts val="800"/>
              </a:spcAft>
            </a:pPr>
            <a:r>
              <a:rPr sz="1500" b="1">
                <a:solidFill>
                  <a:srgbClr val="4CB86B"/>
                </a:solidFill>
                <a:latin typeface="Segoe UI"/>
              </a:rPr>
              <a:t>•  </a:t>
            </a:r>
            <a:r>
              <a:rPr sz="1500" b="1">
                <a:solidFill>
                  <a:srgbClr val="2B2A28"/>
                </a:solidFill>
                <a:latin typeface="Segoe UI"/>
              </a:rPr>
              <a:t>Sky (6): </a:t>
            </a:r>
            <a:r>
              <a:rPr sz="1500">
                <a:solidFill>
                  <a:srgbClr val="2B2A28"/>
                </a:solidFill>
                <a:latin typeface="Segoe UI"/>
              </a:rPr>
              <a:t>bird, owl, bat, bee, butterfly, dragon - they hover and flap.</a:t>
            </a:r>
          </a:p>
          <a:p>
            <a:pPr>
              <a:spcAft>
                <a:spcPts val="800"/>
              </a:spcAft>
            </a:pPr>
            <a:r>
              <a:rPr sz="1500" b="1">
                <a:solidFill>
                  <a:srgbClr val="4CB86B"/>
                </a:solidFill>
                <a:latin typeface="Segoe UI"/>
              </a:rPr>
              <a:t>•  </a:t>
            </a:r>
            <a:r>
              <a:rPr sz="1500" b="1">
                <a:solidFill>
                  <a:srgbClr val="2B2A28"/>
                </a:solidFill>
                <a:latin typeface="Segoe UI"/>
              </a:rPr>
              <a:t>Change: </a:t>
            </a:r>
            <a:r>
              <a:rPr sz="1500">
                <a:solidFill>
                  <a:srgbClr val="2B2A28"/>
                </a:solidFill>
                <a:latin typeface="Segoe UI"/>
              </a:rPr>
              <a:t>right-click → Animal, or the tabs in Pet status &amp; settings.</a:t>
            </a:r>
          </a:p>
          <a:p>
            <a:pPr>
              <a:spcAft>
                <a:spcPts val="800"/>
              </a:spcAft>
            </a:pPr>
            <a:r>
              <a:rPr sz="1500" b="1">
                <a:solidFill>
                  <a:srgbClr val="4CB86B"/>
                </a:solidFill>
                <a:latin typeface="Segoe UI"/>
              </a:rPr>
              <a:t>•  </a:t>
            </a:r>
            <a:r>
              <a:rPr sz="1500" b="1">
                <a:solidFill>
                  <a:srgbClr val="2B2A28"/>
                </a:solidFill>
                <a:latin typeface="Segoe UI"/>
              </a:rPr>
              <a:t>Make it yours: </a:t>
            </a:r>
            <a:r>
              <a:rPr sz="1500">
                <a:solidFill>
                  <a:srgbClr val="2B2A28"/>
                </a:solidFill>
                <a:latin typeface="Segoe UI"/>
              </a:rPr>
              <a:t>name, body colour, cheek colour and size S / M / L.</a:t>
            </a:r>
          </a:p>
          <a:p>
            <a:pPr>
              <a:spcAft>
                <a:spcPts val="800"/>
              </a:spcAft>
            </a:pPr>
            <a:r>
              <a:rPr sz="1500" b="1">
                <a:solidFill>
                  <a:srgbClr val="4CB86B"/>
                </a:solidFill>
                <a:latin typeface="Segoe UI"/>
              </a:rPr>
              <a:t>•  </a:t>
            </a:r>
            <a:r>
              <a:rPr sz="1500" b="1">
                <a:solidFill>
                  <a:srgbClr val="2B2A28"/>
                </a:solidFill>
                <a:latin typeface="Segoe UI"/>
              </a:rPr>
              <a:t>Own voice ♪: </a:t>
            </a:r>
            <a:r>
              <a:rPr sz="1500">
                <a:solidFill>
                  <a:srgbClr val="2B2A28"/>
                </a:solidFill>
                <a:latin typeface="Segoe UI"/>
              </a:rPr>
              <a:t>every animal sounds different - happy, sleepy, hungry or grumpy.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YOUR PET</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Moods &amp; needs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8</a:t>
            </a:r>
          </a:p>
        </p:txBody>
      </p:sp>
      <p:graphicFrame>
        <p:nvGraphicFramePr>
          <p:cNvPr id="7" name="Table 6"/>
          <p:cNvGraphicFramePr>
            <a:graphicFrameLocks noGrp="1"/>
          </p:cNvGraphicFramePr>
          <p:nvPr/>
        </p:nvGraphicFramePr>
        <p:xfrm>
          <a:off x="548640" y="1645920"/>
          <a:ext cx="7498080" cy="2578608"/>
        </p:xfrm>
        <a:graphic>
          <a:graphicData uri="http://schemas.openxmlformats.org/drawingml/2006/table">
            <a:tbl>
              <a:tblPr firstRow="1" bandRow="1">
                <a:tableStyleId>{5C22544A-7EE6-4342-B048-85BDC9FD1C3A}</a:tableStyleId>
              </a:tblPr>
              <a:tblGrid>
                <a:gridCol w="1463040"/>
                <a:gridCol w="3474720"/>
                <a:gridCol w="2560320"/>
              </a:tblGrid>
              <a:tr h="384048">
                <a:tc>
                  <a:txBody>
                    <a:bodyPr wrap="square"/>
                    <a:lstStyle/>
                    <a:p>
                      <a:r>
                        <a:rPr sz="1400" b="1">
                          <a:solidFill>
                            <a:srgbClr val="FFFFFF"/>
                          </a:solidFill>
                          <a:latin typeface="Segoe UI"/>
                        </a:rPr>
                        <a:t>Stat</a:t>
                      </a:r>
                    </a:p>
                  </a:txBody>
                  <a:tcPr marL="73152" marR="73152" marT="36576" marB="36576">
                    <a:solidFill>
                      <a:srgbClr val="8B1A1A"/>
                    </a:solidFill>
                  </a:tcPr>
                </a:tc>
                <a:tc>
                  <a:txBody>
                    <a:bodyPr wrap="square"/>
                    <a:lstStyle/>
                    <a:p>
                      <a:r>
                        <a:rPr sz="1400" b="1">
                          <a:solidFill>
                            <a:srgbClr val="FFFFFF"/>
                          </a:solidFill>
                          <a:latin typeface="Segoe UI"/>
                        </a:rPr>
                        <a:t>Goes up when…</a:t>
                      </a:r>
                    </a:p>
                  </a:txBody>
                  <a:tcPr marL="73152" marR="73152" marT="36576" marB="36576">
                    <a:solidFill>
                      <a:srgbClr val="8B1A1A"/>
                    </a:solidFill>
                  </a:tcPr>
                </a:tc>
                <a:tc>
                  <a:txBody>
                    <a:bodyPr wrap="square"/>
                    <a:lstStyle/>
                    <a:p>
                      <a:r>
                        <a:rPr sz="1400" b="1">
                          <a:solidFill>
                            <a:srgbClr val="FFFFFF"/>
                          </a:solidFill>
                          <a:latin typeface="Segoe UI"/>
                        </a:rPr>
                        <a:t>Goes down when…</a:t>
                      </a:r>
                    </a:p>
                  </a:txBody>
                  <a:tcPr marL="73152" marR="73152" marT="36576" marB="36576">
                    <a:solidFill>
                      <a:srgbClr val="8B1A1A"/>
                    </a:solidFill>
                  </a:tcPr>
                </a:tc>
              </a:tr>
              <a:tr h="548640">
                <a:tc>
                  <a:txBody>
                    <a:bodyPr wrap="square"/>
                    <a:lstStyle/>
                    <a:p>
                      <a:r>
                        <a:rPr sz="1400" b="1">
                          <a:solidFill>
                            <a:srgbClr val="2B2A28"/>
                          </a:solidFill>
                          <a:latin typeface="Segoe UI"/>
                        </a:rPr>
                        <a:t>Happiness</a:t>
                      </a:r>
                    </a:p>
                  </a:txBody>
                  <a:tcPr marL="73152" marR="73152" marT="36576" marB="36576">
                    <a:solidFill>
                      <a:srgbClr val="FFFDF8"/>
                    </a:solidFill>
                  </a:tcPr>
                </a:tc>
                <a:tc>
                  <a:txBody>
                    <a:bodyPr wrap="square"/>
                    <a:lstStyle/>
                    <a:p>
                      <a:r>
                        <a:rPr sz="1400" b="0">
                          <a:solidFill>
                            <a:srgbClr val="2B2A28"/>
                          </a:solidFill>
                          <a:latin typeface="Segoe UI"/>
                        </a:rPr>
                        <a:t>You pet it, finish pomodoros, hit your goal</a:t>
                      </a:r>
                    </a:p>
                  </a:txBody>
                  <a:tcPr marL="73152" marR="73152" marT="36576" marB="36576">
                    <a:solidFill>
                      <a:srgbClr val="FFFDF8"/>
                    </a:solidFill>
                  </a:tcPr>
                </a:tc>
                <a:tc>
                  <a:txBody>
                    <a:bodyPr wrap="square"/>
                    <a:lstStyle/>
                    <a:p>
                      <a:r>
                        <a:rPr sz="1400" b="0">
                          <a:solidFill>
                            <a:srgbClr val="2B2A28"/>
                          </a:solidFill>
                          <a:latin typeface="Segoe UI"/>
                        </a:rPr>
                        <a:t>Ignored for long</a:t>
                      </a:r>
                    </a:p>
                  </a:txBody>
                  <a:tcPr marL="73152" marR="73152" marT="36576" marB="36576">
                    <a:solidFill>
                      <a:srgbClr val="FFFDF8"/>
                    </a:solidFill>
                  </a:tcPr>
                </a:tc>
              </a:tr>
              <a:tr h="548640">
                <a:tc>
                  <a:txBody>
                    <a:bodyPr wrap="square"/>
                    <a:lstStyle/>
                    <a:p>
                      <a:r>
                        <a:rPr sz="1400" b="1">
                          <a:solidFill>
                            <a:srgbClr val="2B2A28"/>
                          </a:solidFill>
                          <a:latin typeface="Segoe UI"/>
                        </a:rPr>
                        <a:t>Energy</a:t>
                      </a:r>
                    </a:p>
                  </a:txBody>
                  <a:tcPr marL="73152" marR="73152" marT="36576" marB="36576">
                    <a:solidFill>
                      <a:srgbClr val="F7F4EC"/>
                    </a:solidFill>
                  </a:tcPr>
                </a:tc>
                <a:tc>
                  <a:txBody>
                    <a:bodyPr wrap="square"/>
                    <a:lstStyle/>
                    <a:p>
                      <a:r>
                        <a:rPr sz="1400" b="0">
                          <a:solidFill>
                            <a:srgbClr val="2B2A28"/>
                          </a:solidFill>
                          <a:latin typeface="Segoe UI"/>
                        </a:rPr>
                        <a:t>It naps (when you're away or via Sleep)</a:t>
                      </a:r>
                    </a:p>
                  </a:txBody>
                  <a:tcPr marL="73152" marR="73152" marT="36576" marB="36576">
                    <a:solidFill>
                      <a:srgbClr val="F7F4EC"/>
                    </a:solidFill>
                  </a:tcPr>
                </a:tc>
                <a:tc>
                  <a:txBody>
                    <a:bodyPr wrap="square"/>
                    <a:lstStyle/>
                    <a:p>
                      <a:r>
                        <a:rPr sz="1400" b="0">
                          <a:solidFill>
                            <a:srgbClr val="2B2A28"/>
                          </a:solidFill>
                          <a:latin typeface="Segoe UI"/>
                        </a:rPr>
                        <a:t>Time awake, lots of play</a:t>
                      </a:r>
                    </a:p>
                  </a:txBody>
                  <a:tcPr marL="73152" marR="73152" marT="36576" marB="36576">
                    <a:solidFill>
                      <a:srgbClr val="F7F4EC"/>
                    </a:solidFill>
                  </a:tcPr>
                </a:tc>
              </a:tr>
              <a:tr h="548640">
                <a:tc>
                  <a:txBody>
                    <a:bodyPr wrap="square"/>
                    <a:lstStyle/>
                    <a:p>
                      <a:r>
                        <a:rPr sz="1400" b="1">
                          <a:solidFill>
                            <a:srgbClr val="2B2A28"/>
                          </a:solidFill>
                          <a:latin typeface="Segoe UI"/>
                        </a:rPr>
                        <a:t>Food</a:t>
                      </a:r>
                    </a:p>
                  </a:txBody>
                  <a:tcPr marL="73152" marR="73152" marT="36576" marB="36576">
                    <a:solidFill>
                      <a:srgbClr val="FFFDF8"/>
                    </a:solidFill>
                  </a:tcPr>
                </a:tc>
                <a:tc>
                  <a:txBody>
                    <a:bodyPr wrap="square"/>
                    <a:lstStyle/>
                    <a:p>
                      <a:r>
                        <a:rPr sz="1400" b="0">
                          <a:solidFill>
                            <a:srgbClr val="2B2A28"/>
                          </a:solidFill>
                          <a:latin typeface="Segoe UI"/>
                        </a:rPr>
                        <a:t>You give a snack</a:t>
                      </a:r>
                    </a:p>
                  </a:txBody>
                  <a:tcPr marL="73152" marR="73152" marT="36576" marB="36576">
                    <a:solidFill>
                      <a:srgbClr val="FFFDF8"/>
                    </a:solidFill>
                  </a:tcPr>
                </a:tc>
                <a:tc>
                  <a:txBody>
                    <a:bodyPr wrap="square"/>
                    <a:lstStyle/>
                    <a:p>
                      <a:r>
                        <a:rPr sz="1400" b="0">
                          <a:solidFill>
                            <a:srgbClr val="2B2A28"/>
                          </a:solidFill>
                          <a:latin typeface="Segoe UI"/>
                        </a:rPr>
                        <a:t>Slowly over the day</a:t>
                      </a:r>
                    </a:p>
                  </a:txBody>
                  <a:tcPr marL="73152" marR="73152" marT="36576" marB="36576">
                    <a:solidFill>
                      <a:srgbClr val="FFFDF8"/>
                    </a:solidFill>
                  </a:tcPr>
                </a:tc>
              </a:tr>
              <a:tr h="548640">
                <a:tc>
                  <a:txBody>
                    <a:bodyPr wrap="square"/>
                    <a:lstStyle/>
                    <a:p>
                      <a:r>
                        <a:rPr sz="1400" b="1">
                          <a:solidFill>
                            <a:srgbClr val="2B2A28"/>
                          </a:solidFill>
                          <a:latin typeface="Segoe UI"/>
                        </a:rPr>
                        <a:t>Bond</a:t>
                      </a:r>
                    </a:p>
                  </a:txBody>
                  <a:tcPr marL="73152" marR="73152" marT="36576" marB="36576">
                    <a:solidFill>
                      <a:srgbClr val="F7F4EC"/>
                    </a:solidFill>
                  </a:tcPr>
                </a:tc>
                <a:tc>
                  <a:txBody>
                    <a:bodyPr wrap="square"/>
                    <a:lstStyle/>
                    <a:p>
                      <a:r>
                        <a:rPr sz="1400" b="0">
                          <a:solidFill>
                            <a:srgbClr val="2B2A28"/>
                          </a:solidFill>
                          <a:latin typeface="Segoe UI"/>
                        </a:rPr>
                        <a:t>Every interaction, every day together</a:t>
                      </a:r>
                    </a:p>
                  </a:txBody>
                  <a:tcPr marL="73152" marR="73152" marT="36576" marB="36576">
                    <a:solidFill>
                      <a:srgbClr val="F7F4EC"/>
                    </a:solidFill>
                  </a:tcPr>
                </a:tc>
                <a:tc>
                  <a:txBody>
                    <a:bodyPr wrap="square"/>
                    <a:lstStyle/>
                    <a:p>
                      <a:r>
                        <a:rPr sz="1400" b="0">
                          <a:solidFill>
                            <a:srgbClr val="2B2A28"/>
                          </a:solidFill>
                          <a:latin typeface="Segoe UI"/>
                        </a:rPr>
                        <a:t>(never really drops)</a:t>
                      </a:r>
                    </a:p>
                  </a:txBody>
                  <a:tcPr marL="73152" marR="73152" marT="36576" marB="36576">
                    <a:solidFill>
                      <a:srgbClr val="F7F4EC"/>
                    </a:solidFill>
                  </a:tcPr>
                </a:tc>
              </a:tr>
            </a:tbl>
          </a:graphicData>
        </a:graphic>
      </p:graphicFrame>
      <p:sp>
        <p:nvSpPr>
          <p:cNvPr id="8" name="TextBox 7"/>
          <p:cNvSpPr txBox="1"/>
          <p:nvPr/>
        </p:nvSpPr>
        <p:spPr>
          <a:xfrm>
            <a:off x="548640" y="4663440"/>
            <a:ext cx="7498079" cy="1463040"/>
          </a:xfrm>
          <a:prstGeom prst="rect">
            <a:avLst/>
          </a:prstGeom>
          <a:noFill/>
        </p:spPr>
        <p:txBody>
          <a:bodyPr wrap="square" anchor="t" lIns="45720" rIns="45720" tIns="27432" bIns="27432">
            <a:spAutoFit/>
          </a:bodyPr>
          <a:lstStyle/>
          <a:p>
            <a:pPr algn="l"/>
            <a:r>
              <a:rPr sz="1500" b="0">
                <a:solidFill>
                  <a:srgbClr val="2B2A28"/>
                </a:solidFill>
                <a:latin typeface="Segoe UI"/>
              </a:rPr>
              <a:t>Moods you'll see: very happy · happy · okay · sad · very sad · tired · hungry · grumpy · sleeping.</a:t>
            </a:r>
          </a:p>
          <a:p>
            <a:pPr algn="l"/>
            <a:r>
              <a:rPr sz="1500" b="0">
                <a:solidFill>
                  <a:srgbClr val="2B2A28"/>
                </a:solidFill>
                <a:latin typeface="Segoe UI"/>
              </a:rPr>
              <a:t>Check them anytime: right-click → Pet status &amp; settings.</a:t>
            </a:r>
          </a:p>
        </p:txBody>
      </p:sp>
      <p:pic>
        <p:nvPicPr>
          <p:cNvPr id="9" name="Picture 8" descr="tour_moods.png"/>
          <p:cNvPicPr>
            <a:picLocks noChangeAspect="1"/>
          </p:cNvPicPr>
          <p:nvPr/>
        </p:nvPicPr>
        <p:blipFill>
          <a:blip r:embed="rId2"/>
          <a:stretch>
            <a:fillRect/>
          </a:stretch>
        </p:blipFill>
        <p:spPr>
          <a:xfrm>
            <a:off x="8321040" y="1680210"/>
            <a:ext cx="3566160" cy="2400300"/>
          </a:xfrm>
          <a:prstGeom prst="rect">
            <a:avLst/>
          </a:prstGeom>
          <a:ln w="12700">
            <a:solidFill>
              <a:srgbClr val="E2DCCE"/>
            </a:solidFill>
          </a:ln>
        </p:spPr>
      </p:pic>
      <p:pic>
        <p:nvPicPr>
          <p:cNvPr id="10" name="Picture 9" descr="tour_finish.png"/>
          <p:cNvPicPr>
            <a:picLocks noChangeAspect="1"/>
          </p:cNvPicPr>
          <p:nvPr/>
        </p:nvPicPr>
        <p:blipFill>
          <a:blip r:embed="rId3"/>
          <a:stretch>
            <a:fillRect/>
          </a:stretch>
        </p:blipFill>
        <p:spPr>
          <a:xfrm>
            <a:off x="8677656" y="4297680"/>
            <a:ext cx="2852928" cy="1920239"/>
          </a:xfrm>
          <a:prstGeom prst="rect">
            <a:avLst/>
          </a:prstGeom>
          <a:ln w="12700">
            <a:solidFill>
              <a:srgbClr val="E2DCCE"/>
            </a:solidFill>
          </a:ln>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Focus timer (right-click → Focus timer)</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9</a:t>
            </a:r>
          </a:p>
        </p:txBody>
      </p:sp>
      <p:pic>
        <p:nvPicPr>
          <p:cNvPr id="7" name="Picture 6" descr="tour_card.png"/>
          <p:cNvPicPr>
            <a:picLocks noChangeAspect="1"/>
          </p:cNvPicPr>
          <p:nvPr/>
        </p:nvPicPr>
        <p:blipFill>
          <a:blip r:embed="rId2"/>
          <a:stretch>
            <a:fillRect/>
          </a:stretch>
        </p:blipFill>
        <p:spPr>
          <a:xfrm>
            <a:off x="980151" y="1554480"/>
            <a:ext cx="2428818" cy="4754880"/>
          </a:xfrm>
          <a:prstGeom prst="rect">
            <a:avLst/>
          </a:prstGeom>
          <a:ln w="12700">
            <a:solidFill>
              <a:srgbClr val="E2DCCE"/>
            </a:solidFill>
          </a:ln>
        </p:spPr>
      </p:pic>
      <p:sp>
        <p:nvSpPr>
          <p:cNvPr id="8" name="TextBox 7"/>
          <p:cNvSpPr txBox="1"/>
          <p:nvPr/>
        </p:nvSpPr>
        <p:spPr>
          <a:xfrm>
            <a:off x="4206240" y="1645920"/>
            <a:ext cx="7589520" cy="4754880"/>
          </a:xfrm>
          <a:prstGeom prst="rect">
            <a:avLst/>
          </a:prstGeom>
          <a:noFill/>
        </p:spPr>
        <p:txBody>
          <a:bodyPr wrap="square">
            <a:spAutoFit/>
          </a:bodyPr>
          <a:lstStyle/>
          <a:p>
            <a:pPr>
              <a:spcAft>
                <a:spcPts val="900"/>
              </a:spcAft>
            </a:pPr>
            <a:r>
              <a:rPr sz="1600" b="1">
                <a:solidFill>
                  <a:srgbClr val="4CB86B"/>
                </a:solidFill>
                <a:latin typeface="Segoe UI"/>
              </a:rPr>
              <a:t>•  </a:t>
            </a:r>
            <a:r>
              <a:rPr sz="1600" b="1">
                <a:solidFill>
                  <a:srgbClr val="2B2A28"/>
                </a:solidFill>
                <a:latin typeface="Segoe UI"/>
              </a:rPr>
              <a:t>Start: </a:t>
            </a:r>
            <a:r>
              <a:rPr sz="1600">
                <a:solidFill>
                  <a:srgbClr val="2B2A28"/>
                </a:solidFill>
                <a:latin typeface="Segoe UI"/>
              </a:rPr>
              <a:t>click the ring or ► Start. 25 min focus → 5 min break; every 4th break is longer.</a:t>
            </a:r>
          </a:p>
          <a:p>
            <a:pPr>
              <a:spcAft>
                <a:spcPts val="900"/>
              </a:spcAft>
            </a:pPr>
            <a:r>
              <a:rPr sz="1600" b="1">
                <a:solidFill>
                  <a:srgbClr val="4CB86B"/>
                </a:solidFill>
                <a:latin typeface="Segoe UI"/>
              </a:rPr>
              <a:t>•  </a:t>
            </a:r>
            <a:r>
              <a:rPr sz="1600" b="1">
                <a:solidFill>
                  <a:srgbClr val="2B2A28"/>
                </a:solidFill>
                <a:latin typeface="Segoe UI"/>
              </a:rPr>
              <a:t>Pause / reset: </a:t>
            </a:r>
            <a:r>
              <a:rPr sz="1600">
                <a:solidFill>
                  <a:srgbClr val="2B2A28"/>
                </a:solidFill>
                <a:latin typeface="Segoe UI"/>
              </a:rPr>
              <a:t>click the ring again, or ↻ Reset.</a:t>
            </a:r>
          </a:p>
          <a:p>
            <a:pPr>
              <a:spcAft>
                <a:spcPts val="900"/>
              </a:spcAft>
            </a:pPr>
            <a:r>
              <a:rPr sz="1600" b="1">
                <a:solidFill>
                  <a:srgbClr val="4CB86B"/>
                </a:solidFill>
                <a:latin typeface="Segoe UI"/>
              </a:rPr>
              <a:t>•  </a:t>
            </a:r>
            <a:r>
              <a:rPr sz="1600" b="1">
                <a:solidFill>
                  <a:srgbClr val="2B2A28"/>
                </a:solidFill>
                <a:latin typeface="Segoe UI"/>
              </a:rPr>
              <a:t>Sound: </a:t>
            </a:r>
            <a:r>
              <a:rPr sz="1600">
                <a:solidFill>
                  <a:srgbClr val="2B2A28"/>
                </a:solidFill>
                <a:latin typeface="Segoe UI"/>
              </a:rPr>
              <a:t>rain, thunder, brown noise, café, ocean, forest, fireplace, crickets, wind - pick one and set its volume (♪ button).</a:t>
            </a:r>
          </a:p>
          <a:p>
            <a:pPr>
              <a:spcAft>
                <a:spcPts val="900"/>
              </a:spcAft>
            </a:pPr>
            <a:r>
              <a:rPr sz="1600" b="1">
                <a:solidFill>
                  <a:srgbClr val="4CB86B"/>
                </a:solidFill>
                <a:latin typeface="Segoe UI"/>
              </a:rPr>
              <a:t>•  </a:t>
            </a:r>
            <a:r>
              <a:rPr sz="1600" b="1">
                <a:solidFill>
                  <a:srgbClr val="2B2A28"/>
                </a:solidFill>
                <a:latin typeface="Segoe UI"/>
              </a:rPr>
              <a:t>Status pill: </a:t>
            </a:r>
            <a:r>
              <a:rPr sz="1600">
                <a:solidFill>
                  <a:srgbClr val="2B2A28"/>
                </a:solidFill>
                <a:latin typeface="Segoe UI"/>
              </a:rPr>
              <a:t>shows what you're doing now (Focus / Idle / Break) and the app in front.</a:t>
            </a:r>
          </a:p>
          <a:p>
            <a:pPr>
              <a:spcAft>
                <a:spcPts val="900"/>
              </a:spcAft>
            </a:pPr>
            <a:r>
              <a:rPr sz="1600" b="1">
                <a:solidFill>
                  <a:srgbClr val="4CB86B"/>
                </a:solidFill>
                <a:latin typeface="Segoe UI"/>
              </a:rPr>
              <a:t>•  </a:t>
            </a:r>
            <a:r>
              <a:rPr sz="1600" b="1">
                <a:solidFill>
                  <a:srgbClr val="2B2A28"/>
                </a:solidFill>
                <a:latin typeface="Segoe UI"/>
              </a:rPr>
              <a:t>Score: </a:t>
            </a:r>
            <a:r>
              <a:rPr sz="1600">
                <a:solidFill>
                  <a:srgbClr val="2B2A28"/>
                </a:solidFill>
                <a:latin typeface="Segoe UI"/>
              </a:rPr>
              <a:t>★ 1-5 focus score for today, updated live.</a:t>
            </a:r>
          </a:p>
          <a:p>
            <a:pPr>
              <a:spcAft>
                <a:spcPts val="900"/>
              </a:spcAft>
            </a:pPr>
            <a:r>
              <a:rPr sz="1600" b="1">
                <a:solidFill>
                  <a:srgbClr val="4CB86B"/>
                </a:solidFill>
                <a:latin typeface="Segoe UI"/>
              </a:rPr>
              <a:t>•  </a:t>
            </a:r>
            <a:r>
              <a:rPr sz="1600" b="1">
                <a:solidFill>
                  <a:srgbClr val="2B2A28"/>
                </a:solidFill>
                <a:latin typeface="Segoe UI"/>
              </a:rPr>
              <a:t>Hide: </a:t>
            </a:r>
            <a:r>
              <a:rPr sz="1600">
                <a:solidFill>
                  <a:srgbClr val="2B2A28"/>
                </a:solidFill>
                <a:latin typeface="Segoe UI"/>
              </a:rPr>
              <a:t>– or ✕ tucks the card back into your pet. Click the pet to bring it back.</a:t>
            </a:r>
          </a:p>
          <a:p>
            <a:pPr>
              <a:spcAft>
                <a:spcPts val="900"/>
              </a:spcAft>
            </a:pPr>
            <a:r>
              <a:rPr sz="1600" b="1">
                <a:solidFill>
                  <a:srgbClr val="4CB86B"/>
                </a:solidFill>
                <a:latin typeface="Segoe UI"/>
              </a:rPr>
              <a:t>•  </a:t>
            </a:r>
            <a:r>
              <a:rPr sz="1600" b="1">
                <a:solidFill>
                  <a:srgbClr val="2B2A28"/>
                </a:solidFill>
                <a:latin typeface="Segoe UI"/>
              </a:rPr>
              <a:t>While you focus, </a:t>
            </a:r>
            <a:r>
              <a:rPr sz="1600">
                <a:solidFill>
                  <a:srgbClr val="2B2A28"/>
                </a:solidFill>
                <a:latin typeface="Segoe UI"/>
              </a:rPr>
              <a:t>your pet wears a little headband and nudges you if you drift to distracting apps.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FOCUS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Reminders, goals &amp; dashboard</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10</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Reminders as bubbles: </a:t>
            </a:r>
            <a:r>
              <a:rPr sz="1600">
                <a:solidFill>
                  <a:srgbClr val="2B2A28"/>
                </a:solidFill>
                <a:latin typeface="Segoe UI"/>
              </a:rPr>
              <a:t>stand-up breaks, drink water, 20-20-20 eye rest, pomodoro done, daily goal reached.</a:t>
            </a:r>
          </a:p>
          <a:p>
            <a:pPr>
              <a:spcAft>
                <a:spcPts val="1000"/>
              </a:spcAft>
            </a:pPr>
            <a:r>
              <a:rPr sz="1600" b="1">
                <a:solidFill>
                  <a:srgbClr val="4CB86B"/>
                </a:solidFill>
                <a:latin typeface="Segoe UI"/>
              </a:rPr>
              <a:t>•  </a:t>
            </a:r>
            <a:r>
              <a:rPr sz="1600" b="1">
                <a:solidFill>
                  <a:srgbClr val="2B2A28"/>
                </a:solidFill>
                <a:latin typeface="Segoe UI"/>
              </a:rPr>
              <a:t>Daily goal &amp; streaks: </a:t>
            </a:r>
            <a:r>
              <a:rPr sz="1600">
                <a:solidFill>
                  <a:srgbClr val="2B2A28"/>
                </a:solidFill>
                <a:latin typeface="Segoe UI"/>
              </a:rPr>
              <a:t>set a pomodoro goal; streaks and XP keep you going.</a:t>
            </a:r>
          </a:p>
          <a:p>
            <a:pPr>
              <a:spcAft>
                <a:spcPts val="1000"/>
              </a:spcAft>
            </a:pPr>
            <a:r>
              <a:rPr sz="1600" b="1">
                <a:solidFill>
                  <a:srgbClr val="4CB86B"/>
                </a:solidFill>
                <a:latin typeface="Segoe UI"/>
              </a:rPr>
              <a:t>•  </a:t>
            </a:r>
            <a:r>
              <a:rPr sz="1600" b="1">
                <a:solidFill>
                  <a:srgbClr val="2B2A28"/>
                </a:solidFill>
                <a:latin typeface="Segoe UI"/>
              </a:rPr>
              <a:t>Coach tips: </a:t>
            </a:r>
            <a:r>
              <a:rPr sz="1600">
                <a:solidFill>
                  <a:srgbClr val="2B2A28"/>
                </a:solidFill>
                <a:latin typeface="Segoe UI"/>
              </a:rPr>
              <a:t>short, friendly suggestions based on your day.</a:t>
            </a:r>
          </a:p>
          <a:p>
            <a:pPr>
              <a:spcAft>
                <a:spcPts val="1000"/>
              </a:spcAft>
            </a:pPr>
            <a:r>
              <a:rPr sz="1600" b="1">
                <a:solidFill>
                  <a:srgbClr val="4CB86B"/>
                </a:solidFill>
                <a:latin typeface="Segoe UI"/>
              </a:rPr>
              <a:t>•  </a:t>
            </a:r>
            <a:r>
              <a:rPr sz="1600" b="1">
                <a:solidFill>
                  <a:srgbClr val="2B2A28"/>
                </a:solidFill>
                <a:latin typeface="Segoe UI"/>
              </a:rPr>
              <a:t>Turn bubbles off: </a:t>
            </a:r>
            <a:r>
              <a:rPr sz="1600">
                <a:solidFill>
                  <a:srgbClr val="2B2A28"/>
                </a:solidFill>
                <a:latin typeface="Segoe UI"/>
              </a:rPr>
              <a:t>Pet status &amp; settings → uncheck “Show reminders &amp; notifications as chat bubbles” (you'll get normal notifications).</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Dashboard (right-click the card → Dashboard)</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600"/>
              </a:spcAft>
            </a:pPr>
            <a:r>
              <a:rPr sz="1500" b="1">
                <a:solidFill>
                  <a:srgbClr val="4CB86B"/>
                </a:solidFill>
                <a:latin typeface="Segoe UI"/>
              </a:rPr>
              <a:t>•  </a:t>
            </a:r>
            <a:r>
              <a:rPr sz="1500">
                <a:solidFill>
                  <a:srgbClr val="2B2A28"/>
                </a:solidFill>
                <a:latin typeface="Segoe UI"/>
              </a:rPr>
              <a:t>Focus timeline of today</a:t>
            </a:r>
          </a:p>
          <a:p>
            <a:pPr>
              <a:spcAft>
                <a:spcPts val="600"/>
              </a:spcAft>
            </a:pPr>
            <a:r>
              <a:rPr sz="1500" b="1">
                <a:solidFill>
                  <a:srgbClr val="4CB86B"/>
                </a:solidFill>
                <a:latin typeface="Segoe UI"/>
              </a:rPr>
              <a:t>•  </a:t>
            </a:r>
            <a:r>
              <a:rPr sz="1500">
                <a:solidFill>
                  <a:srgbClr val="2B2A28"/>
                </a:solidFill>
                <a:latin typeface="Segoe UI"/>
              </a:rPr>
              <a:t>Hour-of-day heatmap</a:t>
            </a:r>
          </a:p>
          <a:p>
            <a:pPr>
              <a:spcAft>
                <a:spcPts val="600"/>
              </a:spcAft>
            </a:pPr>
            <a:r>
              <a:rPr sz="1500" b="1">
                <a:solidFill>
                  <a:srgbClr val="4CB86B"/>
                </a:solidFill>
                <a:latin typeface="Segoe UI"/>
              </a:rPr>
              <a:t>•  </a:t>
            </a:r>
            <a:r>
              <a:rPr sz="1500">
                <a:solidFill>
                  <a:srgbClr val="2B2A28"/>
                </a:solidFill>
                <a:latin typeface="Segoe UI"/>
              </a:rPr>
              <a:t>7-day focus score trend</a:t>
            </a:r>
          </a:p>
          <a:p>
            <a:pPr>
              <a:spcAft>
                <a:spcPts val="600"/>
              </a:spcAft>
            </a:pPr>
            <a:r>
              <a:rPr sz="1500" b="1">
                <a:solidFill>
                  <a:srgbClr val="4CB86B"/>
                </a:solidFill>
                <a:latin typeface="Segoe UI"/>
              </a:rPr>
              <a:t>•  </a:t>
            </a:r>
            <a:r>
              <a:rPr sz="1500">
                <a:solidFill>
                  <a:srgbClr val="2B2A28"/>
                </a:solidFill>
                <a:latin typeface="Segoe UI"/>
              </a:rPr>
              <a:t>Pomodoros per day</a:t>
            </a:r>
          </a:p>
          <a:p>
            <a:pPr>
              <a:spcAft>
                <a:spcPts val="600"/>
              </a:spcAft>
            </a:pPr>
            <a:r>
              <a:rPr sz="1500" b="1">
                <a:solidFill>
                  <a:srgbClr val="4CB86B"/>
                </a:solidFill>
                <a:latin typeface="Segoe UI"/>
              </a:rPr>
              <a:t>•  </a:t>
            </a:r>
            <a:r>
              <a:rPr sz="1500">
                <a:solidFill>
                  <a:srgbClr val="2B2A28"/>
                </a:solidFill>
                <a:latin typeface="Segoe UI"/>
              </a:rPr>
              <a:t>Top apps &amp; time per app</a:t>
            </a:r>
          </a:p>
          <a:p>
            <a:pPr>
              <a:spcAft>
                <a:spcPts val="600"/>
              </a:spcAft>
            </a:pPr>
            <a:r>
              <a:rPr sz="1500" b="1">
                <a:solidFill>
                  <a:srgbClr val="4CB86B"/>
                </a:solidFill>
                <a:latin typeface="Segoe UI"/>
              </a:rPr>
              <a:t>•  </a:t>
            </a:r>
            <a:r>
              <a:rPr sz="1500">
                <a:solidFill>
                  <a:srgbClr val="2B2A28"/>
                </a:solidFill>
                <a:latin typeface="Segoe UI"/>
              </a:rPr>
              <a:t>History, weekly and monthly reports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Friends, profiles, ranks &amp; badges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11</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1000"/>
              </a:spcAft>
            </a:pPr>
            <a:r>
              <a:rPr sz="1600" b="1">
                <a:solidFill>
                  <a:srgbClr val="4CB86B"/>
                </a:solidFill>
                <a:latin typeface="Segoe UI"/>
              </a:rPr>
              <a:t>•  </a:t>
            </a:r>
            <a:r>
              <a:rPr sz="1600" b="1">
                <a:solidFill>
                  <a:srgbClr val="2B2A28"/>
                </a:solidFill>
                <a:latin typeface="Segoe UI"/>
              </a:rPr>
              <a:t>Levels &amp; XP: </a:t>
            </a:r>
            <a:r>
              <a:rPr sz="1600">
                <a:solidFill>
                  <a:srgbClr val="2B2A28"/>
                </a:solidFill>
                <a:latin typeface="Segoe UI"/>
              </a:rPr>
              <a:t>every finished pomodoro gives XP - level up as you focus.</a:t>
            </a:r>
          </a:p>
          <a:p>
            <a:pPr>
              <a:spcAft>
                <a:spcPts val="1000"/>
              </a:spcAft>
            </a:pPr>
            <a:r>
              <a:rPr sz="1600" b="1">
                <a:solidFill>
                  <a:srgbClr val="4CB86B"/>
                </a:solidFill>
                <a:latin typeface="Segoe UI"/>
              </a:rPr>
              <a:t>•  </a:t>
            </a:r>
            <a:r>
              <a:rPr sz="1600" b="1">
                <a:solidFill>
                  <a:srgbClr val="2B2A28"/>
                </a:solidFill>
                <a:latin typeface="Segoe UI"/>
              </a:rPr>
              <a:t>22 achievements: </a:t>
            </a:r>
            <a:r>
              <a:rPr sz="1600">
                <a:solidFill>
                  <a:srgbClr val="2B2A28"/>
                </a:solidFill>
                <a:latin typeface="Segoe UI"/>
              </a:rPr>
              <a:t>first tomato, 4 / 8 in a day, 3 / 7 / 14-day streaks, early bird, night owl, pet lover... Your pet celebrates each one.</a:t>
            </a:r>
          </a:p>
          <a:p>
            <a:pPr>
              <a:spcAft>
                <a:spcPts val="1000"/>
              </a:spcAft>
            </a:pPr>
            <a:r>
              <a:rPr sz="1600" b="1">
                <a:solidFill>
                  <a:srgbClr val="4CB86B"/>
                </a:solidFill>
                <a:latin typeface="Segoe UI"/>
              </a:rPr>
              <a:t>•  </a:t>
            </a:r>
            <a:r>
              <a:rPr sz="1600" b="1">
                <a:solidFill>
                  <a:srgbClr val="2B2A28"/>
                </a:solidFill>
                <a:latin typeface="Segoe UI"/>
              </a:rPr>
              <a:t>Open: </a:t>
            </a:r>
            <a:r>
              <a:rPr sz="1600">
                <a:solidFill>
                  <a:srgbClr val="2B2A28"/>
                </a:solidFill>
                <a:latin typeface="Segoe UI"/>
              </a:rPr>
              <a:t>click the pet (or right-click → Pips hub…).</a:t>
            </a:r>
          </a:p>
          <a:p>
            <a:pPr>
              <a:spcAft>
                <a:spcPts val="1000"/>
              </a:spcAft>
            </a:pPr>
            <a:r>
              <a:rPr sz="1600" b="1">
                <a:solidFill>
                  <a:srgbClr val="4CB86B"/>
                </a:solidFill>
                <a:latin typeface="Segoe UI"/>
              </a:rPr>
              <a:t>•  </a:t>
            </a:r>
            <a:r>
              <a:rPr sz="1600" b="1">
                <a:solidFill>
                  <a:srgbClr val="2B2A28"/>
                </a:solidFill>
                <a:latin typeface="Segoe UI"/>
              </a:rPr>
              <a:t>Works offline: </a:t>
            </a:r>
            <a:r>
              <a:rPr sz="1600">
                <a:solidFill>
                  <a:srgbClr val="2B2A28"/>
                </a:solidFill>
                <a:latin typeface="Segoe UI"/>
              </a:rPr>
              <a:t>levels and achievements are calculated on your PC.</a:t>
            </a:r>
          </a:p>
        </p:txBody>
      </p:sp>
      <p:sp>
        <p:nvSpPr>
          <p:cNvPr id="8" name="Rounded Rectangle 7"/>
          <p:cNvSpPr/>
          <p:nvPr/>
        </p:nvSpPr>
        <p:spPr>
          <a:xfrm>
            <a:off x="6400800" y="1645920"/>
            <a:ext cx="5394960" cy="438912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0" y="1783080"/>
            <a:ext cx="4937760" cy="457200"/>
          </a:xfrm>
          <a:prstGeom prst="rect">
            <a:avLst/>
          </a:prstGeom>
          <a:noFill/>
        </p:spPr>
        <p:txBody>
          <a:bodyPr wrap="square" anchor="t" lIns="45720" rIns="45720" tIns="27432" bIns="27432">
            <a:spAutoFit/>
          </a:bodyPr>
          <a:lstStyle/>
          <a:p>
            <a:pPr algn="l"/>
            <a:r>
              <a:rPr sz="1600" b="1">
                <a:solidFill>
                  <a:srgbClr val="2B2A28"/>
                </a:solidFill>
                <a:latin typeface="Segoe UI"/>
              </a:rPr>
              <a:t>Friends (optional, off by default)</a:t>
            </a:r>
          </a:p>
        </p:txBody>
      </p:sp>
      <p:sp>
        <p:nvSpPr>
          <p:cNvPr id="10" name="TextBox 9"/>
          <p:cNvSpPr txBox="1"/>
          <p:nvPr/>
        </p:nvSpPr>
        <p:spPr>
          <a:xfrm>
            <a:off x="6675120" y="2331720"/>
            <a:ext cx="4937760" cy="3657600"/>
          </a:xfrm>
          <a:prstGeom prst="rect">
            <a:avLst/>
          </a:prstGeom>
          <a:noFill/>
        </p:spPr>
        <p:txBody>
          <a:bodyPr wrap="square">
            <a:spAutoFit/>
          </a:bodyPr>
          <a:lstStyle/>
          <a:p>
            <a:pPr>
              <a:spcAft>
                <a:spcPts val="400"/>
              </a:spcAft>
            </a:pPr>
            <a:r>
              <a:rPr sz="1300" b="1">
                <a:solidFill>
                  <a:srgbClr val="4CB86B"/>
                </a:solidFill>
                <a:latin typeface="Segoe UI"/>
              </a:rPr>
              <a:t>•  </a:t>
            </a:r>
            <a:r>
              <a:rPr sz="1300">
                <a:solidFill>
                  <a:srgbClr val="2B2A28"/>
                </a:solidFill>
                <a:latin typeface="Segoe UI"/>
              </a:rPr>
              <a:t>Turn on Friends, swap 6-letter friend codes</a:t>
            </a:r>
          </a:p>
          <a:p>
            <a:pPr>
              <a:spcAft>
                <a:spcPts val="400"/>
              </a:spcAft>
            </a:pPr>
            <a:r>
              <a:rPr sz="1300" b="1">
                <a:solidFill>
                  <a:srgbClr val="4CB86B"/>
                </a:solidFill>
                <a:latin typeface="Segoe UI"/>
              </a:rPr>
              <a:t>•  </a:t>
            </a:r>
            <a:r>
              <a:rPr sz="1300">
                <a:solidFill>
                  <a:srgbClr val="2B2A28"/>
                </a:solidFill>
                <a:latin typeface="Segoe UI"/>
              </a:rPr>
              <a:t>Chat with friends and in your own groups</a:t>
            </a:r>
          </a:p>
          <a:p>
            <a:pPr>
              <a:spcAft>
                <a:spcPts val="400"/>
              </a:spcAft>
            </a:pPr>
            <a:r>
              <a:rPr sz="1300" b="1">
                <a:solidFill>
                  <a:srgbClr val="4CB86B"/>
                </a:solidFill>
                <a:latin typeface="Segoe UI"/>
              </a:rPr>
              <a:t>•  </a:t>
            </a:r>
            <a:r>
              <a:rPr sz="1300">
                <a:solidFill>
                  <a:srgbClr val="2B2A28"/>
                </a:solidFill>
                <a:latin typeface="Segoe UI"/>
              </a:rPr>
              <a:t>Wave, pet, send a snack, high five - or send your pet to visit their desktop!</a:t>
            </a:r>
          </a:p>
          <a:p>
            <a:pPr>
              <a:spcAft>
                <a:spcPts val="400"/>
              </a:spcAft>
            </a:pPr>
            <a:r>
              <a:rPr sz="1300" b="1">
                <a:solidFill>
                  <a:srgbClr val="4CB86B"/>
                </a:solidFill>
                <a:latin typeface="Segoe UI"/>
              </a:rPr>
              <a:t>•  </a:t>
            </a:r>
            <a:r>
              <a:rPr sz="1300">
                <a:solidFill>
                  <a:srgbClr val="2B2A28"/>
                </a:solidFill>
                <a:latin typeface="Segoe UI"/>
              </a:rPr>
              <a:t>Poke, tickle, tease, boop or hug a friend from afar - it pops up on their screen</a:t>
            </a:r>
          </a:p>
          <a:p>
            <a:pPr>
              <a:spcAft>
                <a:spcPts val="400"/>
              </a:spcAft>
            </a:pPr>
            <a:r>
              <a:rPr sz="1300" b="1">
                <a:solidFill>
                  <a:srgbClr val="4CB86B"/>
                </a:solidFill>
                <a:latin typeface="Segoe UI"/>
              </a:rPr>
              <a:t>•  </a:t>
            </a:r>
            <a:r>
              <a:rPr sz="1300">
                <a:solidFill>
                  <a:srgbClr val="2B2A28"/>
                </a:solidFill>
                <a:latin typeface="Segoe UI"/>
              </a:rPr>
              <a:t>Affinity: friendship grows from Acquaintance to Soulmates</a:t>
            </a:r>
          </a:p>
          <a:p>
            <a:pPr>
              <a:spcAft>
                <a:spcPts val="400"/>
              </a:spcAft>
            </a:pPr>
            <a:r>
              <a:rPr sz="1300" b="1">
                <a:solidFill>
                  <a:srgbClr val="4CB86B"/>
                </a:solidFill>
                <a:latin typeface="Segoe UI"/>
              </a:rPr>
              <a:t>•  </a:t>
            </a:r>
            <a:r>
              <a:rPr sz="1300">
                <a:solidFill>
                  <a:srgbClr val="2B2A28"/>
                </a:solidFill>
                <a:latin typeface="Segoe UI"/>
              </a:rPr>
              <a:t>Create a private group and invite friends</a:t>
            </a:r>
          </a:p>
          <a:p>
            <a:pPr>
              <a:spcAft>
                <a:spcPts val="400"/>
              </a:spcAft>
            </a:pPr>
            <a:r>
              <a:rPr sz="1300" b="1">
                <a:solidFill>
                  <a:srgbClr val="4CB86B"/>
                </a:solidFill>
                <a:latin typeface="Segoe UI"/>
              </a:rPr>
              <a:t>•  </a:t>
            </a:r>
            <a:r>
              <a:rPr sz="1300">
                <a:solidFill>
                  <a:srgbClr val="2B2A28"/>
                </a:solidFill>
                <a:latin typeface="Segoe UI"/>
              </a:rPr>
              <a:t>Ranks: everyone on Pips by XP, badges or streak</a:t>
            </a:r>
          </a:p>
          <a:p>
            <a:pPr>
              <a:spcAft>
                <a:spcPts val="400"/>
              </a:spcAft>
            </a:pPr>
            <a:r>
              <a:rPr sz="1300" b="1">
                <a:solidFill>
                  <a:srgbClr val="4CB86B"/>
                </a:solidFill>
                <a:latin typeface="Segoe UI"/>
              </a:rPr>
              <a:t>•  </a:t>
            </a:r>
            <a:r>
              <a:rPr sz="1300">
                <a:solidFill>
                  <a:srgbClr val="2B2A28"/>
                </a:solidFill>
                <a:latin typeface="Segoe UI"/>
              </a:rPr>
              <a:t>Profile: photo, bio, info, status (online / busy / away) - public or private</a:t>
            </a:r>
          </a:p>
          <a:p>
            <a:pPr>
              <a:spcAft>
                <a:spcPts val="400"/>
              </a:spcAft>
            </a:pPr>
            <a:r>
              <a:rPr sz="1300" b="1">
                <a:solidFill>
                  <a:srgbClr val="4CB86B"/>
                </a:solidFill>
                <a:latin typeface="Segoe UI"/>
              </a:rPr>
              <a:t>•  </a:t>
            </a:r>
            <a:r>
              <a:rPr sz="1300">
                <a:solidFill>
                  <a:srgbClr val="2B2A28"/>
                </a:solidFill>
                <a:latin typeface="Segoe UI"/>
              </a:rPr>
              <a:t>Label friends: Bro, Bestie, Partner, Soulmate...</a:t>
            </a:r>
          </a:p>
          <a:p>
            <a:pPr>
              <a:spcAft>
                <a:spcPts val="400"/>
              </a:spcAft>
            </a:pPr>
            <a:r>
              <a:rPr sz="1300" b="1">
                <a:solidFill>
                  <a:srgbClr val="4CB86B"/>
                </a:solidFill>
                <a:latin typeface="Segoe UI"/>
              </a:rPr>
              <a:t>•  </a:t>
            </a:r>
            <a:r>
              <a:rPr sz="1300">
                <a:solidFill>
                  <a:srgbClr val="2B2A28"/>
                </a:solidFill>
                <a:latin typeface="Segoe UI"/>
              </a:rPr>
              <a:t>Never shared: apps, window titles, scores, files</a:t>
            </a:r>
          </a:p>
          <a:p>
            <a:pPr>
              <a:spcAft>
                <a:spcPts val="400"/>
              </a:spcAft>
            </a:pPr>
            <a:r>
              <a:rPr sz="1300" b="1">
                <a:solidFill>
                  <a:srgbClr val="4CB86B"/>
                </a:solidFill>
                <a:latin typeface="Segoe UI"/>
              </a:rPr>
              <a:t>•  </a:t>
            </a:r>
            <a:r>
              <a:rPr sz="1300">
                <a:solidFill>
                  <a:srgbClr val="2B2A28"/>
                </a:solidFill>
                <a:latin typeface="Segoe UI"/>
              </a:rPr>
              <a:t>One click turns it off and deletes your online data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TOGETHER</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Shop: props &amp; moves for your pet</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12</a:t>
            </a:r>
          </a:p>
        </p:txBody>
      </p:sp>
      <p:sp>
        <p:nvSpPr>
          <p:cNvPr id="7" name="TextBox 6"/>
          <p:cNvSpPr txBox="1"/>
          <p:nvPr/>
        </p:nvSpPr>
        <p:spPr>
          <a:xfrm>
            <a:off x="548640" y="1645920"/>
            <a:ext cx="557784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Open: </a:t>
            </a:r>
            <a:r>
              <a:rPr sz="1500">
                <a:solidFill>
                  <a:srgbClr val="2B2A28"/>
                </a:solidFill>
                <a:latin typeface="Segoe UI"/>
              </a:rPr>
              <a:t>click the pet → Shop tab (or right-click → Shop…).</a:t>
            </a:r>
          </a:p>
          <a:p>
            <a:pPr>
              <a:spcAft>
                <a:spcPts val="900"/>
              </a:spcAft>
            </a:pPr>
            <a:r>
              <a:rPr sz="1500" b="1">
                <a:solidFill>
                  <a:srgbClr val="4CB86B"/>
                </a:solidFill>
                <a:latin typeface="Segoe UI"/>
              </a:rPr>
              <a:t>•  </a:t>
            </a:r>
            <a:r>
              <a:rPr sz="1500" b="1">
                <a:solidFill>
                  <a:srgbClr val="2B2A28"/>
                </a:solidFill>
                <a:latin typeface="Segoe UI"/>
              </a:rPr>
              <a:t>Coins: </a:t>
            </a:r>
            <a:r>
              <a:rPr sz="1500">
                <a:solidFill>
                  <a:srgbClr val="2B2A28"/>
                </a:solidFill>
                <a:latin typeface="Segoe UI"/>
              </a:rPr>
              <a:t>level up +40, badges +25, open Pips each day +10, friendship +15 per affinity level, wave / chat / visit a friend +2, pomodoro +5. Start gift: 100.</a:t>
            </a:r>
          </a:p>
          <a:p>
            <a:pPr>
              <a:spcAft>
                <a:spcPts val="900"/>
              </a:spcAft>
            </a:pPr>
            <a:r>
              <a:rPr sz="1500" b="1">
                <a:solidFill>
                  <a:srgbClr val="4CB86B"/>
                </a:solidFill>
                <a:latin typeface="Segoe UI"/>
              </a:rPr>
              <a:t>•  </a:t>
            </a:r>
            <a:r>
              <a:rPr sz="1500" b="1">
                <a:solidFill>
                  <a:srgbClr val="2B2A28"/>
                </a:solidFill>
                <a:latin typeface="Segoe UI"/>
              </a:rPr>
              <a:t>Props: </a:t>
            </a:r>
            <a:r>
              <a:rPr sz="1500">
                <a:solidFill>
                  <a:srgbClr val="2B2A28"/>
                </a:solidFill>
                <a:latin typeface="Segoe UI"/>
              </a:rPr>
              <a:t>17 to collect - crown, wizard hat, headphones, shades, scarf, cape, wings... Wear one per slot: head, face, neck, back.</a:t>
            </a:r>
          </a:p>
          <a:p>
            <a:pPr>
              <a:spcAft>
                <a:spcPts val="900"/>
              </a:spcAft>
            </a:pPr>
            <a:r>
              <a:rPr sz="1500" b="1">
                <a:solidFill>
                  <a:srgbClr val="4CB86B"/>
                </a:solidFill>
                <a:latin typeface="Segoe UI"/>
              </a:rPr>
              <a:t>•  </a:t>
            </a:r>
            <a:r>
              <a:rPr sz="1500" b="1">
                <a:solidFill>
                  <a:srgbClr val="2B2A28"/>
                </a:solidFill>
                <a:latin typeface="Segoe UI"/>
              </a:rPr>
              <a:t>Moves: </a:t>
            </a:r>
            <a:r>
              <a:rPr sz="1500">
                <a:solidFill>
                  <a:srgbClr val="2B2A28"/>
                </a:solidFill>
                <a:latin typeface="Segoe UI"/>
              </a:rPr>
              <a:t>spin, dance, moonwalk, backflip, kung fu, spider swing. Right-click → Do a trick - your happy pet also shows off on its own.</a:t>
            </a:r>
          </a:p>
          <a:p>
            <a:pPr>
              <a:spcAft>
                <a:spcPts val="900"/>
              </a:spcAft>
            </a:pPr>
            <a:r>
              <a:rPr sz="1500" b="1">
                <a:solidFill>
                  <a:srgbClr val="4CB86B"/>
                </a:solidFill>
                <a:latin typeface="Segoe UI"/>
              </a:rPr>
              <a:t>•  </a:t>
            </a:r>
            <a:r>
              <a:rPr sz="1500" b="1">
                <a:solidFill>
                  <a:srgbClr val="2B2A28"/>
                </a:solidFill>
                <a:latin typeface="Segoe UI"/>
              </a:rPr>
              <a:t>Friends see it: </a:t>
            </a:r>
            <a:r>
              <a:rPr sz="1500">
                <a:solidFill>
                  <a:srgbClr val="2B2A28"/>
                </a:solidFill>
                <a:latin typeface="Segoe UI"/>
              </a:rPr>
              <a:t>your props appear on your avatar, and your pet does a move when it visits a friend's desktop.</a:t>
            </a:r>
          </a:p>
        </p:txBody>
      </p:sp>
      <p:pic>
        <p:nvPicPr>
          <p:cNvPr id="8" name="Picture 7" descr="shop.png"/>
          <p:cNvPicPr>
            <a:picLocks noChangeAspect="1"/>
          </p:cNvPicPr>
          <p:nvPr/>
        </p:nvPicPr>
        <p:blipFill>
          <a:blip r:embed="rId2"/>
          <a:stretch>
            <a:fillRect/>
          </a:stretch>
        </p:blipFill>
        <p:spPr>
          <a:xfrm>
            <a:off x="7538085" y="1463040"/>
            <a:ext cx="3028950" cy="4846320"/>
          </a:xfrm>
          <a:prstGeom prst="rect">
            <a:avLst/>
          </a:prstGeom>
          <a:ln w="12700">
            <a:solidFill>
              <a:srgbClr val="E2DCCE"/>
            </a:solidFill>
          </a:ln>
        </p:spPr>
      </p:pic>
      <p:sp>
        <p:nvSpPr>
          <p:cNvPr id="9" name="TextBox 8"/>
          <p:cNvSpPr txBox="1"/>
          <p:nvPr/>
        </p:nvSpPr>
        <p:spPr>
          <a:xfrm>
            <a:off x="6949440" y="6355080"/>
            <a:ext cx="4206240" cy="365760"/>
          </a:xfrm>
          <a:prstGeom prst="rect">
            <a:avLst/>
          </a:prstGeom>
          <a:noFill/>
        </p:spPr>
        <p:txBody>
          <a:bodyPr wrap="square" anchor="t" lIns="45720" rIns="45720" tIns="27432" bIns="27432">
            <a:spAutoFit/>
          </a:bodyPr>
          <a:lstStyle/>
          <a:p>
            <a:pPr algn="ctr"/>
            <a:r>
              <a:rPr sz="1200" b="0">
                <a:solidFill>
                  <a:srgbClr val="6E6A62"/>
                </a:solidFill>
                <a:latin typeface="Segoe UI"/>
              </a:rPr>
              <a:t>The Shop tab</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Make it yours: Pet status &amp; settings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13</a:t>
            </a:r>
          </a:p>
        </p:txBody>
      </p:sp>
      <p:pic>
        <p:nvPicPr>
          <p:cNvPr id="7" name="Picture 6" descr="settings.png"/>
          <p:cNvPicPr>
            <a:picLocks noChangeAspect="1"/>
          </p:cNvPicPr>
          <p:nvPr/>
        </p:nvPicPr>
        <p:blipFill>
          <a:blip r:embed="rId2"/>
          <a:stretch>
            <a:fillRect/>
          </a:stretch>
        </p:blipFill>
        <p:spPr>
          <a:xfrm>
            <a:off x="949470" y="1508760"/>
            <a:ext cx="1850100" cy="4846320"/>
          </a:xfrm>
          <a:prstGeom prst="rect">
            <a:avLst/>
          </a:prstGeom>
          <a:ln w="12700">
            <a:solidFill>
              <a:srgbClr val="E2DCCE"/>
            </a:solidFill>
          </a:ln>
        </p:spPr>
      </p:pic>
      <p:sp>
        <p:nvSpPr>
          <p:cNvPr id="8" name="TextBox 7"/>
          <p:cNvSpPr txBox="1"/>
          <p:nvPr/>
        </p:nvSpPr>
        <p:spPr>
          <a:xfrm>
            <a:off x="365760" y="6382512"/>
            <a:ext cx="3017520" cy="365760"/>
          </a:xfrm>
          <a:prstGeom prst="rect">
            <a:avLst/>
          </a:prstGeom>
          <a:noFill/>
        </p:spPr>
        <p:txBody>
          <a:bodyPr wrap="square" anchor="t" lIns="45720" rIns="45720" tIns="27432" bIns="27432">
            <a:spAutoFit/>
          </a:bodyPr>
          <a:lstStyle/>
          <a:p>
            <a:pPr algn="ctr"/>
            <a:r>
              <a:rPr sz="1200" b="0">
                <a:solidFill>
                  <a:srgbClr val="6E6A62"/>
                </a:solidFill>
                <a:latin typeface="Segoe UI"/>
              </a:rPr>
              <a:t>(shown in Bahasa Indonesia)</a:t>
            </a:r>
          </a:p>
        </p:txBody>
      </p:sp>
      <p:sp>
        <p:nvSpPr>
          <p:cNvPr id="9" name="TextBox 8"/>
          <p:cNvSpPr txBox="1"/>
          <p:nvPr/>
        </p:nvSpPr>
        <p:spPr>
          <a:xfrm>
            <a:off x="3474720" y="1600200"/>
            <a:ext cx="8229600" cy="457200"/>
          </a:xfrm>
          <a:prstGeom prst="rect">
            <a:avLst/>
          </a:prstGeom>
          <a:noFill/>
        </p:spPr>
        <p:txBody>
          <a:bodyPr wrap="square" anchor="t" lIns="45720" rIns="45720" tIns="27432" bIns="27432">
            <a:spAutoFit/>
          </a:bodyPr>
          <a:lstStyle/>
          <a:p>
            <a:pPr algn="l"/>
            <a:r>
              <a:rPr sz="1700" b="1">
                <a:solidFill>
                  <a:srgbClr val="8B1A1A"/>
                </a:solidFill>
                <a:latin typeface="Segoe UI"/>
              </a:rPr>
              <a:t>Right-click the pet → Pet status &amp; settings…</a:t>
            </a:r>
          </a:p>
        </p:txBody>
      </p:sp>
      <p:sp>
        <p:nvSpPr>
          <p:cNvPr id="10" name="TextBox 9"/>
          <p:cNvSpPr txBox="1"/>
          <p:nvPr/>
        </p:nvSpPr>
        <p:spPr>
          <a:xfrm>
            <a:off x="3474720" y="2148840"/>
            <a:ext cx="4114800" cy="420624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Status: </a:t>
            </a:r>
            <a:r>
              <a:rPr sz="1500">
                <a:solidFill>
                  <a:srgbClr val="2B2A28"/>
                </a:solidFill>
                <a:latin typeface="Segoe UI"/>
              </a:rPr>
              <a:t>mood + happiness, energy, food, bond bars.</a:t>
            </a:r>
          </a:p>
          <a:p>
            <a:pPr>
              <a:spcAft>
                <a:spcPts val="900"/>
              </a:spcAft>
            </a:pPr>
            <a:r>
              <a:rPr sz="1500" b="1">
                <a:solidFill>
                  <a:srgbClr val="4CB86B"/>
                </a:solidFill>
                <a:latin typeface="Segoe UI"/>
              </a:rPr>
              <a:t>•  </a:t>
            </a:r>
            <a:r>
              <a:rPr sz="1500" b="1">
                <a:solidFill>
                  <a:srgbClr val="2B2A28"/>
                </a:solidFill>
                <a:latin typeface="Segoe UI"/>
              </a:rPr>
              <a:t>Animal: </a:t>
            </a:r>
            <a:r>
              <a:rPr sz="1500">
                <a:solidFill>
                  <a:srgbClr val="2B2A28"/>
                </a:solidFill>
                <a:latin typeface="Segoe UI"/>
              </a:rPr>
              <a:t>Land / Water / Sky tabs - click a tile.</a:t>
            </a:r>
          </a:p>
          <a:p>
            <a:pPr>
              <a:spcAft>
                <a:spcPts val="900"/>
              </a:spcAft>
            </a:pPr>
            <a:r>
              <a:rPr sz="1500" b="1">
                <a:solidFill>
                  <a:srgbClr val="4CB86B"/>
                </a:solidFill>
                <a:latin typeface="Segoe UI"/>
              </a:rPr>
              <a:t>•  </a:t>
            </a:r>
            <a:r>
              <a:rPr sz="1500" b="1">
                <a:solidFill>
                  <a:srgbClr val="2B2A28"/>
                </a:solidFill>
                <a:latin typeface="Segoe UI"/>
              </a:rPr>
              <a:t>Look: </a:t>
            </a:r>
            <a:r>
              <a:rPr sz="1500">
                <a:solidFill>
                  <a:srgbClr val="2B2A28"/>
                </a:solidFill>
                <a:latin typeface="Segoe UI"/>
              </a:rPr>
              <a:t>name, colour, cheeks, size S / M / L.</a:t>
            </a:r>
          </a:p>
          <a:p>
            <a:pPr>
              <a:spcAft>
                <a:spcPts val="900"/>
              </a:spcAft>
            </a:pPr>
            <a:r>
              <a:rPr sz="1500" b="1">
                <a:solidFill>
                  <a:srgbClr val="4CB86B"/>
                </a:solidFill>
                <a:latin typeface="Segoe UI"/>
              </a:rPr>
              <a:t>•  </a:t>
            </a:r>
            <a:r>
              <a:rPr sz="1500" b="1">
                <a:solidFill>
                  <a:srgbClr val="2B2A28"/>
                </a:solidFill>
                <a:latin typeface="Segoe UI"/>
              </a:rPr>
              <a:t>Language: </a:t>
            </a:r>
            <a:r>
              <a:rPr sz="1500">
                <a:solidFill>
                  <a:srgbClr val="2B2A28"/>
                </a:solidFill>
                <a:latin typeface="Segoe UI"/>
              </a:rPr>
              <a:t>switch instantly.</a:t>
            </a:r>
          </a:p>
        </p:txBody>
      </p:sp>
      <p:sp>
        <p:nvSpPr>
          <p:cNvPr id="11" name="TextBox 10"/>
          <p:cNvSpPr txBox="1"/>
          <p:nvPr/>
        </p:nvSpPr>
        <p:spPr>
          <a:xfrm>
            <a:off x="7772400" y="2148840"/>
            <a:ext cx="4114800" cy="4206240"/>
          </a:xfrm>
          <a:prstGeom prst="rect">
            <a:avLst/>
          </a:prstGeom>
          <a:noFill/>
        </p:spPr>
        <p:txBody>
          <a:bodyPr wrap="square">
            <a:spAutoFit/>
          </a:bodyPr>
          <a:lstStyle/>
          <a:p>
            <a:pPr>
              <a:spcAft>
                <a:spcPts val="300"/>
              </a:spcAft>
            </a:pPr>
            <a:r>
              <a:rPr sz="1400" b="1">
                <a:solidFill>
                  <a:srgbClr val="4CB86B"/>
                </a:solidFill>
                <a:latin typeface="Segoe UI"/>
              </a:rPr>
              <a:t>•  </a:t>
            </a:r>
            <a:r>
              <a:rPr sz="1400">
                <a:solidFill>
                  <a:srgbClr val="2B2A28"/>
                </a:solidFill>
                <a:latin typeface="Segoe UI"/>
              </a:rPr>
              <a:t>Click action: open hub · open focus timer · tickle (double-click opens) · only tickle</a:t>
            </a:r>
          </a:p>
          <a:p>
            <a:pPr>
              <a:spcAft>
                <a:spcPts val="300"/>
              </a:spcAft>
            </a:pPr>
            <a:r>
              <a:rPr sz="1400" b="1">
                <a:solidFill>
                  <a:srgbClr val="4CB86B"/>
                </a:solidFill>
                <a:latin typeface="Segoe UI"/>
              </a:rPr>
              <a:t>•  </a:t>
            </a:r>
            <a:r>
              <a:rPr sz="1400">
                <a:solidFill>
                  <a:srgbClr val="2B2A28"/>
                </a:solidFill>
                <a:latin typeface="Segoe UI"/>
              </a:rPr>
              <a:t>Show reminders as chat bubbles</a:t>
            </a:r>
          </a:p>
          <a:p>
            <a:pPr>
              <a:spcAft>
                <a:spcPts val="300"/>
              </a:spcAft>
            </a:pPr>
            <a:r>
              <a:rPr sz="1400" b="1">
                <a:solidFill>
                  <a:srgbClr val="4CB86B"/>
                </a:solidFill>
                <a:latin typeface="Segoe UI"/>
              </a:rPr>
              <a:t>•  </a:t>
            </a:r>
            <a:r>
              <a:rPr sz="1400">
                <a:solidFill>
                  <a:srgbClr val="2B2A28"/>
                </a:solidFill>
                <a:latin typeface="Segoe UI"/>
              </a:rPr>
              <a:t>Walk around on the taskbar</a:t>
            </a:r>
          </a:p>
          <a:p>
            <a:pPr>
              <a:spcAft>
                <a:spcPts val="300"/>
              </a:spcAft>
            </a:pPr>
            <a:r>
              <a:rPr sz="1400" b="1">
                <a:solidFill>
                  <a:srgbClr val="4CB86B"/>
                </a:solidFill>
                <a:latin typeface="Segoe UI"/>
              </a:rPr>
              <a:t>•  </a:t>
            </a:r>
            <a:r>
              <a:rPr sz="1400">
                <a:solidFill>
                  <a:srgbClr val="2B2A28"/>
                </a:solidFill>
                <a:latin typeface="Segoe UI"/>
              </a:rPr>
              <a:t>Gravity (falls when dropped)</a:t>
            </a:r>
          </a:p>
          <a:p>
            <a:pPr>
              <a:spcAft>
                <a:spcPts val="300"/>
              </a:spcAft>
            </a:pPr>
            <a:r>
              <a:rPr sz="1400" b="1">
                <a:solidFill>
                  <a:srgbClr val="4CB86B"/>
                </a:solidFill>
                <a:latin typeface="Segoe UI"/>
              </a:rPr>
              <a:t>•  </a:t>
            </a:r>
            <a:r>
              <a:rPr sz="1400">
                <a:solidFill>
                  <a:srgbClr val="2B2A28"/>
                </a:solidFill>
                <a:latin typeface="Segoe UI"/>
              </a:rPr>
              <a:t>Nap when I'm away</a:t>
            </a:r>
          </a:p>
          <a:p>
            <a:pPr>
              <a:spcAft>
                <a:spcPts val="300"/>
              </a:spcAft>
            </a:pPr>
            <a:r>
              <a:rPr sz="1400" b="1">
                <a:solidFill>
                  <a:srgbClr val="4CB86B"/>
                </a:solidFill>
                <a:latin typeface="Segoe UI"/>
              </a:rPr>
              <a:t>•  </a:t>
            </a:r>
            <a:r>
              <a:rPr sz="1400">
                <a:solidFill>
                  <a:srgbClr val="2B2A28"/>
                </a:solidFill>
                <a:latin typeface="Segoe UI"/>
              </a:rPr>
              <a:t>Open the card next to the pet</a:t>
            </a:r>
          </a:p>
          <a:p>
            <a:pPr>
              <a:spcAft>
                <a:spcPts val="300"/>
              </a:spcAft>
            </a:pPr>
            <a:r>
              <a:rPr sz="1400" b="1">
                <a:solidFill>
                  <a:srgbClr val="4CB86B"/>
                </a:solidFill>
                <a:latin typeface="Segoe UI"/>
              </a:rPr>
              <a:t>•  </a:t>
            </a:r>
            <a:r>
              <a:rPr sz="1400">
                <a:solidFill>
                  <a:srgbClr val="2B2A28"/>
                </a:solidFill>
                <a:latin typeface="Segoe UI"/>
              </a:rPr>
              <a:t>Chatty (little messages)</a:t>
            </a:r>
          </a:p>
          <a:p>
            <a:pPr>
              <a:spcAft>
                <a:spcPts val="300"/>
              </a:spcAft>
            </a:pPr>
            <a:r>
              <a:rPr sz="1400" b="1">
                <a:solidFill>
                  <a:srgbClr val="4CB86B"/>
                </a:solidFill>
                <a:latin typeface="Segoe UI"/>
              </a:rPr>
              <a:t>•  </a:t>
            </a:r>
            <a:r>
              <a:rPr sz="1400">
                <a:solidFill>
                  <a:srgbClr val="2B2A28"/>
                </a:solidFill>
                <a:latin typeface="Segoe UI"/>
              </a:rPr>
              <a:t>Hide during full-screen apps</a:t>
            </a:r>
          </a:p>
          <a:p>
            <a:pPr>
              <a:spcAft>
                <a:spcPts val="300"/>
              </a:spcAft>
            </a:pPr>
            <a:r>
              <a:rPr sz="1400" b="1">
                <a:solidFill>
                  <a:srgbClr val="4CB86B"/>
                </a:solidFill>
                <a:latin typeface="Segoe UI"/>
              </a:rPr>
              <a:t>•  </a:t>
            </a:r>
            <a:r>
              <a:rPr sz="1400">
                <a:solidFill>
                  <a:srgbClr val="2B2A28"/>
                </a:solidFill>
                <a:latin typeface="Segoe UI"/>
              </a:rPr>
              <a:t>Check for updates automatically</a:t>
            </a:r>
          </a:p>
          <a:p>
            <a:pPr>
              <a:spcAft>
                <a:spcPts val="300"/>
              </a:spcAft>
            </a:pPr>
            <a:r>
              <a:rPr sz="1400" b="1">
                <a:solidFill>
                  <a:srgbClr val="4CB86B"/>
                </a:solidFill>
                <a:latin typeface="Segoe UI"/>
              </a:rPr>
              <a:t>•  </a:t>
            </a:r>
            <a:r>
              <a:rPr sz="1400">
                <a:solidFill>
                  <a:srgbClr val="2B2A28"/>
                </a:solidFill>
                <a:latin typeface="Segoe UI"/>
              </a:rPr>
              <a:t>Animal sounds + volume (quiet while focusing)</a:t>
            </a:r>
          </a:p>
          <a:p>
            <a:pPr>
              <a:spcAft>
                <a:spcPts val="300"/>
              </a:spcAft>
            </a:pPr>
            <a:r>
              <a:rPr sz="1400" b="1">
                <a:solidFill>
                  <a:srgbClr val="4CB86B"/>
                </a:solidFill>
                <a:latin typeface="Segoe UI"/>
              </a:rPr>
              <a:t>•  </a:t>
            </a:r>
            <a:r>
              <a:rPr sz="1400">
                <a:solidFill>
                  <a:srgbClr val="2B2A28"/>
                </a:solidFill>
                <a:latin typeface="Segoe UI"/>
              </a:rPr>
              <a:t>Dark mode (also: right-click the pet → Dark mode)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CUSTOMIZE</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Languages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14</a:t>
            </a:r>
          </a:p>
        </p:txBody>
      </p:sp>
      <p:sp>
        <p:nvSpPr>
          <p:cNvPr id="7" name="Rounded Rectangle 6"/>
          <p:cNvSpPr/>
          <p:nvPr/>
        </p:nvSpPr>
        <p:spPr>
          <a:xfrm>
            <a:off x="54864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English</a:t>
            </a:r>
          </a:p>
        </p:txBody>
      </p:sp>
      <p:sp>
        <p:nvSpPr>
          <p:cNvPr id="9" name="TextBox 8"/>
          <p:cNvSpPr txBox="1"/>
          <p:nvPr/>
        </p:nvSpPr>
        <p:spPr>
          <a:xfrm>
            <a:off x="54864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Hello!</a:t>
            </a:r>
          </a:p>
        </p:txBody>
      </p:sp>
      <p:sp>
        <p:nvSpPr>
          <p:cNvPr id="10" name="Rounded Rectangle 9"/>
          <p:cNvSpPr/>
          <p:nvPr/>
        </p:nvSpPr>
        <p:spPr>
          <a:xfrm>
            <a:off x="338328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38328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Bahasa Indonesia</a:t>
            </a:r>
          </a:p>
        </p:txBody>
      </p:sp>
      <p:sp>
        <p:nvSpPr>
          <p:cNvPr id="12" name="TextBox 11"/>
          <p:cNvSpPr txBox="1"/>
          <p:nvPr/>
        </p:nvSpPr>
        <p:spPr>
          <a:xfrm>
            <a:off x="338328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Halo!</a:t>
            </a:r>
          </a:p>
        </p:txBody>
      </p:sp>
      <p:sp>
        <p:nvSpPr>
          <p:cNvPr id="13" name="Rounded Rectangle 12"/>
          <p:cNvSpPr/>
          <p:nvPr/>
        </p:nvSpPr>
        <p:spPr>
          <a:xfrm>
            <a:off x="621792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1792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繁體中文</a:t>
            </a:r>
          </a:p>
        </p:txBody>
      </p:sp>
      <p:sp>
        <p:nvSpPr>
          <p:cNvPr id="15" name="TextBox 14"/>
          <p:cNvSpPr txBox="1"/>
          <p:nvPr/>
        </p:nvSpPr>
        <p:spPr>
          <a:xfrm>
            <a:off x="621792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6" name="Rounded Rectangle 15"/>
          <p:cNvSpPr/>
          <p:nvPr/>
        </p:nvSpPr>
        <p:spPr>
          <a:xfrm>
            <a:off x="9052560" y="1737360"/>
            <a:ext cx="2606040" cy="1463040"/>
          </a:xfrm>
          <a:prstGeom prst="roundRect">
            <a:avLst>
              <a:gd name="adj" fmla="val 6000"/>
            </a:avLst>
          </a:prstGeom>
          <a:solidFill>
            <a:srgbClr val="FFFDF8"/>
          </a:solidFill>
          <a:ln w="12700">
            <a:solidFill>
              <a:srgbClr val="E2DCCE"/>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52560" y="1920240"/>
            <a:ext cx="2606040" cy="548640"/>
          </a:xfrm>
          <a:prstGeom prst="rect">
            <a:avLst/>
          </a:prstGeom>
          <a:noFill/>
        </p:spPr>
        <p:txBody>
          <a:bodyPr wrap="square" anchor="t" lIns="45720" rIns="45720" tIns="27432" bIns="27432">
            <a:spAutoFit/>
          </a:bodyPr>
          <a:lstStyle/>
          <a:p>
            <a:pPr algn="ctr"/>
            <a:r>
              <a:rPr sz="2000" b="1">
                <a:solidFill>
                  <a:srgbClr val="2B2A28"/>
                </a:solidFill>
                <a:latin typeface="Microsoft JhengHei"/>
              </a:rPr>
              <a:t>简体中文</a:t>
            </a:r>
          </a:p>
        </p:txBody>
      </p:sp>
      <p:sp>
        <p:nvSpPr>
          <p:cNvPr id="18" name="TextBox 17"/>
          <p:cNvSpPr txBox="1"/>
          <p:nvPr/>
        </p:nvSpPr>
        <p:spPr>
          <a:xfrm>
            <a:off x="9052560" y="2514600"/>
            <a:ext cx="2606040" cy="457200"/>
          </a:xfrm>
          <a:prstGeom prst="rect">
            <a:avLst/>
          </a:prstGeom>
          <a:noFill/>
        </p:spPr>
        <p:txBody>
          <a:bodyPr wrap="square" anchor="t" lIns="45720" rIns="45720" tIns="27432" bIns="27432">
            <a:spAutoFit/>
          </a:bodyPr>
          <a:lstStyle/>
          <a:p>
            <a:pPr algn="ctr"/>
            <a:r>
              <a:rPr sz="1500" b="0">
                <a:solidFill>
                  <a:srgbClr val="6E6A62"/>
                </a:solidFill>
                <a:latin typeface="Microsoft JhengHei"/>
              </a:rPr>
              <a:t>你好！</a:t>
            </a:r>
          </a:p>
        </p:txBody>
      </p:sp>
      <p:sp>
        <p:nvSpPr>
          <p:cNvPr id="19" name="TextBox 18"/>
          <p:cNvSpPr txBox="1"/>
          <p:nvPr/>
        </p:nvSpPr>
        <p:spPr>
          <a:xfrm>
            <a:off x="548640" y="3566160"/>
            <a:ext cx="10972800" cy="2743200"/>
          </a:xfrm>
          <a:prstGeom prst="rect">
            <a:avLst/>
          </a:prstGeom>
          <a:noFill/>
        </p:spPr>
        <p:txBody>
          <a:bodyPr wrap="square">
            <a:spAutoFit/>
          </a:bodyPr>
          <a:lstStyle/>
          <a:p>
            <a:pPr>
              <a:spcAft>
                <a:spcPts val="1000"/>
              </a:spcAft>
            </a:pPr>
            <a:r>
              <a:rPr sz="1700" b="1">
                <a:solidFill>
                  <a:srgbClr val="4CB86B"/>
                </a:solidFill>
                <a:latin typeface="Segoe UI"/>
              </a:rPr>
              <a:t>•  </a:t>
            </a:r>
            <a:r>
              <a:rPr sz="1700" b="1">
                <a:solidFill>
                  <a:srgbClr val="2B2A28"/>
                </a:solidFill>
                <a:latin typeface="Segoe UI"/>
              </a:rPr>
              <a:t>Change anytime: </a:t>
            </a:r>
            <a:r>
              <a:rPr sz="1700">
                <a:solidFill>
                  <a:srgbClr val="2B2A28"/>
                </a:solidFill>
                <a:latin typeface="Segoe UI"/>
              </a:rPr>
              <a:t>right-click the pet (or the card) → Language. Everything switches instantly - menus, bubbles, reminders, the card.</a:t>
            </a:r>
          </a:p>
          <a:p>
            <a:pPr>
              <a:spcAft>
                <a:spcPts val="1000"/>
              </a:spcAft>
            </a:pPr>
            <a:r>
              <a:rPr sz="1700" b="1">
                <a:solidFill>
                  <a:srgbClr val="4CB86B"/>
                </a:solidFill>
                <a:latin typeface="Segoe UI"/>
              </a:rPr>
              <a:t>•  </a:t>
            </a:r>
            <a:r>
              <a:rPr sz="1700" b="1">
                <a:solidFill>
                  <a:srgbClr val="2B2A28"/>
                </a:solidFill>
                <a:latin typeface="Segoe UI"/>
              </a:rPr>
              <a:t>First start: </a:t>
            </a:r>
            <a:r>
              <a:rPr sz="1700">
                <a:solidFill>
                  <a:srgbClr val="2B2A28"/>
                </a:solidFill>
                <a:latin typeface="Segoe UI"/>
              </a:rPr>
              <a:t>Pips guesses from your Windows language and asks once.</a:t>
            </a:r>
          </a:p>
          <a:p>
            <a:pPr>
              <a:spcAft>
                <a:spcPts val="1000"/>
              </a:spcAft>
            </a:pPr>
            <a:r>
              <a:rPr sz="1700" b="1">
                <a:solidFill>
                  <a:srgbClr val="4CB86B"/>
                </a:solidFill>
                <a:latin typeface="Segoe UI"/>
              </a:rPr>
              <a:t>•  </a:t>
            </a:r>
            <a:r>
              <a:rPr sz="1700" b="1">
                <a:solidFill>
                  <a:srgbClr val="2B2A28"/>
                </a:solidFill>
                <a:latin typeface="Segoe UI"/>
              </a:rPr>
              <a:t>Update notes </a:t>
            </a:r>
            <a:r>
              <a:rPr sz="1700">
                <a:solidFill>
                  <a:srgbClr val="2B2A28"/>
                </a:solidFill>
                <a:latin typeface="Segoe UI"/>
              </a:rPr>
              <a:t>are shown in your language too.</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NEW IN 2.1</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Updates - right inside Pips</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15</a:t>
            </a:r>
          </a:p>
        </p:txBody>
      </p:sp>
      <p:pic>
        <p:nvPicPr>
          <p:cNvPr id="7" name="Picture 6" descr="update_offer.png"/>
          <p:cNvPicPr>
            <a:picLocks noChangeAspect="1"/>
          </p:cNvPicPr>
          <p:nvPr/>
        </p:nvPicPr>
        <p:blipFill>
          <a:blip r:embed="rId2"/>
          <a:stretch>
            <a:fillRect/>
          </a:stretch>
        </p:blipFill>
        <p:spPr>
          <a:xfrm>
            <a:off x="572153" y="1645920"/>
            <a:ext cx="4890733" cy="3291840"/>
          </a:xfrm>
          <a:prstGeom prst="rect">
            <a:avLst/>
          </a:prstGeom>
          <a:ln w="12700">
            <a:solidFill>
              <a:srgbClr val="E2DCCE"/>
            </a:solidFill>
          </a:ln>
        </p:spPr>
      </p:pic>
      <p:sp>
        <p:nvSpPr>
          <p:cNvPr id="8" name="TextBox 7"/>
          <p:cNvSpPr txBox="1"/>
          <p:nvPr/>
        </p:nvSpPr>
        <p:spPr>
          <a:xfrm>
            <a:off x="548640" y="4983480"/>
            <a:ext cx="4937760" cy="365760"/>
          </a:xfrm>
          <a:prstGeom prst="rect">
            <a:avLst/>
          </a:prstGeom>
          <a:noFill/>
        </p:spPr>
        <p:txBody>
          <a:bodyPr wrap="square" anchor="t" lIns="45720" rIns="45720" tIns="27432" bIns="27432">
            <a:spAutoFit/>
          </a:bodyPr>
          <a:lstStyle/>
          <a:p>
            <a:pPr algn="ctr"/>
            <a:r>
              <a:rPr sz="1200" b="0">
                <a:solidFill>
                  <a:srgbClr val="6E6A62"/>
                </a:solidFill>
                <a:latin typeface="Segoe UI"/>
              </a:rPr>
              <a:t>Example of an update notice (sample version text)</a:t>
            </a:r>
          </a:p>
        </p:txBody>
      </p:sp>
      <p:sp>
        <p:nvSpPr>
          <p:cNvPr id="9" name="TextBox 8"/>
          <p:cNvSpPr txBox="1"/>
          <p:nvPr/>
        </p:nvSpPr>
        <p:spPr>
          <a:xfrm>
            <a:off x="5852160" y="1645920"/>
            <a:ext cx="5943600" cy="4572000"/>
          </a:xfrm>
          <a:prstGeom prst="rect">
            <a:avLst/>
          </a:prstGeom>
          <a:noFill/>
        </p:spPr>
        <p:txBody>
          <a:bodyPr wrap="square">
            <a:spAutoFit/>
          </a:bodyPr>
          <a:lstStyle/>
          <a:p>
            <a:pPr>
              <a:spcAft>
                <a:spcPts val="900"/>
              </a:spcAft>
            </a:pPr>
            <a:r>
              <a:rPr sz="1500" b="1">
                <a:solidFill>
                  <a:srgbClr val="4CB86B"/>
                </a:solidFill>
                <a:latin typeface="Segoe UI"/>
              </a:rPr>
              <a:t>•  </a:t>
            </a:r>
            <a:r>
              <a:rPr sz="1500" b="1">
                <a:solidFill>
                  <a:srgbClr val="2B2A28"/>
                </a:solidFill>
                <a:latin typeface="Segoe UI"/>
              </a:rPr>
              <a:t>Automatic check: </a:t>
            </a:r>
            <a:r>
              <a:rPr sz="1500">
                <a:solidFill>
                  <a:srgbClr val="2B2A28"/>
                </a:solidFill>
                <a:latin typeface="Segoe UI"/>
              </a:rPr>
              <a:t>shortly after start and every 6 hours (needs internet).</a:t>
            </a:r>
          </a:p>
          <a:p>
            <a:pPr>
              <a:spcAft>
                <a:spcPts val="900"/>
              </a:spcAft>
            </a:pPr>
            <a:r>
              <a:rPr sz="1500" b="1">
                <a:solidFill>
                  <a:srgbClr val="4CB86B"/>
                </a:solidFill>
                <a:latin typeface="Segoe UI"/>
              </a:rPr>
              <a:t>•  </a:t>
            </a:r>
            <a:r>
              <a:rPr sz="1500" b="1">
                <a:solidFill>
                  <a:srgbClr val="2B2A28"/>
                </a:solidFill>
                <a:latin typeface="Segoe UI"/>
              </a:rPr>
              <a:t>Your pet tells you </a:t>
            </a:r>
            <a:r>
              <a:rPr sz="1500">
                <a:solidFill>
                  <a:srgbClr val="2B2A28"/>
                </a:solidFill>
                <a:latin typeface="Segoe UI"/>
              </a:rPr>
              <a:t>what's new and offers: Update now · Later · Skip this version.</a:t>
            </a:r>
          </a:p>
          <a:p>
            <a:pPr>
              <a:spcAft>
                <a:spcPts val="900"/>
              </a:spcAft>
            </a:pPr>
            <a:r>
              <a:rPr sz="1500" b="1">
                <a:solidFill>
                  <a:srgbClr val="4CB86B"/>
                </a:solidFill>
                <a:latin typeface="Segoe UI"/>
              </a:rPr>
              <a:t>•  </a:t>
            </a:r>
            <a:r>
              <a:rPr sz="1500" b="1">
                <a:solidFill>
                  <a:srgbClr val="2B2A28"/>
                </a:solidFill>
                <a:latin typeface="Segoe UI"/>
              </a:rPr>
              <a:t>Update now: </a:t>
            </a:r>
            <a:r>
              <a:rPr sz="1500">
                <a:solidFill>
                  <a:srgbClr val="2B2A28"/>
                </a:solidFill>
                <a:latin typeface="Segoe UI"/>
              </a:rPr>
              <a:t>downloads, verifies (SHA-256), installs and restarts Pips by itself - about 10 seconds.</a:t>
            </a:r>
          </a:p>
          <a:p>
            <a:pPr>
              <a:spcAft>
                <a:spcPts val="900"/>
              </a:spcAft>
            </a:pPr>
            <a:r>
              <a:rPr sz="1500" b="1">
                <a:solidFill>
                  <a:srgbClr val="4CB86B"/>
                </a:solidFill>
                <a:latin typeface="Segoe UI"/>
              </a:rPr>
              <a:t>•  </a:t>
            </a:r>
            <a:r>
              <a:rPr sz="1500" b="1">
                <a:solidFill>
                  <a:srgbClr val="2B2A28"/>
                </a:solidFill>
                <a:latin typeface="Segoe UI"/>
              </a:rPr>
              <a:t>Your stuff is safe: </a:t>
            </a:r>
            <a:r>
              <a:rPr sz="1500">
                <a:solidFill>
                  <a:srgbClr val="2B2A28"/>
                </a:solidFill>
                <a:latin typeface="Segoe UI"/>
              </a:rPr>
              <a:t>settings, pet, history and reports are never touched. The old version is backed up in the backup\ folder.</a:t>
            </a:r>
          </a:p>
          <a:p>
            <a:pPr>
              <a:spcAft>
                <a:spcPts val="900"/>
              </a:spcAft>
            </a:pPr>
            <a:r>
              <a:rPr sz="1500" b="1">
                <a:solidFill>
                  <a:srgbClr val="4CB86B"/>
                </a:solidFill>
                <a:latin typeface="Segoe UI"/>
              </a:rPr>
              <a:t>•  </a:t>
            </a:r>
            <a:r>
              <a:rPr sz="1500" b="1">
                <a:solidFill>
                  <a:srgbClr val="2B2A28"/>
                </a:solidFill>
                <a:latin typeface="Segoe UI"/>
              </a:rPr>
              <a:t>Manual check: </a:t>
            </a:r>
            <a:r>
              <a:rPr sz="1500">
                <a:solidFill>
                  <a:srgbClr val="2B2A28"/>
                </a:solidFill>
                <a:latin typeface="Segoe UI"/>
              </a:rPr>
              <a:t>right-click the pet → Help → Check for updates.</a:t>
            </a:r>
          </a:p>
          <a:p>
            <a:pPr>
              <a:spcAft>
                <a:spcPts val="900"/>
              </a:spcAft>
            </a:pPr>
            <a:r>
              <a:rPr sz="1500" b="1">
                <a:solidFill>
                  <a:srgbClr val="4CB86B"/>
                </a:solidFill>
                <a:latin typeface="Segoe UI"/>
              </a:rPr>
              <a:t>•  </a:t>
            </a:r>
            <a:r>
              <a:rPr sz="1500" b="1">
                <a:solidFill>
                  <a:srgbClr val="2B2A28"/>
                </a:solidFill>
                <a:latin typeface="Segoe UI"/>
              </a:rPr>
              <a:t>Don't want it? </a:t>
            </a:r>
            <a:r>
              <a:rPr sz="1500">
                <a:solidFill>
                  <a:srgbClr val="2B2A28"/>
                </a:solidFill>
                <a:latin typeface="Segoe UI"/>
              </a:rPr>
              <a:t>Pet status &amp; settings → uncheck “Check for updates automatically”.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HELP</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Troubleshooting &amp; FAQ</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16</a:t>
            </a:r>
          </a:p>
        </p:txBody>
      </p:sp>
      <p:graphicFrame>
        <p:nvGraphicFramePr>
          <p:cNvPr id="7" name="Table 6"/>
          <p:cNvGraphicFramePr>
            <a:graphicFrameLocks noGrp="1"/>
          </p:cNvGraphicFramePr>
          <p:nvPr/>
        </p:nvGraphicFramePr>
        <p:xfrm>
          <a:off x="548640" y="1645920"/>
          <a:ext cx="11155680" cy="4096512"/>
        </p:xfrm>
        <a:graphic>
          <a:graphicData uri="http://schemas.openxmlformats.org/drawingml/2006/table">
            <a:tbl>
              <a:tblPr firstRow="1" bandRow="1">
                <a:tableStyleId>{5C22544A-7EE6-4342-B048-85BDC9FD1C3A}</a:tableStyleId>
              </a:tblPr>
              <a:tblGrid>
                <a:gridCol w="3108960"/>
                <a:gridCol w="8046720"/>
              </a:tblGrid>
              <a:tr h="384048">
                <a:tc>
                  <a:txBody>
                    <a:bodyPr wrap="square"/>
                    <a:lstStyle/>
                    <a:p>
                      <a:r>
                        <a:rPr sz="1300" b="1">
                          <a:solidFill>
                            <a:srgbClr val="FFFFFF"/>
                          </a:solidFill>
                          <a:latin typeface="Segoe UI"/>
                        </a:rPr>
                        <a:t>Problem</a:t>
                      </a:r>
                    </a:p>
                  </a:txBody>
                  <a:tcPr marL="73152" marR="73152" marT="36576" marB="36576">
                    <a:solidFill>
                      <a:srgbClr val="8B1A1A"/>
                    </a:solidFill>
                  </a:tcPr>
                </a:tc>
                <a:tc>
                  <a:txBody>
                    <a:bodyPr wrap="square"/>
                    <a:lstStyle/>
                    <a:p>
                      <a:r>
                        <a:rPr sz="1300" b="1">
                          <a:solidFill>
                            <a:srgbClr val="FFFFFF"/>
                          </a:solidFill>
                          <a:latin typeface="Segoe UI"/>
                        </a:rPr>
                        <a:t>Try this</a:t>
                      </a:r>
                    </a:p>
                  </a:txBody>
                  <a:tcPr marL="73152" marR="73152" marT="36576" marB="36576">
                    <a:solidFill>
                      <a:srgbClr val="8B1A1A"/>
                    </a:solidFill>
                  </a:tcPr>
                </a:tc>
              </a:tr>
              <a:tr h="530352">
                <a:tc>
                  <a:txBody>
                    <a:bodyPr wrap="square"/>
                    <a:lstStyle/>
                    <a:p>
                      <a:r>
                        <a:rPr sz="1300" b="1">
                          <a:solidFill>
                            <a:srgbClr val="2B2A28"/>
                          </a:solidFill>
                          <a:latin typeface="Segoe UI"/>
                        </a:rPr>
                        <a:t>Nothing happens when I start</a:t>
                      </a:r>
                    </a:p>
                  </a:txBody>
                  <a:tcPr marL="73152" marR="73152" marT="36576" marB="36576">
                    <a:solidFill>
                      <a:srgbClr val="FFFDF8"/>
                    </a:solidFill>
                  </a:tcPr>
                </a:tc>
                <a:tc>
                  <a:txBody>
                    <a:bodyPr wrap="square"/>
                    <a:lstStyle/>
                    <a:p>
                      <a:r>
                        <a:rPr sz="1300" b="0">
                          <a:solidFill>
                            <a:srgbClr val="2B2A28"/>
                          </a:solidFill>
                          <a:latin typeface="Segoe UI"/>
                        </a:rPr>
                        <a:t>Use the Pips Desktop / Start Menu shortcut. If needed, quit Pips and run Pips-Setup.exe again.</a:t>
                      </a:r>
                    </a:p>
                  </a:txBody>
                  <a:tcPr marL="73152" marR="73152" marT="36576" marB="36576">
                    <a:solidFill>
                      <a:srgbClr val="FFFDF8"/>
                    </a:solidFill>
                  </a:tcPr>
                </a:tc>
              </a:tr>
              <a:tr h="530352">
                <a:tc>
                  <a:txBody>
                    <a:bodyPr wrap="square"/>
                    <a:lstStyle/>
                    <a:p>
                      <a:r>
                        <a:rPr sz="1300" b="1">
                          <a:solidFill>
                            <a:srgbClr val="2B2A28"/>
                          </a:solidFill>
                          <a:latin typeface="Segoe UI"/>
                        </a:rPr>
                        <a:t>“Windows protected your PC”</a:t>
                      </a:r>
                    </a:p>
                  </a:txBody>
                  <a:tcPr marL="73152" marR="73152" marT="36576" marB="36576">
                    <a:solidFill>
                      <a:srgbClr val="F7F4EC"/>
                    </a:solidFill>
                  </a:tcPr>
                </a:tc>
                <a:tc>
                  <a:txBody>
                    <a:bodyPr wrap="square"/>
                    <a:lstStyle/>
                    <a:p>
                      <a:r>
                        <a:rPr sz="1300" b="0">
                          <a:solidFill>
                            <a:srgbClr val="2B2A28"/>
                          </a:solidFill>
                          <a:latin typeface="Segoe UI"/>
                        </a:rPr>
                        <a:t>The installer is unsigned. For the trusted official download: More info → Run anyway, if allowed. Otherwise ask IT.</a:t>
                      </a:r>
                    </a:p>
                  </a:txBody>
                  <a:tcPr marL="73152" marR="73152" marT="36576" marB="36576">
                    <a:solidFill>
                      <a:srgbClr val="F7F4EC"/>
                    </a:solidFill>
                  </a:tcPr>
                </a:tc>
              </a:tr>
              <a:tr h="530352">
                <a:tc>
                  <a:txBody>
                    <a:bodyPr wrap="square"/>
                    <a:lstStyle/>
                    <a:p>
                      <a:r>
                        <a:rPr sz="1300" b="1">
                          <a:solidFill>
                            <a:srgbClr val="2B2A28"/>
                          </a:solidFill>
                          <a:latin typeface="Segoe UI"/>
                        </a:rPr>
                        <a:t>Where is my pet?</a:t>
                      </a:r>
                    </a:p>
                  </a:txBody>
                  <a:tcPr marL="73152" marR="73152" marT="36576" marB="36576">
                    <a:solidFill>
                      <a:srgbClr val="FFFDF8"/>
                    </a:solidFill>
                  </a:tcPr>
                </a:tc>
                <a:tc>
                  <a:txBody>
                    <a:bodyPr wrap="square"/>
                    <a:lstStyle/>
                    <a:p>
                      <a:r>
                        <a:rPr sz="1300" b="0">
                          <a:solidFill>
                            <a:srgbClr val="2B2A28"/>
                          </a:solidFill>
                          <a:latin typeface="Segoe UI"/>
                        </a:rPr>
                        <a:t>Look on the taskbar. Right-click the card → Pet → Show. It hides during full-screen apps.</a:t>
                      </a:r>
                    </a:p>
                  </a:txBody>
                  <a:tcPr marL="73152" marR="73152" marT="36576" marB="36576">
                    <a:solidFill>
                      <a:srgbClr val="FFFDF8"/>
                    </a:solidFill>
                  </a:tcPr>
                </a:tc>
              </a:tr>
              <a:tr h="530352">
                <a:tc>
                  <a:txBody>
                    <a:bodyPr wrap="square"/>
                    <a:lstStyle/>
                    <a:p>
                      <a:r>
                        <a:rPr sz="1300" b="1">
                          <a:solidFill>
                            <a:srgbClr val="2B2A28"/>
                          </a:solidFill>
                          <a:latin typeface="Segoe UI"/>
                        </a:rPr>
                        <a:t>The focus card is gone</a:t>
                      </a:r>
                    </a:p>
                  </a:txBody>
                  <a:tcPr marL="73152" marR="73152" marT="36576" marB="36576">
                    <a:solidFill>
                      <a:srgbClr val="F7F4EC"/>
                    </a:solidFill>
                  </a:tcPr>
                </a:tc>
                <a:tc>
                  <a:txBody>
                    <a:bodyPr wrap="square"/>
                    <a:lstStyle/>
                    <a:p>
                      <a:r>
                        <a:rPr sz="1300" b="0">
                          <a:solidFill>
                            <a:srgbClr val="2B2A28"/>
                          </a:solidFill>
                          <a:latin typeface="Segoe UI"/>
                        </a:rPr>
                        <a:t>Right-click the pet → Focus timer → Open. Or restart Pips.</a:t>
                      </a:r>
                    </a:p>
                  </a:txBody>
                  <a:tcPr marL="73152" marR="73152" marT="36576" marB="36576">
                    <a:solidFill>
                      <a:srgbClr val="F7F4EC"/>
                    </a:solidFill>
                  </a:tcPr>
                </a:tc>
              </a:tr>
              <a:tr h="530352">
                <a:tc>
                  <a:txBody>
                    <a:bodyPr wrap="square"/>
                    <a:lstStyle/>
                    <a:p>
                      <a:r>
                        <a:rPr sz="1300" b="1">
                          <a:solidFill>
                            <a:srgbClr val="2B2A28"/>
                          </a:solidFill>
                          <a:latin typeface="Segoe UI"/>
                        </a:rPr>
                        <a:t>Update failed</a:t>
                      </a:r>
                    </a:p>
                  </a:txBody>
                  <a:tcPr marL="73152" marR="73152" marT="36576" marB="36576">
                    <a:solidFill>
                      <a:srgbClr val="FFFDF8"/>
                    </a:solidFill>
                  </a:tcPr>
                </a:tc>
                <a:tc>
                  <a:txBody>
                    <a:bodyPr wrap="square"/>
                    <a:lstStyle/>
                    <a:p>
                      <a:r>
                        <a:rPr sz="1300" b="0">
                          <a:solidFill>
                            <a:srgbClr val="2B2A28"/>
                          </a:solidFill>
                          <a:latin typeface="Segoe UI"/>
                        </a:rPr>
                        <a:t>Try Help → Check for updates later. Installed users can quit Pips and rerun setup; ZIP users should keep their original folder.</a:t>
                      </a:r>
                    </a:p>
                  </a:txBody>
                  <a:tcPr marL="73152" marR="73152" marT="36576" marB="36576">
                    <a:solidFill>
                      <a:srgbClr val="FFFDF8"/>
                    </a:solidFill>
                  </a:tcPr>
                </a:tc>
              </a:tr>
              <a:tr h="530352">
                <a:tc>
                  <a:txBody>
                    <a:bodyPr wrap="square"/>
                    <a:lstStyle/>
                    <a:p>
                      <a:r>
                        <a:rPr sz="1300" b="1">
                          <a:solidFill>
                            <a:srgbClr val="2B2A28"/>
                          </a:solidFill>
                          <a:latin typeface="Segoe UI"/>
                        </a:rPr>
                        <a:t>Where are my settings?</a:t>
                      </a:r>
                    </a:p>
                  </a:txBody>
                  <a:tcPr marL="73152" marR="73152" marT="36576" marB="36576">
                    <a:solidFill>
                      <a:srgbClr val="F7F4EC"/>
                    </a:solidFill>
                  </a:tcPr>
                </a:tc>
                <a:tc>
                  <a:txBody>
                    <a:bodyPr wrap="square"/>
                    <a:lstStyle/>
                    <a:p>
                      <a:r>
                        <a:rPr sz="1300" b="0">
                          <a:solidFill>
                            <a:srgbClr val="2B2A28"/>
                          </a:solidFill>
                          <a:latin typeface="Segoe UI"/>
                        </a:rPr>
                        <a:t>Installed app: %LOCALAPPDATA%\Programs\Pips. config.json and data\ hold your profile and progress; back them up before moving.</a:t>
                      </a:r>
                    </a:p>
                  </a:txBody>
                  <a:tcPr marL="73152" marR="73152" marT="36576" marB="36576">
                    <a:solidFill>
                      <a:srgbClr val="F7F4EC"/>
                    </a:solidFill>
                  </a:tcPr>
                </a:tc>
              </a:tr>
              <a:tr h="530352">
                <a:tc>
                  <a:txBody>
                    <a:bodyPr wrap="square"/>
                    <a:lstStyle/>
                    <a:p>
                      <a:r>
                        <a:rPr sz="1300" b="1">
                          <a:solidFill>
                            <a:srgbClr val="2B2A28"/>
                          </a:solidFill>
                          <a:latin typeface="Segoe UI"/>
                        </a:rPr>
                        <a:t>Uninstall</a:t>
                      </a:r>
                    </a:p>
                  </a:txBody>
                  <a:tcPr marL="73152" marR="73152" marT="36576" marB="36576">
                    <a:solidFill>
                      <a:srgbClr val="FFFDF8"/>
                    </a:solidFill>
                  </a:tcPr>
                </a:tc>
                <a:tc>
                  <a:txBody>
                    <a:bodyPr wrap="square"/>
                    <a:lstStyle/>
                    <a:p>
                      <a:r>
                        <a:rPr sz="1300" b="0">
                          <a:solidFill>
                            <a:srgbClr val="2B2A28"/>
                          </a:solidFill>
                          <a:latin typeface="Segoe UI"/>
                        </a:rPr>
                        <a:t>Quit Pips, then Windows Settings → Apps → Pips → Uninstall. Settings and progress are left in place for a later reinstall.</a:t>
                      </a:r>
                    </a:p>
                  </a:txBody>
                  <a:tcPr marL="73152" marR="73152" marT="36576" marB="36576">
                    <a:solidFill>
                      <a:srgbClr val="FFFDF8"/>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What's new in 2.15.0</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17</a:t>
            </a:r>
          </a:p>
        </p:txBody>
      </p:sp>
      <p:sp>
        <p:nvSpPr>
          <p:cNvPr id="7" name="TextBox 6"/>
          <p:cNvSpPr txBox="1"/>
          <p:nvPr/>
        </p:nvSpPr>
        <p:spPr>
          <a:xfrm>
            <a:off x="548640" y="1554480"/>
            <a:ext cx="10972800" cy="457200"/>
          </a:xfrm>
          <a:prstGeom prst="rect">
            <a:avLst/>
          </a:prstGeom>
          <a:noFill/>
        </p:spPr>
        <p:txBody>
          <a:bodyPr wrap="square" anchor="t" lIns="45720" rIns="45720" tIns="27432" bIns="27432">
            <a:spAutoFit/>
          </a:bodyPr>
          <a:lstStyle/>
          <a:p>
            <a:pPr algn="l"/>
            <a:r>
              <a:rPr sz="1800" b="1">
                <a:solidFill>
                  <a:srgbClr val="8B1A1A"/>
                </a:solidFill>
                <a:latin typeface="Segoe UI"/>
              </a:rPr>
              <a:t>Update reminders  ·  2026-10-29</a:t>
            </a:r>
          </a:p>
        </p:txBody>
      </p:sp>
      <p:sp>
        <p:nvSpPr>
          <p:cNvPr id="8" name="TextBox 7"/>
          <p:cNvSpPr txBox="1"/>
          <p:nvPr/>
        </p:nvSpPr>
        <p:spPr>
          <a:xfrm>
            <a:off x="548640" y="2148840"/>
            <a:ext cx="6858000" cy="4114800"/>
          </a:xfrm>
          <a:prstGeom prst="rect">
            <a:avLst/>
          </a:prstGeom>
          <a:noFill/>
        </p:spPr>
        <p:txBody>
          <a:bodyPr wrap="square">
            <a:spAutoFit/>
          </a:bodyPr>
          <a:lstStyle/>
          <a:p>
            <a:pPr>
              <a:spcAft>
                <a:spcPts val="1000"/>
              </a:spcAft>
            </a:pPr>
            <a:r>
              <a:rPr sz="1700" b="1">
                <a:solidFill>
                  <a:srgbClr val="4CB86B"/>
                </a:solidFill>
                <a:latin typeface="Segoe UI"/>
              </a:rPr>
              <a:t>•  </a:t>
            </a:r>
            <a:r>
              <a:rPr sz="1700">
                <a:solidFill>
                  <a:srgbClr val="2B2A28"/>
                </a:solidFill>
                <a:latin typeface="Segoe UI"/>
              </a:rPr>
              <a:t>Owner &amp; moderators: the Mod tab now lists who hasn't updated Pips yet (their version and when they were last seen), with one-click reminders by e-mail (sent from your Outlook) or a ready-to-send Teams chat.</a:t>
            </a:r>
          </a:p>
          <a:p>
            <a:pPr>
              <a:spcAft>
                <a:spcPts val="1000"/>
              </a:spcAft>
            </a:pPr>
            <a:r>
              <a:rPr sz="1700" b="1">
                <a:solidFill>
                  <a:srgbClr val="4CB86B"/>
                </a:solidFill>
                <a:latin typeface="Segoe UI"/>
              </a:rPr>
              <a:t>•  </a:t>
            </a:r>
            <a:r>
              <a:rPr sz="1700">
                <a:solidFill>
                  <a:srgbClr val="2B2A28"/>
                </a:solidFill>
                <a:latin typeface="Segoe UI"/>
              </a:rPr>
              <a:t>New Work e-mail field in your Profile, filled in from Outlook. Only the owner and moderators can see it (for update reminders and support) - clear it to hide it.</a:t>
            </a:r>
          </a:p>
          <a:p>
            <a:pPr>
              <a:spcAft>
                <a:spcPts val="1000"/>
              </a:spcAft>
            </a:pPr>
            <a:r>
              <a:rPr sz="1700" b="1">
                <a:solidFill>
                  <a:srgbClr val="4CB86B"/>
                </a:solidFill>
                <a:latin typeface="Segoe UI"/>
              </a:rPr>
              <a:t>•  </a:t>
            </a:r>
            <a:r>
              <a:rPr sz="1700">
                <a:solidFill>
                  <a:srgbClr val="2B2A28"/>
                </a:solidFill>
                <a:latin typeface="Segoe UI"/>
              </a:rPr>
              <a:t>Pips now tells the Friends server which version it runs, so the update list is always accurate.</a:t>
            </a:r>
          </a:p>
          <a:p>
            <a:pPr>
              <a:spcAft>
                <a:spcPts val="1000"/>
              </a:spcAft>
            </a:pPr>
            <a:r>
              <a:rPr sz="1700" b="1">
                <a:solidFill>
                  <a:srgbClr val="4CB86B"/>
                </a:solidFill>
                <a:latin typeface="Segoe UI"/>
              </a:rPr>
              <a:t>•  </a:t>
            </a:r>
            <a:r>
              <a:rPr sz="1700">
                <a:solidFill>
                  <a:srgbClr val="2B2A28"/>
                </a:solidFill>
                <a:latin typeface="Segoe UI"/>
              </a:rPr>
              <a:t>Friends keeps working when a local proxy tool stops answering - Pips falls back to the Windows proxy settings.</a:t>
            </a:r>
          </a:p>
        </p:txBody>
      </p:sp>
      <p:sp>
        <p:nvSpPr>
          <p:cNvPr id="9" name="Rounded Rectangle 8"/>
          <p:cNvSpPr/>
          <p:nvPr/>
        </p:nvSpPr>
        <p:spPr>
          <a:xfrm>
            <a:off x="7680960" y="2103120"/>
            <a:ext cx="4114800" cy="4023360"/>
          </a:xfrm>
          <a:prstGeom prst="roundRect">
            <a:avLst>
              <a:gd name="adj" fmla="val 6000"/>
            </a:avLst>
          </a:prstGeom>
          <a:solidFill>
            <a:srgbClr val="E4F5E8"/>
          </a:solidFill>
          <a:ln w="12700">
            <a:solidFill>
              <a:srgbClr val="4CB86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0" y="2194560"/>
            <a:ext cx="3749039" cy="365760"/>
          </a:xfrm>
          <a:prstGeom prst="rect">
            <a:avLst/>
          </a:prstGeom>
          <a:noFill/>
        </p:spPr>
        <p:txBody>
          <a:bodyPr wrap="square" anchor="t" lIns="45720" rIns="45720" tIns="27432" bIns="27432">
            <a:spAutoFit/>
          </a:bodyPr>
          <a:lstStyle/>
          <a:p>
            <a:pPr algn="l"/>
            <a:r>
              <a:rPr sz="1300" b="1">
                <a:solidFill>
                  <a:srgbClr val="4CB86B"/>
                </a:solidFill>
                <a:latin typeface="Segoe UI"/>
              </a:rPr>
              <a:t>Bahasa Indonesia</a:t>
            </a:r>
          </a:p>
        </p:txBody>
      </p:sp>
      <p:sp>
        <p:nvSpPr>
          <p:cNvPr id="11" name="TextBox 10"/>
          <p:cNvSpPr txBox="1"/>
          <p:nvPr/>
        </p:nvSpPr>
        <p:spPr>
          <a:xfrm>
            <a:off x="7863840" y="2560320"/>
            <a:ext cx="3749039" cy="3474720"/>
          </a:xfrm>
          <a:prstGeom prst="rect">
            <a:avLst/>
          </a:prstGeom>
          <a:noFill/>
        </p:spPr>
        <p:txBody>
          <a:bodyPr wrap="square">
            <a:spAutoFit/>
          </a:bodyPr>
          <a:lstStyle/>
          <a:p>
            <a:pPr>
              <a:spcAft>
                <a:spcPts val="500"/>
              </a:spcAft>
            </a:pPr>
            <a:r>
              <a:rPr sz="1200" b="1">
                <a:solidFill>
                  <a:srgbClr val="4CB86B"/>
                </a:solidFill>
                <a:latin typeface="Segoe UI"/>
              </a:rPr>
              <a:t>•  </a:t>
            </a:r>
            <a:r>
              <a:rPr sz="1200">
                <a:solidFill>
                  <a:srgbClr val="2B2A28"/>
                </a:solidFill>
                <a:latin typeface="Segoe UI"/>
              </a:rPr>
              <a:t>Pemilik &amp; moderator: tab Mod kini menampilkan siapa yang belum update Pips (versinya dan kapan terakhir terlihat), dengan pengingat sekali klik lewat email (dikirim dari Outlook-mu) atau chat Teams yang siap kirim.</a:t>
            </a:r>
          </a:p>
          <a:p>
            <a:pPr>
              <a:spcAft>
                <a:spcPts val="500"/>
              </a:spcAft>
            </a:pPr>
            <a:r>
              <a:rPr sz="1200" b="1">
                <a:solidFill>
                  <a:srgbClr val="4CB86B"/>
                </a:solidFill>
                <a:latin typeface="Segoe UI"/>
              </a:rPr>
              <a:t>•  </a:t>
            </a:r>
            <a:r>
              <a:rPr sz="1200">
                <a:solidFill>
                  <a:srgbClr val="2B2A28"/>
                </a:solidFill>
                <a:latin typeface="Segoe UI"/>
              </a:rPr>
              <a:t>Kolom baru Email kerja di Profil, diisi otomatis dari Outlook. Hanya pemilik dan moderator yang bisa melihatnya (untuk pengingat update dan bantuan) - kosongkan untuk menyembunyikan.</a:t>
            </a:r>
          </a:p>
          <a:p>
            <a:pPr>
              <a:spcAft>
                <a:spcPts val="500"/>
              </a:spcAft>
            </a:pPr>
            <a:r>
              <a:rPr sz="1200" b="1">
                <a:solidFill>
                  <a:srgbClr val="4CB86B"/>
                </a:solidFill>
                <a:latin typeface="Segoe UI"/>
              </a:rPr>
              <a:t>•  </a:t>
            </a:r>
            <a:r>
              <a:rPr sz="1200">
                <a:solidFill>
                  <a:srgbClr val="2B2A28"/>
                </a:solidFill>
                <a:latin typeface="Segoe UI"/>
              </a:rPr>
              <a:t>Pips kini memberi tahu server Teman versi yang dipakai, jadi daftar update selalu akurat.</a:t>
            </a:r>
          </a:p>
          <a:p>
            <a:pPr>
              <a:spcAft>
                <a:spcPts val="500"/>
              </a:spcAft>
            </a:pPr>
            <a:r>
              <a:rPr sz="1200" b="1">
                <a:solidFill>
                  <a:srgbClr val="4CB86B"/>
                </a:solidFill>
                <a:latin typeface="Segoe UI"/>
              </a:rPr>
              <a:t>•  </a:t>
            </a:r>
            <a:r>
              <a:rPr sz="1200">
                <a:solidFill>
                  <a:srgbClr val="2B2A28"/>
                </a:solidFill>
                <a:latin typeface="Segoe UI"/>
              </a:rPr>
              <a:t>Fitur Teman tetap jalan saat alat proxy lokal tidak merespons - Pips beralih ke pengaturan proxy Windows.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20040"/>
            <a:ext cx="9144000" cy="365760"/>
          </a:xfrm>
          <a:prstGeom prst="rect">
            <a:avLst/>
          </a:prstGeom>
          <a:noFill/>
        </p:spPr>
        <p:txBody>
          <a:bodyPr wrap="square" anchor="t" lIns="45720" rIns="45720" tIns="27432" bIns="27432">
            <a:spAutoFit/>
          </a:bodyPr>
          <a:lstStyle/>
          <a:p>
            <a:pPr algn="l"/>
            <a:r>
              <a:rPr sz="1200" b="1">
                <a:solidFill>
                  <a:srgbClr val="4CB86B"/>
                </a:solidFill>
                <a:latin typeface="Segoe UI"/>
              </a:rPr>
              <a:t>RELEASE NOTES</a:t>
            </a:r>
          </a:p>
        </p:txBody>
      </p:sp>
      <p:sp>
        <p:nvSpPr>
          <p:cNvPr id="4" name="TextBox 3"/>
          <p:cNvSpPr txBox="1"/>
          <p:nvPr/>
        </p:nvSpPr>
        <p:spPr>
          <a:xfrm>
            <a:off x="548640" y="566928"/>
            <a:ext cx="10972800" cy="731520"/>
          </a:xfrm>
          <a:prstGeom prst="rect">
            <a:avLst/>
          </a:prstGeom>
          <a:noFill/>
        </p:spPr>
        <p:txBody>
          <a:bodyPr wrap="square" anchor="t" lIns="45720" rIns="45720" tIns="27432" bIns="27432">
            <a:spAutoFit/>
          </a:bodyPr>
          <a:lstStyle/>
          <a:p>
            <a:pPr algn="l"/>
            <a:r>
              <a:rPr sz="3200" b="1">
                <a:solidFill>
                  <a:srgbClr val="2B2A28"/>
                </a:solidFill>
                <a:latin typeface="Segoe UI"/>
              </a:rPr>
              <a:t>Version history</a:t>
            </a:r>
          </a:p>
        </p:txBody>
      </p:sp>
      <p:sp>
        <p:nvSpPr>
          <p:cNvPr id="5" name="Rectangle 4"/>
          <p:cNvSpPr/>
          <p:nvPr/>
        </p:nvSpPr>
        <p:spPr>
          <a:xfrm>
            <a:off x="566928" y="1298448"/>
            <a:ext cx="1097280" cy="45720"/>
          </a:xfrm>
          <a:prstGeom prst="rect">
            <a:avLst/>
          </a:prstGeom>
          <a:solidFill>
            <a:srgbClr val="8B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0607040" y="6400800"/>
            <a:ext cx="1371600" cy="320040"/>
          </a:xfrm>
          <a:prstGeom prst="rect">
            <a:avLst/>
          </a:prstGeom>
          <a:noFill/>
        </p:spPr>
        <p:txBody>
          <a:bodyPr wrap="square" anchor="t" lIns="45720" rIns="45720" tIns="27432" bIns="27432">
            <a:spAutoFit/>
          </a:bodyPr>
          <a:lstStyle/>
          <a:p>
            <a:pPr algn="r"/>
            <a:r>
              <a:rPr sz="1000" b="0">
                <a:solidFill>
                  <a:srgbClr val="6E6A62"/>
                </a:solidFill>
                <a:latin typeface="Segoe UI"/>
              </a:rPr>
              <a:t>Pips · 18</a:t>
            </a:r>
          </a:p>
        </p:txBody>
      </p:sp>
      <p:graphicFrame>
        <p:nvGraphicFramePr>
          <p:cNvPr id="7" name="Table 6"/>
          <p:cNvGraphicFramePr>
            <a:graphicFrameLocks noGrp="1"/>
          </p:cNvGraphicFramePr>
          <p:nvPr/>
        </p:nvGraphicFramePr>
        <p:xfrm>
          <a:off x="548640" y="1645920"/>
          <a:ext cx="11155680" cy="21781008"/>
        </p:xfrm>
        <a:graphic>
          <a:graphicData uri="http://schemas.openxmlformats.org/drawingml/2006/table">
            <a:tbl>
              <a:tblPr firstRow="1" bandRow="1">
                <a:tableStyleId>{5C22544A-7EE6-4342-B048-85BDC9FD1C3A}</a:tableStyleId>
              </a:tblPr>
              <a:tblGrid>
                <a:gridCol w="1188720"/>
                <a:gridCol w="1463040"/>
                <a:gridCol w="8503920"/>
              </a:tblGrid>
              <a:tr h="384048">
                <a:tc>
                  <a:txBody>
                    <a:bodyPr wrap="square"/>
                    <a:lstStyle/>
                    <a:p>
                      <a:r>
                        <a:rPr sz="1200" b="1">
                          <a:solidFill>
                            <a:srgbClr val="FFFFFF"/>
                          </a:solidFill>
                          <a:latin typeface="Segoe UI"/>
                        </a:rPr>
                        <a:t>Version</a:t>
                      </a:r>
                    </a:p>
                  </a:txBody>
                  <a:tcPr marL="73152" marR="73152" marT="36576" marB="36576">
                    <a:solidFill>
                      <a:srgbClr val="8B1A1A"/>
                    </a:solidFill>
                  </a:tcPr>
                </a:tc>
                <a:tc>
                  <a:txBody>
                    <a:bodyPr wrap="square"/>
                    <a:lstStyle/>
                    <a:p>
                      <a:r>
                        <a:rPr sz="1200" b="1">
                          <a:solidFill>
                            <a:srgbClr val="FFFFFF"/>
                          </a:solidFill>
                          <a:latin typeface="Segoe UI"/>
                        </a:rPr>
                        <a:t>Date</a:t>
                      </a:r>
                    </a:p>
                  </a:txBody>
                  <a:tcPr marL="73152" marR="73152" marT="36576" marB="36576">
                    <a:solidFill>
                      <a:srgbClr val="8B1A1A"/>
                    </a:solidFill>
                  </a:tcPr>
                </a:tc>
                <a:tc>
                  <a:txBody>
                    <a:bodyPr wrap="square"/>
                    <a:lstStyle/>
                    <a:p>
                      <a:r>
                        <a:rPr sz="1200" b="1">
                          <a:solidFill>
                            <a:srgbClr val="FFFFFF"/>
                          </a:solidFill>
                          <a:latin typeface="Segoe UI"/>
                        </a:rPr>
                        <a:t>Highlights</a:t>
                      </a:r>
                    </a:p>
                  </a:txBody>
                  <a:tcPr marL="73152" marR="73152" marT="36576" marB="36576">
                    <a:solidFill>
                      <a:srgbClr val="8B1A1A"/>
                    </a:solidFill>
                  </a:tcPr>
                </a:tc>
              </a:tr>
              <a:tr h="822960">
                <a:tc>
                  <a:txBody>
                    <a:bodyPr wrap="square"/>
                    <a:lstStyle/>
                    <a:p>
                      <a:r>
                        <a:rPr sz="1200" b="1">
                          <a:solidFill>
                            <a:srgbClr val="2B2A28"/>
                          </a:solidFill>
                          <a:latin typeface="Segoe UI"/>
                        </a:rPr>
                        <a:t>2.15.0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Update reminders</a:t>
                      </a:r>
                    </a:p>
                    <a:p>
                      <a:r>
                        <a:rPr sz="1200" b="0">
                          <a:solidFill>
                            <a:srgbClr val="2B2A28"/>
                          </a:solidFill>
                          <a:latin typeface="Segoe UI"/>
                        </a:rPr>
                        <a:t>Owner &amp; moderators: the Mod tab now lists who hasn't updated Pips yet (their version and when they were last seen), with one-click reminders by e-mail (sent from your Outlook) or a ready-to-send Teams chat.; New Work e-mail field in your Profile, filled in from Outlook. Only the owner and moderators can see it (for update reminders and support) - clear it to hide it.; Pips now tells the Friends server which version it runs, so the update list is always accurate.; Friends keeps working when a local proxy tool stops answering - Pips falls back to the Windows proxy settings.</a:t>
                      </a:r>
                    </a:p>
                  </a:txBody>
                  <a:tcPr marL="73152" marR="73152" marT="36576" marB="36576">
                    <a:solidFill>
                      <a:srgbClr val="FFFDF8"/>
                    </a:solidFill>
                  </a:tcPr>
                </a:tc>
              </a:tr>
              <a:tr h="822960">
                <a:tc>
                  <a:txBody>
                    <a:bodyPr wrap="square"/>
                    <a:lstStyle/>
                    <a:p>
                      <a:r>
                        <a:rPr sz="1200" b="1">
                          <a:solidFill>
                            <a:srgbClr val="2B2A28"/>
                          </a:solidFill>
                          <a:latin typeface="Segoe UI"/>
                        </a:rPr>
                        <a:t>2.14.3</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Tidy menus</a:t>
                      </a:r>
                    </a:p>
                    <a:p>
                      <a:r>
                        <a:rPr sz="1200" b="0">
                          <a:solidFill>
                            <a:srgbClr val="2B2A28"/>
                          </a:solidFill>
                          <a:latin typeface="Segoe UI"/>
                        </a:rPr>
                        <a:t>Fixed: a submenu (e.g. Poke a friend) could stay floating on the screen after the right-click menu closed.; Menus now close by themselves when you move the mouse away and leave them for a few seconds.</a:t>
                      </a:r>
                    </a:p>
                  </a:txBody>
                  <a:tcPr marL="73152" marR="73152" marT="36576" marB="36576">
                    <a:solidFill>
                      <a:srgbClr val="F7F4EC"/>
                    </a:solidFill>
                  </a:tcPr>
                </a:tc>
              </a:tr>
              <a:tr h="822960">
                <a:tc>
                  <a:txBody>
                    <a:bodyPr wrap="square"/>
                    <a:lstStyle/>
                    <a:p>
                      <a:r>
                        <a:rPr sz="1200" b="1">
                          <a:solidFill>
                            <a:srgbClr val="2B2A28"/>
                          </a:solidFill>
                          <a:latin typeface="Segoe UI"/>
                        </a:rPr>
                        <a:t>2.14.2</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Never miss an update</a:t>
                      </a:r>
                    </a:p>
                    <a:p>
                      <a:r>
                        <a:rPr sz="1200" b="0">
                          <a:solidFill>
                            <a:srgbClr val="2B2A28"/>
                          </a:solidFill>
                          <a:latin typeface="Segoe UI"/>
                        </a:rPr>
                        <a:t>Your pet now reminds you every 2 hours while a new version is waiting (instead of every 6 hours).; If the reminder can't show (fullscreen app, guided tour, another message), your pet tries again a few minutes later.; No internet when Pips starts (e.g. VPN off)? It checks again after an hour.</a:t>
                      </a:r>
                    </a:p>
                  </a:txBody>
                  <a:tcPr marL="73152" marR="73152" marT="36576" marB="36576">
                    <a:solidFill>
                      <a:srgbClr val="FFFDF8"/>
                    </a:solidFill>
                  </a:tcPr>
                </a:tc>
              </a:tr>
              <a:tr h="822960">
                <a:tc>
                  <a:txBody>
                    <a:bodyPr wrap="square"/>
                    <a:lstStyle/>
                    <a:p>
                      <a:r>
                        <a:rPr sz="1200" b="1">
                          <a:solidFill>
                            <a:srgbClr val="2B2A28"/>
                          </a:solidFill>
                          <a:latin typeface="Segoe UI"/>
                        </a:rPr>
                        <a:t>2.14.1</a:t>
                      </a:r>
                    </a:p>
                  </a:txBody>
                  <a:tcPr marL="73152" marR="73152" marT="36576" marB="36576">
                    <a:solidFill>
                      <a:srgbClr val="F7F4EC"/>
                    </a:solidFill>
                  </a:tcPr>
                </a:tc>
                <a:tc>
                  <a:txBody>
                    <a:bodyPr wrap="square"/>
                    <a:lstStyle/>
                    <a:p>
                      <a:r>
                        <a:rPr sz="1200" b="0">
                          <a:solidFill>
                            <a:srgbClr val="2B2A28"/>
                          </a:solidFill>
                          <a:latin typeface="Segoe UI"/>
                        </a:rPr>
                        <a:t>2026-10-29</a:t>
                      </a:r>
                    </a:p>
                  </a:txBody>
                  <a:tcPr marL="73152" marR="73152" marT="36576" marB="36576">
                    <a:solidFill>
                      <a:srgbClr val="F7F4EC"/>
                    </a:solidFill>
                  </a:tcPr>
                </a:tc>
                <a:tc>
                  <a:txBody>
                    <a:bodyPr wrap="square"/>
                    <a:lstStyle/>
                    <a:p>
                      <a:r>
                        <a:rPr sz="1200" b="0">
                          <a:solidFill>
                            <a:srgbClr val="2B2A28"/>
                          </a:solidFill>
                          <a:latin typeface="Segoe UI"/>
                        </a:rPr>
                        <a:t>One pet at a time</a:t>
                      </a:r>
                    </a:p>
                    <a:p>
                      <a:r>
                        <a:rPr sz="1200" b="0">
                          <a:solidFill>
                            <a:srgbClr val="2B2A28"/>
                          </a:solidFill>
                          <a:latin typeface="Segoe UI"/>
                        </a:rPr>
                        <a:t>Opening Pips again (Desktop / Start Menu shortcut, autostart) no longer starts a second pet - your pet just pops up and says hi.; Fixes lag caused by two copies of Pips running at once.</a:t>
                      </a:r>
                    </a:p>
                  </a:txBody>
                  <a:tcPr marL="73152" marR="73152" marT="36576" marB="36576">
                    <a:solidFill>
                      <a:srgbClr val="F7F4EC"/>
                    </a:solidFill>
                  </a:tcPr>
                </a:tc>
              </a:tr>
              <a:tr h="822960">
                <a:tc>
                  <a:txBody>
                    <a:bodyPr wrap="square"/>
                    <a:lstStyle/>
                    <a:p>
                      <a:r>
                        <a:rPr sz="1200" b="1">
                          <a:solidFill>
                            <a:srgbClr val="2B2A28"/>
                          </a:solidFill>
                          <a:latin typeface="Segoe UI"/>
                        </a:rPr>
                        <a:t>2.14.0</a:t>
                      </a:r>
                    </a:p>
                  </a:txBody>
                  <a:tcPr marL="73152" marR="73152" marT="36576" marB="36576">
                    <a:solidFill>
                      <a:srgbClr val="FFFDF8"/>
                    </a:solidFill>
                  </a:tcPr>
                </a:tc>
                <a:tc>
                  <a:txBody>
                    <a:bodyPr wrap="square"/>
                    <a:lstStyle/>
                    <a:p>
                      <a:r>
                        <a:rPr sz="1200" b="0">
                          <a:solidFill>
                            <a:srgbClr val="2B2A28"/>
                          </a:solidFill>
                          <a:latin typeface="Segoe UI"/>
                        </a:rPr>
                        <a:t>2026-10-29</a:t>
                      </a:r>
                    </a:p>
                  </a:txBody>
                  <a:tcPr marL="73152" marR="73152" marT="36576" marB="36576">
                    <a:solidFill>
                      <a:srgbClr val="FFFDF8"/>
                    </a:solidFill>
                  </a:tcPr>
                </a:tc>
                <a:tc>
                  <a:txBody>
                    <a:bodyPr wrap="square"/>
                    <a:lstStyle/>
                    <a:p>
                      <a:r>
                        <a:rPr sz="1200" b="0">
                          <a:solidFill>
                            <a:srgbClr val="2B2A28"/>
                          </a:solidFill>
                          <a:latin typeface="Segoe UI"/>
                        </a:rPr>
                        <a:t>Pokes, tickles &amp; teases</a:t>
                      </a:r>
                    </a:p>
                    <a:p>
                      <a:r>
                        <a:rPr sz="1200" b="0">
                          <a:solidFill>
                            <a:srgbClr val="2B2A28"/>
                          </a:solidFill>
                          <a:latin typeface="Segoe UI"/>
                        </a:rPr>
                        <a:t>Poke, tickle, tease, boop or hug a friend from afar - no pet visit needed.; Right-click your pet → Poke a friend, or use the Poke button in Friends, chat and profiles.; Your friend gets a pop-up ("Wendy is teasing you!"), their pet reacts, and they can poke back with one click.; During a focus session pokes wait quietly until your break; when your pet is hidden they show in the screen corner.</a:t>
                      </a:r>
                    </a:p>
                  </a:txBody>
                  <a:tcPr marL="73152" marR="73152" marT="36576" marB="36576">
                    <a:solidFill>
                      <a:srgbClr val="FFFDF8"/>
                    </a:solidFill>
                  </a:tcPr>
                </a:tc>
              </a:tr>
              <a:tr h="822960">
                <a:tc>
                  <a:txBody>
                    <a:bodyPr wrap="square"/>
                    <a:lstStyle/>
                    <a:p>
                      <a:r>
                        <a:rPr sz="1200" b="1">
                          <a:solidFill>
                            <a:srgbClr val="2B2A28"/>
                          </a:solidFill>
                          <a:latin typeface="Segoe UI"/>
                        </a:rPr>
                        <a:t>2.13.1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One-click Windows installer</a:t>
                      </a:r>
                    </a:p>
                    <a:p>
                      <a:r>
                        <a:rPr sz="1200" b="0">
                          <a:solidFill>
                            <a:srgbClr val="2B2A28"/>
                          </a:solidFill>
                          <a:latin typeface="Segoe UI"/>
                        </a:rPr>
                        <a:t>One Windows installer: no ZIP extraction, Python installation or command line. Download, open and click Install Pips.; Installs for your Windows account without administrator access, adds Desktop and Start Menu shortcuts, and opens Pips automatically.; Reinstalling in the same location keeps your settings and pet progress. Existing ZIP users can keep updating in place from Help → Check for updates.; A simpler download page and updated user guide; the bundled runtime stays separate from small in-app updates.</a:t>
                      </a:r>
                    </a:p>
                  </a:txBody>
                  <a:tcPr marL="73152" marR="73152" marT="36576" marB="36576">
                    <a:solidFill>
                      <a:srgbClr val="F7F4EC"/>
                    </a:solidFill>
                  </a:tcPr>
                </a:tc>
              </a:tr>
              <a:tr h="822960">
                <a:tc>
                  <a:txBody>
                    <a:bodyPr wrap="square"/>
                    <a:lstStyle/>
                    <a:p>
                      <a:r>
                        <a:rPr sz="1200" b="1">
                          <a:solidFill>
                            <a:srgbClr val="2B2A28"/>
                          </a:solidFill>
                          <a:latin typeface="Segoe UI"/>
                        </a:rPr>
                        <a:t>2.13.0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Birthdays, parties &amp; gifts</a:t>
                      </a:r>
                    </a:p>
                    <a:p>
                      <a:r>
                        <a:rPr sz="1200" b="0">
                          <a:solidFill>
                            <a:srgbClr val="2B2A28"/>
                          </a:solidFill>
                          <a:latin typeface="Segoe UI"/>
                        </a:rPr>
                        <a:t>Set your birthday in Social → Profile (month + day, optionally visible to friends).; On your birthday Pips throws confetti and gives you 100 bonus coins.; Friends tab shows upcoming birthdays; you get reminders 3 days, 1 day and on the day.; Birthday parties: join a friend's party, see who's there, sign the guestbook and celebrate together.</a:t>
                      </a:r>
                    </a:p>
                  </a:txBody>
                  <a:tcPr marL="73152" marR="73152" marT="36576" marB="36576">
                    <a:solidFill>
                      <a:srgbClr val="FFFDF8"/>
                    </a:solidFill>
                  </a:tcPr>
                </a:tc>
              </a:tr>
              <a:tr h="822960">
                <a:tc>
                  <a:txBody>
                    <a:bodyPr wrap="square"/>
                    <a:lstStyle/>
                    <a:p>
                      <a:r>
                        <a:rPr sz="1200" b="1">
                          <a:solidFill>
                            <a:srgbClr val="2B2A28"/>
                          </a:solidFill>
                          <a:latin typeface="Segoe UI"/>
                        </a:rPr>
                        <a:t>2.12.0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Mega update: 28 new animals, 31 shop items, 13 moves</a:t>
                      </a:r>
                    </a:p>
                    <a:p>
                      <a:r>
                        <a:rPr sz="1200" b="0">
                          <a:solidFill>
                            <a:srgbClr val="2B2A28"/>
                          </a:solidFill>
                          <a:latin typeface="Segoe UI"/>
                        </a:rPr>
                        <a:t>🦁 28 new animals (51 total): lion, tiger, unicorn, deer, sheep, cow, raccoon, red panda, monkey, hedgehog, dino, squirrel, mouse, koala, shark, dolphin, seal, otter, pufferfish, duck, crab, parrot, chick, ladybug, phoenix, pegasus, ghost and flamingo; 🎩 31 new shop items: top hat, cowboy, chef, pirate, Santa, viking, graduation cap, beret, bow, propeller cap, flower crown, nerd glasses, eyepatch, mustache, goggles, masquerade mask, tie, pearls, flower lei, gold chain, balloon, backpack, guitar, shield, butterfly / devil wings and more - plus Premium galaxy crown, galaxy cape and dragon wings; 💃 13 new moves: wave, jump, hearts, sing, yoga, zoomies, cartwheel, juggle, rain dance, breakdance, magic, confetti and the Premium rocket launch; The Shop is now split into sections (Hats, Face, Neck, Back, Moves, Arena gear) with an owned counter for each</a:t>
                      </a:r>
                    </a:p>
                  </a:txBody>
                  <a:tcPr marL="73152" marR="73152" marT="36576" marB="36576">
                    <a:solidFill>
                      <a:srgbClr val="F7F4EC"/>
                    </a:solidFill>
                  </a:tcPr>
                </a:tc>
              </a:tr>
              <a:tr h="822960">
                <a:tc>
                  <a:txBody>
                    <a:bodyPr wrap="square"/>
                    <a:lstStyle/>
                    <a:p>
                      <a:r>
                        <a:rPr sz="1200" b="1">
                          <a:solidFill>
                            <a:srgbClr val="2B2A28"/>
                          </a:solidFill>
                          <a:latin typeface="Segoe UI"/>
                        </a:rPr>
                        <a:t>2.11.0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New right-click menus</a:t>
                      </a:r>
                    </a:p>
                    <a:p>
                      <a:r>
                        <a:rPr sz="1200" b="0">
                          <a:solidFill>
                            <a:srgbClr val="2B2A28"/>
                          </a:solidFill>
                          <a:latin typeface="Segoe UI"/>
                        </a:rPr>
                        <a:t>✨ Brand-new animated right-click menu for your pet: mood &amp; stat bars, quick-action tiles (Friends, Shop, Snack, Pat, Focus, Stats, Sleep, Taskbar), hover effects and smooth fly-out submenus; Pick colours from swatches, switch size with one click and flip Sounds / Dark mode with toggle switches - changes show instantly; Updates are highlighted: a glowing banner and NEW badge appear in the menu when a new version is ready; The focus card's right-click menu got the same new look; keyboard arrows, Enter and Esc work too</a:t>
                      </a:r>
                    </a:p>
                  </a:txBody>
                  <a:tcPr marL="73152" marR="73152" marT="36576" marB="36576">
                    <a:solidFill>
                      <a:srgbClr val="FFFDF8"/>
                    </a:solidFill>
                  </a:tcPr>
                </a:tc>
              </a:tr>
              <a:tr h="822960">
                <a:tc>
                  <a:txBody>
                    <a:bodyPr wrap="square"/>
                    <a:lstStyle/>
                    <a:p>
                      <a:r>
                        <a:rPr sz="1200" b="1">
                          <a:solidFill>
                            <a:srgbClr val="2B2A28"/>
                          </a:solidFill>
                          <a:latin typeface="Segoe UI"/>
                        </a:rPr>
                        <a:t>2.10.0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bots</a:t>
                      </a:r>
                    </a:p>
                    <a:p>
                      <a:r>
                        <a:rPr sz="1200" b="0">
                          <a:solidFill>
                            <a:srgbClr val="2B2A28"/>
                          </a:solidFill>
                          <a:latin typeface="Segoe UI"/>
                        </a:rPr>
                        <a:t>🤖 6 friendly chat bots in the Chat tab: Pip Helper (app questions), Coach Focus (focus tips from your real stats), Sunny (live weather for any city), Arena Master (battle tips + quick battle), Giggles (jokes &amp; games) and Guardian (safety &amp; reporting help); Private bot chats with suggestion chips, typing indicator and a clear button - your bot chats stay on your PC; Mention a bot in a group chat (e.g. @weather Batam) and it answers in the room for everyone; Bots reply in your app language; up to 120 bot messages per day</a:t>
                      </a:r>
                    </a:p>
                  </a:txBody>
                  <a:tcPr marL="73152" marR="73152" marT="36576" marB="36576">
                    <a:solidFill>
                      <a:srgbClr val="F7F4EC"/>
                    </a:solidFill>
                  </a:tcPr>
                </a:tc>
              </a:tr>
              <a:tr h="822960">
                <a:tc>
                  <a:txBody>
                    <a:bodyPr wrap="square"/>
                    <a:lstStyle/>
                    <a:p>
                      <a:r>
                        <a:rPr sz="1200" b="1">
                          <a:solidFill>
                            <a:srgbClr val="2B2A28"/>
                          </a:solidFill>
                          <a:latin typeface="Segoe UI"/>
                        </a:rPr>
                        <a:t>2.9.0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Location &amp; live weather</a:t>
                      </a:r>
                    </a:p>
                    <a:p>
                      <a:r>
                        <a:rPr sz="1200" b="0">
                          <a:solidFill>
                            <a:srgbClr val="2B2A28"/>
                          </a:solidFill>
                          <a:latin typeface="Segoe UI"/>
                        </a:rPr>
                        <a:t>📍 Add your city in Profile → Location &amp; weather (auto-detect or search) - only your city and country are shown, never your exact position; Live weather banners on every profile with animations: rain, drizzle, thunderstorms with lightning, snow, fog, clouds, sunshine or a starry night - plus temperature, feels-like, humidity, wind and local time; Your own weather strip on top of the hub, and each friend's weather + local time in the friends list; Hide your location from others or remove it any time</a:t>
                      </a:r>
                    </a:p>
                  </a:txBody>
                  <a:tcPr marL="73152" marR="73152" marT="36576" marB="36576">
                    <a:solidFill>
                      <a:srgbClr val="FFFDF8"/>
                    </a:solidFill>
                  </a:tcPr>
                </a:tc>
              </a:tr>
              <a:tr h="822960">
                <a:tc>
                  <a:txBody>
                    <a:bodyPr wrap="square"/>
                    <a:lstStyle/>
                    <a:p>
                      <a:r>
                        <a:rPr sz="1200" b="1">
                          <a:solidFill>
                            <a:srgbClr val="2B2A28"/>
                          </a:solidFill>
                          <a:latin typeface="Segoe UI"/>
                        </a:rPr>
                        <a:t>2.8.0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Pips Arena - duels, gear &amp; live battles</a:t>
                      </a:r>
                    </a:p>
                    <a:p>
                      <a:r>
                        <a:rPr sz="1200" b="0">
                          <a:solidFill>
                            <a:srgbClr val="2B2A28"/>
                          </a:solidFill>
                          <a:latin typeface="Segoe UI"/>
                        </a:rPr>
                        <a:t>⚔ New Arena tab: challenge friends or anyone in the arena to a live duel - each round pick Attack, Guard or Special within 12 seconds and watch your pets fight; ⚡ Quick battle: an instant auto-fight against anyone's fighter, even when they're offline; Arena gear in the Shop: 7 weapons (water pistol to rocket launcher), 5 armors and 5 gadgets that decide your special move - better gear and a higher level make a stronger fighter; Live duels can be watched by everyone, plus recent battle replays, top fighters, rating and win/loss records; wins earn coins</a:t>
                      </a:r>
                    </a:p>
                  </a:txBody>
                  <a:tcPr marL="73152" marR="73152" marT="36576" marB="36576">
                    <a:solidFill>
                      <a:srgbClr val="F7F4EC"/>
                    </a:solidFill>
                  </a:tcPr>
                </a:tc>
              </a:tr>
              <a:tr h="822960">
                <a:tc>
                  <a:txBody>
                    <a:bodyPr wrap="square"/>
                    <a:lstStyle/>
                    <a:p>
                      <a:r>
                        <a:rPr sz="1200" b="1">
                          <a:solidFill>
                            <a:srgbClr val="2B2A28"/>
                          </a:solidFill>
                          <a:latin typeface="Segoe UI"/>
                        </a:rPr>
                        <a:t>2.7.0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Moderators &amp; Premium</a:t>
                      </a:r>
                    </a:p>
                    <a:p>
                      <a:r>
                        <a:rPr sz="1200" b="0">
                          <a:solidFill>
                            <a:srgbClr val="2B2A28"/>
                          </a:solidFill>
                          <a:latin typeface="Segoe UI"/>
                        </a:rPr>
                        <a:t>★ Premium: a purple Premium badge, 4 exclusive props (tiara, star glasses, diamond necklace, fairy wings), the Fireworks move, +30 coins every day, double friend-interaction coins and room for 300 friends / 30 groups; Get Premium: Profile tab → Premium → "Ask to buy" emails the owner; after payment you receive a key (PIPS-XXXX-XXXX) to redeem right there; 🛡 Moderators: a blue Mod badge and a Mod tab with the report queue - warn, mute (1h / 24h / 7 days), clear a profile or reset a name; every action is logged; Report button on everyone's profile, so moderators can keep Pips friendly</a:t>
                      </a:r>
                    </a:p>
                  </a:txBody>
                  <a:tcPr marL="73152" marR="73152" marT="36576" marB="36576">
                    <a:solidFill>
                      <a:srgbClr val="FFFDF8"/>
                    </a:solidFill>
                  </a:tcPr>
                </a:tc>
              </a:tr>
              <a:tr h="822960">
                <a:tc>
                  <a:txBody>
                    <a:bodyPr wrap="square"/>
                    <a:lstStyle/>
                    <a:p>
                      <a:r>
                        <a:rPr sz="1200" b="1">
                          <a:solidFill>
                            <a:srgbClr val="2B2A28"/>
                          </a:solidFill>
                          <a:latin typeface="Segoe UI"/>
                        </a:rPr>
                        <a:t>2.6.1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badge &amp; credits</a:t>
                      </a:r>
                    </a:p>
                    <a:p>
                      <a:r>
                        <a:rPr sz="1200" b="0">
                          <a:solidFill>
                            <a:srgbClr val="2B2A28"/>
                          </a:solidFill>
                          <a:latin typeface="Segoe UI"/>
                        </a:rPr>
                        <a:t>The creator of Pips (Juwen Lie) now shows a gold ♛ Owner badge on his profile, friend list and ranks; New About Pips card in the Profile tab: credits and how to contact the owner (Juwen_Lie@pegatroncorp.com) with Email and Copy buttons; Right-click the pet → Help → About now shows who made Pips and the contact email</a:t>
                      </a:r>
                    </a:p>
                  </a:txBody>
                  <a:tcPr marL="73152" marR="73152" marT="36576" marB="36576">
                    <a:solidFill>
                      <a:srgbClr val="F7F4EC"/>
                    </a:solidFill>
                  </a:tcPr>
                </a:tc>
              </a:tr>
              <a:tr h="822960">
                <a:tc>
                  <a:txBody>
                    <a:bodyPr wrap="square"/>
                    <a:lstStyle/>
                    <a:p>
                      <a:r>
                        <a:rPr sz="1200" b="1">
                          <a:solidFill>
                            <a:srgbClr val="2B2A28"/>
                          </a:solidFill>
                          <a:latin typeface="Segoe UI"/>
                        </a:rPr>
                        <a:t>2.6.0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Profiles, ranks, online status &amp; dark mode</a:t>
                      </a:r>
                    </a:p>
                    <a:p>
                      <a:r>
                        <a:rPr sz="1200" b="0">
                          <a:solidFill>
                            <a:srgbClr val="2B2A28"/>
                          </a:solidFill>
                          <a:latin typeface="Segoe UI"/>
                        </a:rPr>
                        <a:t>Profile tab: profile picture (or your pet), about me, job, location, hobbies, birthday and a status message; Public or private: public profiles can be added directly and viewed in full; private profiles need a friend request that they accept, and strangers only see name, photo, pet, level and status; Click anyone to open their profile - badges, info, their friends - and add them, chat or wave from there; Ranks tab replaces Teams: everyone using Pips, sorted by XP, badges or streak</a:t>
                      </a:r>
                    </a:p>
                  </a:txBody>
                  <a:tcPr marL="73152" marR="73152" marT="36576" marB="36576">
                    <a:solidFill>
                      <a:srgbClr val="FFFDF8"/>
                    </a:solidFill>
                  </a:tcPr>
                </a:tc>
              </a:tr>
              <a:tr h="822960">
                <a:tc>
                  <a:txBody>
                    <a:bodyPr wrap="square"/>
                    <a:lstStyle/>
                    <a:p>
                      <a:r>
                        <a:rPr sz="1200" b="1">
                          <a:solidFill>
                            <a:srgbClr val="2B2A28"/>
                          </a:solidFill>
                          <a:latin typeface="Segoe UI"/>
                        </a:rPr>
                        <a:t>2.5.1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New cute Pips logo</a:t>
                      </a:r>
                    </a:p>
                    <a:p>
                      <a:r>
                        <a:rPr sz="1200" b="0">
                          <a:solidFill>
                            <a:srgbClr val="2B2A28"/>
                          </a:solidFill>
                          <a:latin typeface="Segoe UI"/>
                        </a:rPr>
                        <a:t>New Pips logo: Pip the cat on a Pips-red tile, matching the app colours (desktop shortcut, windows and website)</a:t>
                      </a:r>
                    </a:p>
                  </a:txBody>
                  <a:tcPr marL="73152" marR="73152" marT="36576" marB="36576">
                    <a:solidFill>
                      <a:srgbClr val="F7F4EC"/>
                    </a:solidFill>
                  </a:tcPr>
                </a:tc>
              </a:tr>
              <a:tr h="822960">
                <a:tc>
                  <a:txBody>
                    <a:bodyPr wrap="square"/>
                    <a:lstStyle/>
                    <a:p>
                      <a:r>
                        <a:rPr sz="1200" b="1">
                          <a:solidFill>
                            <a:srgbClr val="2B2A28"/>
                          </a:solidFill>
                          <a:latin typeface="Segoe UI"/>
                        </a:rPr>
                        <a:t>2.5.0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Shop, coins, props &amp; moves</a:t>
                      </a:r>
                    </a:p>
                    <a:p>
                      <a:r>
                        <a:rPr sz="1200" b="0">
                          <a:solidFill>
                            <a:srgbClr val="2B2A28"/>
                          </a:solidFill>
                          <a:latin typeface="Segoe UI"/>
                        </a:rPr>
                        <a:t>Shop: earn coins and spend them on your pet - 17 props (crown, wizard hat, headphones, shades, scarf, cape, angel wings...) and 6 moves: spin, dance, moonwalk, backflip, kung fu and spider swing!; Coins come from leveling up (+40), badges (+25), opening Pips each day (+10), friendships (+15 per affinity level), waving / chatting / visiting friends (+2) and pomodoros (+5). Everyone starts with a 100-coin gift; Your friends see your props: on avatars in the hub and when your pet visits their desktop - it shows off one of your moves; Pips is now a social pet: clicking the pet opens the Pips hub (friends, chat, groups, shop, badges)</a:t>
                      </a:r>
                    </a:p>
                  </a:txBody>
                  <a:tcPr marL="73152" marR="73152" marT="36576" marB="36576">
                    <a:solidFill>
                      <a:srgbClr val="FFFDF8"/>
                    </a:solidFill>
                  </a:tcPr>
                </a:tc>
              </a:tr>
              <a:tr h="822960">
                <a:tc>
                  <a:txBody>
                    <a:bodyPr wrap="square"/>
                    <a:lstStyle/>
                    <a:p>
                      <a:r>
                        <a:rPr sz="1200" b="1">
                          <a:solidFill>
                            <a:srgbClr val="2B2A28"/>
                          </a:solidFill>
                          <a:latin typeface="Segoe UI"/>
                        </a:rPr>
                        <a:t>2.4.0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Chat, groups, affinity &amp; pet visits</a:t>
                      </a:r>
                    </a:p>
                    <a:p>
                      <a:r>
                        <a:rPr sz="1200" b="0">
                          <a:solidFill>
                            <a:srgbClr val="2B2A28"/>
                          </a:solidFill>
                          <a:latin typeface="Segoe UI"/>
                        </a:rPr>
                        <a:t>Chat: message your friends, and chat inside groups. Your pet pops up new messages as a bubble - click it to reply; Pet interactions: wave, pet their pet, send a snack, high five - or send your pet to visit: it walks onto your friend's desktop for a little while!; Affinity: every chat and interaction grows your friendship - Acquaintance → Buddy → Good friends → Close friends → Best friends → Soulmates; Your own groups: create a private group, invite your friends, they accept or decline. Group board + group chat; the owner can remove members</a:t>
                      </a:r>
                    </a:p>
                  </a:txBody>
                  <a:tcPr marL="73152" marR="73152" marT="36576" marB="36576">
                    <a:solidFill>
                      <a:srgbClr val="F7F4EC"/>
                    </a:solidFill>
                  </a:tcPr>
                </a:tc>
              </a:tr>
              <a:tr h="822960">
                <a:tc>
                  <a:txBody>
                    <a:bodyPr wrap="square"/>
                    <a:lstStyle/>
                    <a:p>
                      <a:r>
                        <a:rPr sz="1200" b="1">
                          <a:solidFill>
                            <a:srgbClr val="2B2A28"/>
                          </a:solidFill>
                          <a:latin typeface="Segoe UI"/>
                        </a:rPr>
                        <a:t>2.3.0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Friends, levels &amp; achievements</a:t>
                      </a:r>
                    </a:p>
                    <a:p>
                      <a:r>
                        <a:rPr sz="1200" b="0">
                          <a:solidFill>
                            <a:srgbClr val="2B2A28"/>
                          </a:solidFill>
                          <a:latin typeface="Segoe UI"/>
                        </a:rPr>
                        <a:t>Levels &amp; XP: every finished pomodoro earns XP and your level grows - plus 20 achievements to unlock (first tomato, 8 in a day, 7-day streak, early bird, night owl, pet lover...). Your pet celebrates each one; Friends (optional, off by default): get a 6-letter friend code, add colleagues, see today's board and join a team board like PTB. Your pet tells you when a friend finishes a pomodoro; Privacy: only your name, pet, level, streak and pomodoro counts are shared - never apps, window titles or scores. One click turns it off and deletes your online data. Right-click the pet → Friends &amp; achievements…</a:t>
                      </a:r>
                    </a:p>
                  </a:txBody>
                  <a:tcPr marL="73152" marR="73152" marT="36576" marB="36576">
                    <a:solidFill>
                      <a:srgbClr val="FFFDF8"/>
                    </a:solidFill>
                  </a:tcPr>
                </a:tc>
              </a:tr>
              <a:tr h="822960">
                <a:tc>
                  <a:txBody>
                    <a:bodyPr wrap="square"/>
                    <a:lstStyle/>
                    <a:p>
                      <a:r>
                        <a:rPr sz="1200" b="1">
                          <a:solidFill>
                            <a:srgbClr val="2B2A28"/>
                          </a:solidFill>
                          <a:latin typeface="Segoe UI"/>
                        </a:rPr>
                        <a:t>2.2.0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Pet sounds</a:t>
                      </a:r>
                    </a:p>
                    <a:p>
                      <a:r>
                        <a:rPr sz="1200" b="0">
                          <a:solidFill>
                            <a:srgbClr val="2B2A28"/>
                          </a:solidFill>
                          <a:latin typeface="Segoe UI"/>
                        </a:rPr>
                        <a:t>Your pet has a voice! Each of the 23 animals has its own sound (meow, woof, ribbit, hoot, buzz, oink, whale song...) and it changes with its mood: happy chirps, sad whimpers, sleepy yawns, hungry calls, grumpy huffs and soft snores; It also reacts with sound when you tickle, pet, feed, shake or wake it; Settings: right-click the pet → Sounds to switch on/off; Pet status &amp; settings has a volume slider, a ▶ Hear me button and "Stay quiet while I'm focusing" (on by default)</a:t>
                      </a:r>
                    </a:p>
                  </a:txBody>
                  <a:tcPr marL="73152" marR="73152" marT="36576" marB="36576">
                    <a:solidFill>
                      <a:srgbClr val="F7F4EC"/>
                    </a:solidFill>
                  </a:tcPr>
                </a:tc>
              </a:tr>
              <a:tr h="822960">
                <a:tc>
                  <a:txBody>
                    <a:bodyPr wrap="square"/>
                    <a:lstStyle/>
                    <a:p>
                      <a:r>
                        <a:rPr sz="1200" b="1">
                          <a:solidFill>
                            <a:srgbClr val="2B2A28"/>
                          </a:solidFill>
                          <a:latin typeface="Segoe UI"/>
                        </a:rPr>
                        <a:t>2.1.2</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Tickle-only mode</a:t>
                      </a:r>
                    </a:p>
                    <a:p>
                      <a:r>
                        <a:rPr sz="1200" b="0">
                          <a:solidFill>
                            <a:srgbClr val="2B2A28"/>
                          </a:solidFill>
                          <a:latin typeface="Segoe UI"/>
                        </a:rPr>
                        <a:t>New click option "Only tickle (never open Pips)": click and tickle your pet as much as you like - the Pomodoro window stays closed (open it from the right-click menu). Right-click the pet → When I click</a:t>
                      </a:r>
                    </a:p>
                  </a:txBody>
                  <a:tcPr marL="73152" marR="73152" marT="36576" marB="36576">
                    <a:solidFill>
                      <a:srgbClr val="FFFDF8"/>
                    </a:solidFill>
                  </a:tcPr>
                </a:tc>
              </a:tr>
              <a:tr h="822960">
                <a:tc>
                  <a:txBody>
                    <a:bodyPr wrap="square"/>
                    <a:lstStyle/>
                    <a:p>
                      <a:r>
                        <a:rPr sz="1200" b="1">
                          <a:solidFill>
                            <a:srgbClr val="2B2A28"/>
                          </a:solidFill>
                          <a:latin typeface="Segoe UI"/>
                        </a:rPr>
                        <a:t>2.1.1</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Owner info</a:t>
                      </a:r>
                    </a:p>
                    <a:p>
                      <a:r>
                        <a:rPr sz="1200" b="0">
                          <a:solidFill>
                            <a:srgbClr val="2B2A28"/>
                          </a:solidFill>
                          <a:latin typeface="Segoe UI"/>
                        </a:rPr>
                        <a:t>About Pips now shows the owner: Juwen Lie (right-click the pet → Help → About)</a:t>
                      </a:r>
                    </a:p>
                  </a:txBody>
                  <a:tcPr marL="73152" marR="73152" marT="36576" marB="36576">
                    <a:solidFill>
                      <a:srgbClr val="F7F4EC"/>
                    </a:solidFill>
                  </a:tcPr>
                </a:tc>
              </a:tr>
              <a:tr h="822960">
                <a:tc>
                  <a:txBody>
                    <a:bodyPr wrap="square"/>
                    <a:lstStyle/>
                    <a:p>
                      <a:r>
                        <a:rPr sz="1200" b="1">
                          <a:solidFill>
                            <a:srgbClr val="2B2A28"/>
                          </a:solidFill>
                          <a:latin typeface="Segoe UI"/>
                        </a:rPr>
                        <a:t>2.1.0</a:t>
                      </a:r>
                    </a:p>
                  </a:txBody>
                  <a:tcPr marL="73152" marR="73152" marT="36576" marB="36576">
                    <a:solidFill>
                      <a:srgbClr val="FFFDF8"/>
                    </a:solidFill>
                  </a:tcPr>
                </a:tc>
                <a:tc>
                  <a:txBody>
                    <a:bodyPr wrap="square"/>
                    <a:lstStyle/>
                    <a:p>
                      <a:r>
                        <a:rPr sz="1200" b="0">
                          <a:solidFill>
                            <a:srgbClr val="2B2A28"/>
                          </a:solidFill>
                          <a:latin typeface="Segoe UI"/>
                        </a:rPr>
                        <a:t>2026-10-28</a:t>
                      </a:r>
                    </a:p>
                  </a:txBody>
                  <a:tcPr marL="73152" marR="73152" marT="36576" marB="36576">
                    <a:solidFill>
                      <a:srgbClr val="FFFDF8"/>
                    </a:solidFill>
                  </a:tcPr>
                </a:tc>
                <a:tc>
                  <a:txBody>
                    <a:bodyPr wrap="square"/>
                    <a:lstStyle/>
                    <a:p>
                      <a:r>
                        <a:rPr sz="1200" b="0">
                          <a:solidFill>
                            <a:srgbClr val="2B2A28"/>
                          </a:solidFill>
                          <a:latin typeface="Segoe UI"/>
                        </a:rPr>
                        <a:t>Interactive guide &amp; in-app updates</a:t>
                      </a:r>
                    </a:p>
                    <a:p>
                      <a:r>
                        <a:rPr sz="1200" b="0">
                          <a:solidFill>
                            <a:srgbClr val="2B2A28"/>
                          </a:solidFill>
                          <a:latin typeface="Segoe UI"/>
                        </a:rPr>
                        <a:t>Interactive first-run guide: your pet walks you through clicking, dragging, petting and the right-click menu; In-app updates: Pips tells you when a new version is out - update with one click (your settings and data are kept); New Help menu: replay the guide, check for updates, see the version; Option to turn automatic update checks off</a:t>
                      </a:r>
                    </a:p>
                  </a:txBody>
                  <a:tcPr marL="73152" marR="73152" marT="36576" marB="36576">
                    <a:solidFill>
                      <a:srgbClr val="FFFDF8"/>
                    </a:solidFill>
                  </a:tcPr>
                </a:tc>
              </a:tr>
              <a:tr h="822960">
                <a:tc>
                  <a:txBody>
                    <a:bodyPr wrap="square"/>
                    <a:lstStyle/>
                    <a:p>
                      <a:r>
                        <a:rPr sz="1200" b="1">
                          <a:solidFill>
                            <a:srgbClr val="2B2A28"/>
                          </a:solidFill>
                          <a:latin typeface="Segoe UI"/>
                        </a:rPr>
                        <a:t>2.0.0</a:t>
                      </a:r>
                    </a:p>
                  </a:txBody>
                  <a:tcPr marL="73152" marR="73152" marT="36576" marB="36576">
                    <a:solidFill>
                      <a:srgbClr val="F7F4EC"/>
                    </a:solidFill>
                  </a:tcPr>
                </a:tc>
                <a:tc>
                  <a:txBody>
                    <a:bodyPr wrap="square"/>
                    <a:lstStyle/>
                    <a:p>
                      <a:r>
                        <a:rPr sz="1200" b="0">
                          <a:solidFill>
                            <a:srgbClr val="2B2A28"/>
                          </a:solidFill>
                          <a:latin typeface="Segoe UI"/>
                        </a:rPr>
                        <a:t>2026-10-28</a:t>
                      </a:r>
                    </a:p>
                  </a:txBody>
                  <a:tcPr marL="73152" marR="73152" marT="36576" marB="36576">
                    <a:solidFill>
                      <a:srgbClr val="F7F4EC"/>
                    </a:solidFill>
                  </a:tcPr>
                </a:tc>
                <a:tc>
                  <a:txBody>
                    <a:bodyPr wrap="square"/>
                    <a:lstStyle/>
                    <a:p>
                      <a:r>
                        <a:rPr sz="1200" b="0">
                          <a:solidFill>
                            <a:srgbClr val="2B2A28"/>
                          </a:solidFill>
                          <a:latin typeface="Segoe UI"/>
                        </a:rPr>
                        <a:t>Desktop pet, 23 animals &amp; 4 languages</a:t>
                      </a:r>
                    </a:p>
                    <a:p>
                      <a:r>
                        <a:rPr sz="1200" b="0">
                          <a:solidFill>
                            <a:srgbClr val="2B2A28"/>
                          </a:solidFill>
                          <a:latin typeface="Segoe UI"/>
                        </a:rPr>
                        <a:t>Desktop pet that lives on your desktop and taskbar - drag it, tickle it, pet it; 23 animals in 3 groups: Land walks, Water swims with bubbles, Sky hovers and flaps; Moods (happy, sad, tired, hungry, grumpy...), naps when you're away, wakes up when you're back; Cute chat-bubble reminders: breaks, water, 20-20-20 eye rest, pomodoro done, daily goal</a:t>
                      </a:r>
                    </a:p>
                  </a:txBody>
                  <a:tcPr marL="73152" marR="73152" marT="36576" marB="36576">
                    <a:solidFill>
                      <a:srgbClr val="F7F4EC"/>
                    </a:solidFill>
                  </a:tcPr>
                </a:tc>
              </a:tr>
              <a:tr h="822960">
                <a:tc>
                  <a:txBody>
                    <a:bodyPr wrap="square"/>
                    <a:lstStyle/>
                    <a:p>
                      <a:r>
                        <a:rPr sz="1200" b="1">
                          <a:solidFill>
                            <a:srgbClr val="2B2A28"/>
                          </a:solidFill>
                          <a:latin typeface="Segoe UI"/>
                        </a:rPr>
                        <a:t>1.5.0</a:t>
                      </a:r>
                    </a:p>
                  </a:txBody>
                  <a:tcPr marL="73152" marR="73152" marT="36576" marB="36576">
                    <a:solidFill>
                      <a:srgbClr val="FFFDF8"/>
                    </a:solidFill>
                  </a:tcPr>
                </a:tc>
                <a:tc>
                  <a:txBody>
                    <a:bodyPr wrap="square"/>
                    <a:lstStyle/>
                    <a:p>
                      <a:r>
                        <a:rPr sz="1200" b="0">
                          <a:solidFill>
                            <a:srgbClr val="2B2A28"/>
                          </a:solidFill>
                          <a:latin typeface="Segoe UI"/>
                        </a:rPr>
                        <a:t>2026-10-24</a:t>
                      </a:r>
                    </a:p>
                  </a:txBody>
                  <a:tcPr marL="73152" marR="73152" marT="36576" marB="36576">
                    <a:solidFill>
                      <a:srgbClr val="FFFDF8"/>
                    </a:solidFill>
                  </a:tcPr>
                </a:tc>
                <a:tc>
                  <a:txBody>
                    <a:bodyPr wrap="square"/>
                    <a:lstStyle/>
                    <a:p>
                      <a:r>
                        <a:rPr sz="1200" b="0">
                          <a:solidFill>
                            <a:srgbClr val="2B2A28"/>
                          </a:solidFill>
                          <a:latin typeface="Segoe UI"/>
                        </a:rPr>
                        <a:t>Renamed to Pips + insights</a:t>
                      </a:r>
                    </a:p>
                    <a:p>
                      <a:r>
                        <a:rPr sz="1200" b="0">
                          <a:solidFill>
                            <a:srgbClr val="2B2A28"/>
                          </a:solidFill>
                          <a:latin typeface="Segoe UI"/>
                        </a:rPr>
                        <a:t>Renamed from Productivity Widget to Pips; Dashboard charts: focus timeline, hour heatmap, 7-day score trend, pomodoros per day; AI token usage on the card and dashboard; Daily diary export and weekly / monthly reports</a:t>
                      </a:r>
                    </a:p>
                  </a:txBody>
                  <a:tcPr marL="73152" marR="73152" marT="36576" marB="36576">
                    <a:solidFill>
                      <a:srgbClr val="FFFDF8"/>
                    </a:solidFill>
                  </a:tcPr>
                </a:tc>
              </a:tr>
              <a:tr h="822960">
                <a:tc>
                  <a:txBody>
                    <a:bodyPr wrap="square"/>
                    <a:lstStyle/>
                    <a:p>
                      <a:r>
                        <a:rPr sz="1200" b="1">
                          <a:solidFill>
                            <a:srgbClr val="2B2A28"/>
                          </a:solidFill>
                          <a:latin typeface="Segoe UI"/>
                        </a:rPr>
                        <a:t>1.0.0</a:t>
                      </a:r>
                    </a:p>
                  </a:txBody>
                  <a:tcPr marL="73152" marR="73152" marT="36576" marB="36576">
                    <a:solidFill>
                      <a:srgbClr val="F7F4EC"/>
                    </a:solidFill>
                  </a:tcPr>
                </a:tc>
                <a:tc>
                  <a:txBody>
                    <a:bodyPr wrap="square"/>
                    <a:lstStyle/>
                    <a:p>
                      <a:r>
                        <a:rPr sz="1200" b="0">
                          <a:solidFill>
                            <a:srgbClr val="2B2A28"/>
                          </a:solidFill>
                          <a:latin typeface="Segoe UI"/>
                        </a:rPr>
                        <a:t>2026-10-21</a:t>
                      </a:r>
                    </a:p>
                  </a:txBody>
                  <a:tcPr marL="73152" marR="73152" marT="36576" marB="36576">
                    <a:solidFill>
                      <a:srgbClr val="F7F4EC"/>
                    </a:solidFill>
                  </a:tcPr>
                </a:tc>
                <a:tc>
                  <a:txBody>
                    <a:bodyPr wrap="square"/>
                    <a:lstStyle/>
                    <a:p>
                      <a:r>
                        <a:rPr sz="1200" b="0">
                          <a:solidFill>
                            <a:srgbClr val="2B2A28"/>
                          </a:solidFill>
                          <a:latin typeface="Segoe UI"/>
                        </a:rPr>
                        <a:t>First release</a:t>
                      </a:r>
                    </a:p>
                    <a:p>
                      <a:r>
                        <a:rPr sz="1200" b="0">
                          <a:solidFill>
                            <a:srgbClr val="2B2A28"/>
                          </a:solidFill>
                          <a:latin typeface="Segoe UI"/>
                        </a:rPr>
                        <a:t>Always-on-top Pomodoro card with progress ring; Rain / thunder / brown-noise / cafe soundscapes; Live app-usage tracking and a daily 1-5 star focus score; Goals, streaks, XP, coach tips and break reminders</a:t>
                      </a:r>
                    </a:p>
                  </a:txBody>
                  <a:tcPr marL="73152" marR="73152" marT="36576" marB="36576">
                    <a:solidFill>
                      <a:srgbClr val="F7F4EC"/>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4EC"/>
        </a:solidFill>
        <a:effectLst/>
      </p:bgPr>
    </p:bg>
    <p:spTree>
      <p:nvGrpSpPr>
        <p:cNvPr id="1" name=""/>
        <p:cNvGrpSpPr/>
        <p:nvPr/>
      </p:nvGrpSpPr>
      <p:grpSpPr/>
      <p:sp>
        <p:nvSpPr>
          <p:cNvPr id="2" name="TextBox 1"/>
          <p:cNvSpPr txBox="1"/>
          <p:nvPr/>
        </p:nvSpPr>
        <p:spPr>
          <a:xfrm>
            <a:off x="548640" y="2011680"/>
            <a:ext cx="11064240" cy="914400"/>
          </a:xfrm>
          <a:prstGeom prst="rect">
            <a:avLst/>
          </a:prstGeom>
          <a:noFill/>
        </p:spPr>
        <p:txBody>
          <a:bodyPr wrap="square" anchor="t" lIns="45720" rIns="45720" tIns="27432" bIns="27432">
            <a:spAutoFit/>
          </a:bodyPr>
          <a:lstStyle/>
          <a:p>
            <a:pPr algn="ctr"/>
            <a:r>
              <a:rPr sz="4000" b="1">
                <a:solidFill>
                  <a:srgbClr val="2B2A28"/>
                </a:solidFill>
                <a:latin typeface="Georgia"/>
              </a:rPr>
              <a:t>Have fun &amp; stay focused ♥</a:t>
            </a:r>
          </a:p>
        </p:txBody>
      </p:sp>
      <p:sp>
        <p:nvSpPr>
          <p:cNvPr id="3" name="TextBox 2"/>
          <p:cNvSpPr txBox="1"/>
          <p:nvPr/>
        </p:nvSpPr>
        <p:spPr>
          <a:xfrm>
            <a:off x="548640" y="3108960"/>
            <a:ext cx="11064240" cy="914400"/>
          </a:xfrm>
          <a:prstGeom prst="rect">
            <a:avLst/>
          </a:prstGeom>
          <a:noFill/>
        </p:spPr>
        <p:txBody>
          <a:bodyPr wrap="square" anchor="t" lIns="45720" rIns="45720" tIns="27432" bIns="27432">
            <a:spAutoFit/>
          </a:bodyPr>
          <a:lstStyle/>
          <a:p>
            <a:pPr algn="ctr"/>
            <a:r>
              <a:rPr sz="1800" b="0">
                <a:solidFill>
                  <a:srgbClr val="6E6A62"/>
                </a:solidFill>
                <a:latin typeface="Segoe UI"/>
              </a:rPr>
              <a:t>Pips is made and owned by Juwen Lie</a:t>
            </a:r>
          </a:p>
          <a:p>
            <a:pPr algn="ctr"/>
            <a:r>
              <a:rPr sz="1800" b="0">
                <a:solidFill>
                  <a:srgbClr val="6E6A62"/>
                </a:solidFill>
                <a:latin typeface="Segoe UI"/>
              </a:rPr>
              <a:t>Download &amp; updates: https://juw12.github.io/projects/pips/</a:t>
            </a:r>
          </a:p>
          <a:p>
            <a:pPr algn="ctr"/>
            <a:r>
              <a:rPr sz="1800" b="0">
                <a:solidFill>
                  <a:srgbClr val="6E6A62"/>
                </a:solidFill>
                <a:latin typeface="Segoe UI"/>
              </a:rPr>
              <a:t>Questions or ideas? Just reply to the Pips email.</a:t>
            </a:r>
          </a:p>
        </p:txBody>
      </p:sp>
      <p:pic>
        <p:nvPicPr>
          <p:cNvPr id="4" name="Picture 3" descr="tour_finish.png"/>
          <p:cNvPicPr>
            <a:picLocks noChangeAspect="1"/>
          </p:cNvPicPr>
          <p:nvPr/>
        </p:nvPicPr>
        <p:blipFill>
          <a:blip r:embed="rId2"/>
          <a:stretch>
            <a:fillRect/>
          </a:stretch>
        </p:blipFill>
        <p:spPr>
          <a:xfrm>
            <a:off x="4450515" y="4206240"/>
            <a:ext cx="3260489" cy="219456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Pips 2.15.0 - User Guide</dc:title>
  <dc:subject>Desktop pet + Pomodoro focus widget</dc:subject>
  <dc:creator>Juwen Lie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