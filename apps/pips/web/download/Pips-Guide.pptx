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2.14.0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645920"/>
          <a:ext cx="11155680" cy="4096512"/>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300" b="1">
                          <a:solidFill>
                            <a:srgbClr val="FFFFFF"/>
                          </a:solidFill>
                          <a:latin typeface="Segoe UI"/>
                        </a:rPr>
                        <a:t>Problem</a:t>
                      </a:r>
                    </a:p>
                  </a:txBody>
                  <a:tcPr marL="73152" marR="73152" marT="36576" marB="36576">
                    <a:solidFill>
                      <a:srgbClr val="8B1A1A"/>
                    </a:solidFill>
                  </a:tcPr>
                </a:tc>
                <a:tc>
                  <a:txBody>
                    <a:bodyPr wrap="square"/>
                    <a:lstStyle/>
                    <a:p>
                      <a:r>
                        <a:rPr sz="1300" b="1">
                          <a:solidFill>
                            <a:srgbClr val="FFFFFF"/>
                          </a:solidFill>
                          <a:latin typeface="Segoe UI"/>
                        </a:rPr>
                        <a:t>Try this</a:t>
                      </a:r>
                    </a:p>
                  </a:txBody>
                  <a:tcPr marL="73152" marR="73152" marT="36576" marB="36576">
                    <a:solidFill>
                      <a:srgbClr val="8B1A1A"/>
                    </a:solidFill>
                  </a:tcPr>
                </a:tc>
              </a:tr>
              <a:tr h="530352">
                <a:tc>
                  <a:txBody>
                    <a:bodyPr wrap="square"/>
                    <a:lstStyle/>
                    <a:p>
                      <a:r>
                        <a:rPr sz="1300" b="1">
                          <a:solidFill>
                            <a:srgbClr val="2B2A28"/>
                          </a:solidFill>
                          <a:latin typeface="Segoe UI"/>
                        </a:rPr>
                        <a:t>Nothing happens when I start</a:t>
                      </a:r>
                    </a:p>
                  </a:txBody>
                  <a:tcPr marL="73152" marR="73152" marT="36576" marB="36576">
                    <a:solidFill>
                      <a:srgbClr val="FFFDF8"/>
                    </a:solidFill>
                  </a:tcPr>
                </a:tc>
                <a:tc>
                  <a:txBody>
                    <a:bodyPr wrap="square"/>
                    <a:lstStyle/>
                    <a:p>
                      <a:r>
                        <a:rPr sz="13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530352">
                <a:tc>
                  <a:txBody>
                    <a:bodyPr wrap="square"/>
                    <a:lstStyle/>
                    <a:p>
                      <a:r>
                        <a:rPr sz="1300" b="1">
                          <a:solidFill>
                            <a:srgbClr val="2B2A28"/>
                          </a:solidFill>
                          <a:latin typeface="Segoe UI"/>
                        </a:rPr>
                        <a:t>“Windows protected your PC”</a:t>
                      </a:r>
                    </a:p>
                  </a:txBody>
                  <a:tcPr marL="73152" marR="73152" marT="36576" marB="36576">
                    <a:solidFill>
                      <a:srgbClr val="F7F4EC"/>
                    </a:solidFill>
                  </a:tcPr>
                </a:tc>
                <a:tc>
                  <a:txBody>
                    <a:bodyPr wrap="square"/>
                    <a:lstStyle/>
                    <a:p>
                      <a:r>
                        <a:rPr sz="13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530352">
                <a:tc>
                  <a:txBody>
                    <a:bodyPr wrap="square"/>
                    <a:lstStyle/>
                    <a:p>
                      <a:r>
                        <a:rPr sz="1300" b="1">
                          <a:solidFill>
                            <a:srgbClr val="2B2A28"/>
                          </a:solidFill>
                          <a:latin typeface="Segoe UI"/>
                        </a:rPr>
                        <a:t>Where is my pet?</a:t>
                      </a:r>
                    </a:p>
                  </a:txBody>
                  <a:tcPr marL="73152" marR="73152" marT="36576" marB="36576">
                    <a:solidFill>
                      <a:srgbClr val="FFFDF8"/>
                    </a:solidFill>
                  </a:tcPr>
                </a:tc>
                <a:tc>
                  <a:txBody>
                    <a:bodyPr wrap="square"/>
                    <a:lstStyle/>
                    <a:p>
                      <a:r>
                        <a:rPr sz="1300" b="0">
                          <a:solidFill>
                            <a:srgbClr val="2B2A28"/>
                          </a:solidFill>
                          <a:latin typeface="Segoe UI"/>
                        </a:rPr>
                        <a:t>Look on the taskbar. Right-click the card → Pet → Show. It hides during full-screen apps.</a:t>
                      </a:r>
                    </a:p>
                  </a:txBody>
                  <a:tcPr marL="73152" marR="73152" marT="36576" marB="36576">
                    <a:solidFill>
                      <a:srgbClr val="FFFDF8"/>
                    </a:solidFill>
                  </a:tcPr>
                </a:tc>
              </a:tr>
              <a:tr h="530352">
                <a:tc>
                  <a:txBody>
                    <a:bodyPr wrap="square"/>
                    <a:lstStyle/>
                    <a:p>
                      <a:r>
                        <a:rPr sz="1300" b="1">
                          <a:solidFill>
                            <a:srgbClr val="2B2A28"/>
                          </a:solidFill>
                          <a:latin typeface="Segoe UI"/>
                        </a:rPr>
                        <a:t>The focus card is gone</a:t>
                      </a:r>
                    </a:p>
                  </a:txBody>
                  <a:tcPr marL="73152" marR="73152" marT="36576" marB="36576">
                    <a:solidFill>
                      <a:srgbClr val="F7F4EC"/>
                    </a:solidFill>
                  </a:tcPr>
                </a:tc>
                <a:tc>
                  <a:txBody>
                    <a:bodyPr wrap="square"/>
                    <a:lstStyle/>
                    <a:p>
                      <a:r>
                        <a:rPr sz="1300" b="0">
                          <a:solidFill>
                            <a:srgbClr val="2B2A28"/>
                          </a:solidFill>
                          <a:latin typeface="Segoe UI"/>
                        </a:rPr>
                        <a:t>Right-click the pet → Focus timer → Open. Or restart Pips.</a:t>
                      </a:r>
                    </a:p>
                  </a:txBody>
                  <a:tcPr marL="73152" marR="73152" marT="36576" marB="36576">
                    <a:solidFill>
                      <a:srgbClr val="F7F4EC"/>
                    </a:solidFill>
                  </a:tcPr>
                </a:tc>
              </a:tr>
              <a:tr h="530352">
                <a:tc>
                  <a:txBody>
                    <a:bodyPr wrap="square"/>
                    <a:lstStyle/>
                    <a:p>
                      <a:r>
                        <a:rPr sz="1300" b="1">
                          <a:solidFill>
                            <a:srgbClr val="2B2A28"/>
                          </a:solidFill>
                          <a:latin typeface="Segoe UI"/>
                        </a:rPr>
                        <a:t>Update failed</a:t>
                      </a:r>
                    </a:p>
                  </a:txBody>
                  <a:tcPr marL="73152" marR="73152" marT="36576" marB="36576">
                    <a:solidFill>
                      <a:srgbClr val="FFFDF8"/>
                    </a:solidFill>
                  </a:tcPr>
                </a:tc>
                <a:tc>
                  <a:txBody>
                    <a:bodyPr wrap="square"/>
                    <a:lstStyle/>
                    <a:p>
                      <a:r>
                        <a:rPr sz="13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FFDF8"/>
                    </a:solidFill>
                  </a:tcPr>
                </a:tc>
              </a:tr>
              <a:tr h="530352">
                <a:tc>
                  <a:txBody>
                    <a:bodyPr wrap="square"/>
                    <a:lstStyle/>
                    <a:p>
                      <a:r>
                        <a:rPr sz="1300" b="1">
                          <a:solidFill>
                            <a:srgbClr val="2B2A28"/>
                          </a:solidFill>
                          <a:latin typeface="Segoe UI"/>
                        </a:rPr>
                        <a:t>Where are my settings?</a:t>
                      </a:r>
                    </a:p>
                  </a:txBody>
                  <a:tcPr marL="73152" marR="73152" marT="36576" marB="36576">
                    <a:solidFill>
                      <a:srgbClr val="F7F4EC"/>
                    </a:solidFill>
                  </a:tcPr>
                </a:tc>
                <a:tc>
                  <a:txBody>
                    <a:bodyPr wrap="square"/>
                    <a:lstStyle/>
                    <a:p>
                      <a:r>
                        <a:rPr sz="13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7F4EC"/>
                    </a:solidFill>
                  </a:tcPr>
                </a:tc>
              </a:tr>
              <a:tr h="530352">
                <a:tc>
                  <a:txBody>
                    <a:bodyPr wrap="square"/>
                    <a:lstStyle/>
                    <a:p>
                      <a:r>
                        <a:rPr sz="1300" b="1">
                          <a:solidFill>
                            <a:srgbClr val="2B2A28"/>
                          </a:solidFill>
                          <a:latin typeface="Segoe UI"/>
                        </a:rPr>
                        <a:t>Uninstall</a:t>
                      </a:r>
                    </a:p>
                  </a:txBody>
                  <a:tcPr marL="73152" marR="73152" marT="36576" marB="36576">
                    <a:solidFill>
                      <a:srgbClr val="FFFDF8"/>
                    </a:solidFill>
                  </a:tcPr>
                </a:tc>
                <a:tc>
                  <a:txBody>
                    <a:bodyPr wrap="square"/>
                    <a:lstStyle/>
                    <a:p>
                      <a:r>
                        <a:rPr sz="13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2.14.0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Pokes, tickles &amp; teases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Poke, tickle, tease, boop or hug a friend from afar - no pet visit needed.</a:t>
            </a:r>
          </a:p>
          <a:p>
            <a:pPr>
              <a:spcAft>
                <a:spcPts val="1000"/>
              </a:spcAft>
            </a:pPr>
            <a:r>
              <a:rPr sz="1700" b="1">
                <a:solidFill>
                  <a:srgbClr val="4CB86B"/>
                </a:solidFill>
                <a:latin typeface="Segoe UI"/>
              </a:rPr>
              <a:t>•  </a:t>
            </a:r>
            <a:r>
              <a:rPr sz="1700">
                <a:solidFill>
                  <a:srgbClr val="2B2A28"/>
                </a:solidFill>
                <a:latin typeface="Segoe UI"/>
              </a:rPr>
              <a:t>Right-click your pet → Poke a friend, or use the Poke button in Friends, chat and profiles.</a:t>
            </a:r>
          </a:p>
          <a:p>
            <a:pPr>
              <a:spcAft>
                <a:spcPts val="1000"/>
              </a:spcAft>
            </a:pPr>
            <a:r>
              <a:rPr sz="1700" b="1">
                <a:solidFill>
                  <a:srgbClr val="4CB86B"/>
                </a:solidFill>
                <a:latin typeface="Segoe UI"/>
              </a:rPr>
              <a:t>•  </a:t>
            </a:r>
            <a:r>
              <a:rPr sz="1700">
                <a:solidFill>
                  <a:srgbClr val="2B2A28"/>
                </a:solidFill>
                <a:latin typeface="Segoe UI"/>
              </a:rPr>
              <a:t>Your friend gets a pop-up ("Wendy is teasing you!"), their pet reacts, and they can poke back with one click.</a:t>
            </a:r>
          </a:p>
          <a:p>
            <a:pPr>
              <a:spcAft>
                <a:spcPts val="1000"/>
              </a:spcAft>
            </a:pPr>
            <a:r>
              <a:rPr sz="1700" b="1">
                <a:solidFill>
                  <a:srgbClr val="4CB86B"/>
                </a:solidFill>
                <a:latin typeface="Segoe UI"/>
              </a:rPr>
              <a:t>•  </a:t>
            </a:r>
            <a:r>
              <a:rPr sz="1700">
                <a:solidFill>
                  <a:srgbClr val="2B2A28"/>
                </a:solidFill>
                <a:latin typeface="Segoe UI"/>
              </a:rPr>
              <a:t>During a focus session pokes wait quietly until your break; when your pet is hidden they show in the screen corner.</a:t>
            </a:r>
          </a:p>
          <a:p>
            <a:pPr>
              <a:spcAft>
                <a:spcPts val="1000"/>
              </a:spcAft>
            </a:pPr>
            <a:r>
              <a:rPr sz="1700" b="1">
                <a:solidFill>
                  <a:srgbClr val="4CB86B"/>
                </a:solidFill>
                <a:latin typeface="Segoe UI"/>
              </a:rPr>
              <a:t>•  </a:t>
            </a:r>
            <a:r>
              <a:rPr sz="1700">
                <a:solidFill>
                  <a:srgbClr val="2B2A28"/>
                </a:solidFill>
                <a:latin typeface="Segoe UI"/>
              </a:rPr>
              <a:t>Don't want it? Profile → untick "Let friends poke, tickle &amp; tease me".</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Colek, gelitik, goda, toel hidung atau peluk teman dari jauh - tanpa perlu pet berkunjung.</a:t>
            </a:r>
          </a:p>
          <a:p>
            <a:pPr>
              <a:spcAft>
                <a:spcPts val="500"/>
              </a:spcAft>
            </a:pPr>
            <a:r>
              <a:rPr sz="1200" b="1">
                <a:solidFill>
                  <a:srgbClr val="4CB86B"/>
                </a:solidFill>
                <a:latin typeface="Segoe UI"/>
              </a:rPr>
              <a:t>•  </a:t>
            </a:r>
            <a:r>
              <a:rPr sz="1200">
                <a:solidFill>
                  <a:srgbClr val="2B2A28"/>
                </a:solidFill>
                <a:latin typeface="Segoe UI"/>
              </a:rPr>
              <a:t>Klik kanan pet → Colek teman, atau pakai tombol Colek di Teman, chat dan profil.</a:t>
            </a:r>
          </a:p>
          <a:p>
            <a:pPr>
              <a:spcAft>
                <a:spcPts val="500"/>
              </a:spcAft>
            </a:pPr>
            <a:r>
              <a:rPr sz="1200" b="1">
                <a:solidFill>
                  <a:srgbClr val="4CB86B"/>
                </a:solidFill>
                <a:latin typeface="Segoe UI"/>
              </a:rPr>
              <a:t>•  </a:t>
            </a:r>
            <a:r>
              <a:rPr sz="1200">
                <a:solidFill>
                  <a:srgbClr val="2B2A28"/>
                </a:solidFill>
                <a:latin typeface="Segoe UI"/>
              </a:rPr>
              <a:t>Temanmu mendapat notifikasi ("Wendy lagi godain kamu!"), pet-nya bereaksi, dan bisa colek balik dengan satu klik.</a:t>
            </a:r>
          </a:p>
          <a:p>
            <a:pPr>
              <a:spcAft>
                <a:spcPts val="500"/>
              </a:spcAft>
            </a:pPr>
            <a:r>
              <a:rPr sz="1200" b="1">
                <a:solidFill>
                  <a:srgbClr val="4CB86B"/>
                </a:solidFill>
                <a:latin typeface="Segoe UI"/>
              </a:rPr>
              <a:t>•  </a:t>
            </a:r>
            <a:r>
              <a:rPr sz="1200">
                <a:solidFill>
                  <a:srgbClr val="2B2A28"/>
                </a:solidFill>
                <a:latin typeface="Segoe UI"/>
              </a:rPr>
              <a:t>Saat sesi fokus, colekan menunggu sampai istirahat; jika pet disembunyikan, muncul di pojok layar.</a:t>
            </a:r>
          </a:p>
          <a:p>
            <a:pPr>
              <a:spcAft>
                <a:spcPts val="500"/>
              </a:spcAft>
            </a:pPr>
            <a:r>
              <a:rPr sz="1200" b="1">
                <a:solidFill>
                  <a:srgbClr val="4CB86B"/>
                </a:solidFill>
                <a:latin typeface="Segoe UI"/>
              </a:rPr>
              <a:t>•  </a:t>
            </a:r>
            <a:r>
              <a:rPr sz="1200">
                <a:solidFill>
                  <a:srgbClr val="2B2A28"/>
                </a:solidFill>
                <a:latin typeface="Segoe UI"/>
              </a:rPr>
              <a:t>Tidak mau? Profil → hapus centang "Izinkan teman mencolek, menggelitik &amp; menggoda saya".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1848916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2.14.0 -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