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2.27.0  ·  2026-11-01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desktop - land animals walk on the taskbar and on top of windows, water animals swim and splash, flyers fly around. It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land animals drop onto a window or the taskbar, water animals dive back in, flyers stay where you let go</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5614416"/>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Land animals fall onto the window edge below (or the taskbar), water animals splash back into the water, flyers hover where you let go</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51 animal voices that change with its mood. Sing &amp; dance tricks play a song you pick: right-click → Do a trick → Song</a:t>
                      </a:r>
                    </a:p>
                  </a:txBody>
                  <a:tcPr marL="73152" marR="73152" marT="36576" marB="36576">
                    <a:solidFill>
                      <a:srgbClr val="F7F4EC"/>
                    </a:solidFill>
                  </a:tcPr>
                </a:tc>
              </a:tr>
              <a:tr h="475488">
                <a:tc>
                  <a:txBody>
                    <a:bodyPr wrap="square"/>
                    <a:lstStyle/>
                    <a:p>
                      <a:r>
                        <a:rPr sz="1400" b="1">
                          <a:solidFill>
                            <a:srgbClr val="2B2A28"/>
                          </a:solidFill>
                          <a:latin typeface="Segoe UI"/>
                        </a:rPr>
                        <a:t>Battle ⚔</a:t>
                      </a:r>
                    </a:p>
                  </a:txBody>
                  <a:tcPr marL="73152" marR="73152" marT="36576" marB="36576">
                    <a:solidFill>
                      <a:srgbClr val="FFFDF8"/>
                    </a:solidFill>
                  </a:tcPr>
                </a:tc>
                <a:tc>
                  <a:txBody>
                    <a:bodyPr wrap="square"/>
                    <a:lstStyle/>
                    <a:p>
                      <a:r>
                        <a:rPr sz="1400" b="0">
                          <a:solidFill>
                            <a:srgbClr val="2B2A28"/>
                          </a:solidFill>
                          <a:latin typeface="Segoe UI"/>
                        </a:rPr>
                        <a:t>Arena duels: compare stats (level + gear), pick 3 skills, choose best of 1/3/5 rounds and take turns until one pet is knocked out - press the skills yourself or switch on 🤖 Auto</a:t>
                      </a:r>
                    </a:p>
                  </a:txBody>
                  <a:tcPr marL="73152" marR="73152" marT="36576" marB="36576">
                    <a:solidFill>
                      <a:srgbClr val="FFFDF8"/>
                    </a:solidFill>
                  </a:tcPr>
                </a:tc>
              </a:tr>
              <a:tr h="475488">
                <a:tc>
                  <a:txBody>
                    <a:bodyPr wrap="square"/>
                    <a:lstStyle/>
                    <a:p>
                      <a:r>
                        <a:rPr sz="1400" b="1">
                          <a:solidFill>
                            <a:srgbClr val="2B2A28"/>
                          </a:solidFill>
                          <a:latin typeface="Segoe UI"/>
                        </a:rPr>
                        <a:t>Games 🎲</a:t>
                      </a:r>
                    </a:p>
                  </a:txBody>
                  <a:tcPr marL="73152" marR="73152" marT="36576" marB="36576">
                    <a:solidFill>
                      <a:srgbClr val="F7F4EC"/>
                    </a:solidFill>
                  </a:tcPr>
                </a:tc>
                <a:tc>
                  <a:txBody>
                    <a:bodyPr wrap="square"/>
                    <a:lstStyle/>
                    <a:p>
                      <a:r>
                        <a:rPr sz="1400" b="0">
                          <a:solidFill>
                            <a:srgbClr val="2B2A28"/>
                          </a:solidFill>
                          <a:latin typeface="Segoe UI"/>
                        </a:rPr>
                        <a:t>5 minigames - Treat Catch, Bonk the Bugs, Memory Match, Pet Says, Hop Hop - alone or with up to 7 friends (same round, live scores), plus Pet Duel (Hub → Play → Minigames or right-click → Games)</a:t>
                      </a:r>
                    </a:p>
                  </a:txBody>
                  <a:tcPr marL="73152" marR="73152" marT="36576" marB="36576">
                    <a:solidFill>
                      <a:srgbClr val="F7F4EC"/>
                    </a:solidFill>
                  </a:tcPr>
                </a:tc>
              </a:tr>
              <a:tr h="475488">
                <a:tc>
                  <a:txBody>
                    <a:bodyPr wrap="square"/>
                    <a:lstStyle/>
                    <a:p>
                      <a:r>
                        <a:rPr sz="1400" b="1">
                          <a:solidFill>
                            <a:srgbClr val="2B2A28"/>
                          </a:solidFill>
                          <a:latin typeface="Segoe UI"/>
                        </a:rPr>
                        <a:t>Weather ☔</a:t>
                      </a:r>
                    </a:p>
                  </a:txBody>
                  <a:tcPr marL="73152" marR="73152" marT="36576" marB="36576">
                    <a:solidFill>
                      <a:srgbClr val="FFFDF8"/>
                    </a:solidFill>
                  </a:tcPr>
                </a:tc>
                <a:tc>
                  <a:txBody>
                    <a:bodyPr wrap="square"/>
                    <a:lstStyle/>
                    <a:p>
                      <a:r>
                        <a:rPr sz="1400" b="0">
                          <a:solidFill>
                            <a:srgbClr val="2B2A28"/>
                          </a:solidFill>
                          <a:latin typeface="Segoe UI"/>
                        </a:rPr>
                        <a:t>Live weather around your pet (rain cloud + umbrella, snow, sun, stars, storms). Right-click → Weather &amp; location to follow your exact spot or pick a place</a:t>
                      </a:r>
                    </a:p>
                  </a:txBody>
                  <a:tcPr marL="73152" marR="73152" marT="36576" marB="36576">
                    <a:solidFill>
                      <a:srgbClr val="FFFDF8"/>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snack, high five, visit - point at a visiting pet's name tag to play</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Move around by myself (walk on windows / swim &amp; splash / fly)</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554480"/>
          <a:ext cx="11155680" cy="4498848"/>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200" b="1">
                          <a:solidFill>
                            <a:srgbClr val="FFFFFF"/>
                          </a:solidFill>
                          <a:latin typeface="Segoe UI"/>
                        </a:rPr>
                        <a:t>Problem</a:t>
                      </a:r>
                    </a:p>
                  </a:txBody>
                  <a:tcPr marL="73152" marR="73152" marT="36576" marB="36576">
                    <a:solidFill>
                      <a:srgbClr val="8B1A1A"/>
                    </a:solidFill>
                  </a:tcPr>
                </a:tc>
                <a:tc>
                  <a:txBody>
                    <a:bodyPr wrap="square"/>
                    <a:lstStyle/>
                    <a:p>
                      <a:r>
                        <a:rPr sz="1200" b="1">
                          <a:solidFill>
                            <a:srgbClr val="FFFFFF"/>
                          </a:solidFill>
                          <a:latin typeface="Segoe UI"/>
                        </a:rPr>
                        <a:t>Try this</a:t>
                      </a:r>
                    </a:p>
                  </a:txBody>
                  <a:tcPr marL="73152" marR="73152" marT="36576" marB="36576">
                    <a:solidFill>
                      <a:srgbClr val="8B1A1A"/>
                    </a:solidFill>
                  </a:tcPr>
                </a:tc>
              </a:tr>
              <a:tr h="411480">
                <a:tc>
                  <a:txBody>
                    <a:bodyPr wrap="square"/>
                    <a:lstStyle/>
                    <a:p>
                      <a:r>
                        <a:rPr sz="1200" b="1">
                          <a:solidFill>
                            <a:srgbClr val="2B2A28"/>
                          </a:solidFill>
                          <a:latin typeface="Segoe UI"/>
                        </a:rPr>
                        <a:t>Nothing happens when I start</a:t>
                      </a:r>
                    </a:p>
                  </a:txBody>
                  <a:tcPr marL="73152" marR="73152" marT="36576" marB="36576">
                    <a:solidFill>
                      <a:srgbClr val="FFFDF8"/>
                    </a:solidFill>
                  </a:tcPr>
                </a:tc>
                <a:tc>
                  <a:txBody>
                    <a:bodyPr wrap="square"/>
                    <a:lstStyle/>
                    <a:p>
                      <a:r>
                        <a:rPr sz="12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411480">
                <a:tc>
                  <a:txBody>
                    <a:bodyPr wrap="square"/>
                    <a:lstStyle/>
                    <a:p>
                      <a:r>
                        <a:rPr sz="1200" b="1">
                          <a:solidFill>
                            <a:srgbClr val="2B2A28"/>
                          </a:solidFill>
                          <a:latin typeface="Segoe UI"/>
                        </a:rPr>
                        <a:t>“Windows protected your PC”</a:t>
                      </a:r>
                    </a:p>
                  </a:txBody>
                  <a:tcPr marL="73152" marR="73152" marT="36576" marB="36576">
                    <a:solidFill>
                      <a:srgbClr val="F7F4EC"/>
                    </a:solidFill>
                  </a:tcPr>
                </a:tc>
                <a:tc>
                  <a:txBody>
                    <a:bodyPr wrap="square"/>
                    <a:lstStyle/>
                    <a:p>
                      <a:r>
                        <a:rPr sz="12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411480">
                <a:tc>
                  <a:txBody>
                    <a:bodyPr wrap="square"/>
                    <a:lstStyle/>
                    <a:p>
                      <a:r>
                        <a:rPr sz="1200" b="1">
                          <a:solidFill>
                            <a:srgbClr val="2B2A28"/>
                          </a:solidFill>
                          <a:latin typeface="Segoe UI"/>
                        </a:rPr>
                        <a:t>Where is my pet?</a:t>
                      </a:r>
                    </a:p>
                  </a:txBody>
                  <a:tcPr marL="73152" marR="73152" marT="36576" marB="36576">
                    <a:solidFill>
                      <a:srgbClr val="FFFDF8"/>
                    </a:solidFill>
                  </a:tcPr>
                </a:tc>
                <a:tc>
                  <a:txBody>
                    <a:bodyPr wrap="square"/>
                    <a:lstStyle/>
                    <a:p>
                      <a:r>
                        <a:rPr sz="1200" b="0">
                          <a:solidFill>
                            <a:srgbClr val="2B2A28"/>
                          </a:solidFill>
                          <a:latin typeface="Segoe UI"/>
                        </a:rPr>
                        <a:t>Click the Pips icon next to the clock (it may be under ^) or press Ctrl+Alt+P. Opening Pips again also brings it back. It hides during full-screen apps.</a:t>
                      </a:r>
                    </a:p>
                  </a:txBody>
                  <a:tcPr marL="73152" marR="73152" marT="36576" marB="36576">
                    <a:solidFill>
                      <a:srgbClr val="FFFDF8"/>
                    </a:solidFill>
                  </a:tcPr>
                </a:tc>
              </a:tr>
              <a:tr h="411480">
                <a:tc>
                  <a:txBody>
                    <a:bodyPr wrap="square"/>
                    <a:lstStyle/>
                    <a:p>
                      <a:r>
                        <a:rPr sz="1200" b="1">
                          <a:solidFill>
                            <a:srgbClr val="2B2A28"/>
                          </a:solidFill>
                          <a:latin typeface="Segoe UI"/>
                        </a:rPr>
                        <a:t>My pet is small / a baby</a:t>
                      </a:r>
                    </a:p>
                  </a:txBody>
                  <a:tcPr marL="73152" marR="73152" marT="36576" marB="36576">
                    <a:solidFill>
                      <a:srgbClr val="F7F4EC"/>
                    </a:solidFill>
                  </a:tcPr>
                </a:tc>
                <a:tc>
                  <a:txBody>
                    <a:bodyPr wrap="square"/>
                    <a:lstStyle/>
                    <a:p>
                      <a:r>
                        <a:rPr sz="1200" b="0">
                          <a:solidFill>
                            <a:srgbClr val="2B2A28"/>
                          </a:solidFill>
                          <a:latin typeface="Segoe UI"/>
                        </a:rPr>
                        <a:t>Pets grow up: baby → child → teen → grown-up, with focus sessions, daily visits, games and cuddles. Pet settings show the progress; 🍼 Raise again starts over.</a:t>
                      </a:r>
                    </a:p>
                  </a:txBody>
                  <a:tcPr marL="73152" marR="73152" marT="36576" marB="36576">
                    <a:solidFill>
                      <a:srgbClr val="F7F4EC"/>
                    </a:solidFill>
                  </a:tcPr>
                </a:tc>
              </a:tr>
              <a:tr h="411480">
                <a:tc>
                  <a:txBody>
                    <a:bodyPr wrap="square"/>
                    <a:lstStyle/>
                    <a:p>
                      <a:r>
                        <a:rPr sz="1200" b="1">
                          <a:solidFill>
                            <a:srgbClr val="2B2A28"/>
                          </a:solidFill>
                          <a:latin typeface="Segoe UI"/>
                        </a:rPr>
                        <a:t>My pet is sick 🤧</a:t>
                      </a:r>
                    </a:p>
                  </a:txBody>
                  <a:tcPr marL="73152" marR="73152" marT="36576" marB="36576">
                    <a:solidFill>
                      <a:srgbClr val="FFFDF8"/>
                    </a:solidFill>
                  </a:tcPr>
                </a:tc>
                <a:tc>
                  <a:txBody>
                    <a:bodyPr wrap="square"/>
                    <a:lstStyle/>
                    <a:p>
                      <a:r>
                        <a:rPr sz="1200" b="0">
                          <a:solidFill>
                            <a:srgbClr val="2B2A28"/>
                          </a:solidFill>
                          <a:latin typeface="Segoe UI"/>
                        </a:rPr>
                        <a:t>You worked 2.5 h without a 5-minute break. Take a short break (or right-click → Medicine) and it feels better. Turn off: Pet settings → Behaviour.</a:t>
                      </a:r>
                    </a:p>
                  </a:txBody>
                  <a:tcPr marL="73152" marR="73152" marT="36576" marB="36576">
                    <a:solidFill>
                      <a:srgbClr val="FFFDF8"/>
                    </a:solidFill>
                  </a:tcPr>
                </a:tc>
              </a:tr>
              <a:tr h="411480">
                <a:tc>
                  <a:txBody>
                    <a:bodyPr wrap="square"/>
                    <a:lstStyle/>
                    <a:p>
                      <a:r>
                        <a:rPr sz="1200" b="1">
                          <a:solidFill>
                            <a:srgbClr val="2B2A28"/>
                          </a:solidFill>
                          <a:latin typeface="Segoe UI"/>
                        </a:rPr>
                        <a:t>My pet is up on a window / flying</a:t>
                      </a:r>
                    </a:p>
                  </a:txBody>
                  <a:tcPr marL="73152" marR="73152" marT="36576" marB="36576">
                    <a:solidFill>
                      <a:srgbClr val="F7F4EC"/>
                    </a:solidFill>
                  </a:tcPr>
                </a:tc>
                <a:tc>
                  <a:txBody>
                    <a:bodyPr wrap="square"/>
                    <a:lstStyle/>
                    <a:p>
                      <a:r>
                        <a:rPr sz="1200" b="0">
                          <a:solidFill>
                            <a:srgbClr val="2B2A28"/>
                          </a:solidFill>
                          <a:latin typeface="Segoe UI"/>
                        </a:rPr>
                        <a:t>Land animals walk on window tops, flyers fly anywhere. Right-click → Go to the taskbar / Rest on the taskbar, or turn off "Move around by myself" in Pet settings.</a:t>
                      </a:r>
                    </a:p>
                  </a:txBody>
                  <a:tcPr marL="73152" marR="73152" marT="36576" marB="36576">
                    <a:solidFill>
                      <a:srgbClr val="F7F4EC"/>
                    </a:solidFill>
                  </a:tcPr>
                </a:tc>
              </a:tr>
              <a:tr h="411480">
                <a:tc>
                  <a:txBody>
                    <a:bodyPr wrap="square"/>
                    <a:lstStyle/>
                    <a:p>
                      <a:r>
                        <a:rPr sz="1200" b="1">
                          <a:solidFill>
                            <a:srgbClr val="2B2A28"/>
                          </a:solidFill>
                          <a:latin typeface="Segoe UI"/>
                        </a:rPr>
                        <a:t>The focus card is gone</a:t>
                      </a:r>
                    </a:p>
                  </a:txBody>
                  <a:tcPr marL="73152" marR="73152" marT="36576" marB="36576">
                    <a:solidFill>
                      <a:srgbClr val="FFFDF8"/>
                    </a:solidFill>
                  </a:tcPr>
                </a:tc>
                <a:tc>
                  <a:txBody>
                    <a:bodyPr wrap="square"/>
                    <a:lstStyle/>
                    <a:p>
                      <a:r>
                        <a:rPr sz="1200" b="0">
                          <a:solidFill>
                            <a:srgbClr val="2B2A28"/>
                          </a:solidFill>
                          <a:latin typeface="Segoe UI"/>
                        </a:rPr>
                        <a:t>Right-click the pet → Focus timer → Open. Or restart Pips.</a:t>
                      </a:r>
                    </a:p>
                  </a:txBody>
                  <a:tcPr marL="73152" marR="73152" marT="36576" marB="36576">
                    <a:solidFill>
                      <a:srgbClr val="FFFDF8"/>
                    </a:solidFill>
                  </a:tcPr>
                </a:tc>
              </a:tr>
              <a:tr h="411480">
                <a:tc>
                  <a:txBody>
                    <a:bodyPr wrap="square"/>
                    <a:lstStyle/>
                    <a:p>
                      <a:r>
                        <a:rPr sz="1200" b="1">
                          <a:solidFill>
                            <a:srgbClr val="2B2A28"/>
                          </a:solidFill>
                          <a:latin typeface="Segoe UI"/>
                        </a:rPr>
                        <a:t>Update failed</a:t>
                      </a:r>
                    </a:p>
                  </a:txBody>
                  <a:tcPr marL="73152" marR="73152" marT="36576" marB="36576">
                    <a:solidFill>
                      <a:srgbClr val="F7F4EC"/>
                    </a:solidFill>
                  </a:tcPr>
                </a:tc>
                <a:tc>
                  <a:txBody>
                    <a:bodyPr wrap="square"/>
                    <a:lstStyle/>
                    <a:p>
                      <a:r>
                        <a:rPr sz="12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7F4EC"/>
                    </a:solidFill>
                  </a:tcPr>
                </a:tc>
              </a:tr>
              <a:tr h="411480">
                <a:tc>
                  <a:txBody>
                    <a:bodyPr wrap="square"/>
                    <a:lstStyle/>
                    <a:p>
                      <a:r>
                        <a:rPr sz="1200" b="1">
                          <a:solidFill>
                            <a:srgbClr val="2B2A28"/>
                          </a:solidFill>
                          <a:latin typeface="Segoe UI"/>
                        </a:rPr>
                        <a:t>Where are my settings?</a:t>
                      </a:r>
                    </a:p>
                  </a:txBody>
                  <a:tcPr marL="73152" marR="73152" marT="36576" marB="36576">
                    <a:solidFill>
                      <a:srgbClr val="FFFDF8"/>
                    </a:solidFill>
                  </a:tcPr>
                </a:tc>
                <a:tc>
                  <a:txBody>
                    <a:bodyPr wrap="square"/>
                    <a:lstStyle/>
                    <a:p>
                      <a:r>
                        <a:rPr sz="12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FFDF8"/>
                    </a:solidFill>
                  </a:tcPr>
                </a:tc>
              </a:tr>
              <a:tr h="411480">
                <a:tc>
                  <a:txBody>
                    <a:bodyPr wrap="square"/>
                    <a:lstStyle/>
                    <a:p>
                      <a:r>
                        <a:rPr sz="1200" b="1">
                          <a:solidFill>
                            <a:srgbClr val="2B2A28"/>
                          </a:solidFill>
                          <a:latin typeface="Segoe UI"/>
                        </a:rPr>
                        <a:t>Uninstall</a:t>
                      </a:r>
                    </a:p>
                  </a:txBody>
                  <a:tcPr marL="73152" marR="73152" marT="36576" marB="36576">
                    <a:solidFill>
                      <a:srgbClr val="F7F4EC"/>
                    </a:solidFill>
                  </a:tcPr>
                </a:tc>
                <a:tc>
                  <a:txBody>
                    <a:bodyPr wrap="square"/>
                    <a:lstStyle/>
                    <a:p>
                      <a:r>
                        <a:rPr sz="12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7F4EC"/>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2.27.0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Focus Trail you can read  ·  2026-11-01</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Every bend in your Focus Trail now means something: the trail turns clockwise through the day (direction = time of day), runs straight while you stay in one app and kinks when you switch apps. Grey loops are still distracting time.</a:t>
            </a:r>
          </a:p>
          <a:p>
            <a:pPr>
              <a:spcAft>
                <a:spcPts val="1000"/>
              </a:spcAft>
            </a:pPr>
            <a:r>
              <a:rPr sz="1700" b="1">
                <a:solidFill>
                  <a:srgbClr val="4CB86B"/>
                </a:solidFill>
                <a:latin typeface="Segoe UI"/>
              </a:rPr>
              <a:t>•  </a:t>
            </a:r>
            <a:r>
              <a:rPr sz="1700">
                <a:solidFill>
                  <a:srgbClr val="2B2A28"/>
                </a:solidFill>
                <a:latin typeface="Segoe UI"/>
              </a:rPr>
              <a:t>Time markers on the trail (08:00, 10:00, 12:00 ... or Mon-Fri in the week view) and a one-line key on every sticker, so friends understand it too.</a:t>
            </a:r>
          </a:p>
          <a:p>
            <a:pPr>
              <a:spcAft>
                <a:spcPts val="1000"/>
              </a:spcAft>
            </a:pPr>
            <a:r>
              <a:rPr sz="1700" b="1">
                <a:solidFill>
                  <a:srgbClr val="4CB86B"/>
                </a:solidFill>
                <a:latin typeface="Segoe UI"/>
              </a:rPr>
              <a:t>•  </a:t>
            </a:r>
            <a:r>
              <a:rPr sz="1700">
                <a:solidFill>
                  <a:srgbClr val="2B2A28"/>
                </a:solidFill>
                <a:latin typeface="Segoe UI"/>
              </a:rPr>
              <a:t>New 'How to read your trail' strip in the Focus Trail window, and a tip when most of your time counts as neutral: mark your top apps as Productive or Distracting with one click.</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Setiap belokan di Jejak Fokus kini punya arti: jejak berputar searah jarum jam sepanjang hari (arah = jam), lurus saat kamu bertahan di satu aplikasi dan berbelok saat berganti aplikasi. Lingkaran abu-abu tetap waktu distraksi.</a:t>
            </a:r>
          </a:p>
          <a:p>
            <a:pPr>
              <a:spcAft>
                <a:spcPts val="500"/>
              </a:spcAft>
            </a:pPr>
            <a:r>
              <a:rPr sz="1200" b="1">
                <a:solidFill>
                  <a:srgbClr val="4CB86B"/>
                </a:solidFill>
                <a:latin typeface="Segoe UI"/>
              </a:rPr>
              <a:t>•  </a:t>
            </a:r>
            <a:r>
              <a:rPr sz="1200">
                <a:solidFill>
                  <a:srgbClr val="2B2A28"/>
                </a:solidFill>
                <a:latin typeface="Segoe UI"/>
              </a:rPr>
              <a:t>Penanda waktu di jejak (08:00, 10:00, 12:00 ... atau Sen-Jum di tampilan mingguan) dan satu baris keterangan di setiap stiker, supaya teman juga paham.</a:t>
            </a:r>
          </a:p>
          <a:p>
            <a:pPr>
              <a:spcAft>
                <a:spcPts val="500"/>
              </a:spcAft>
            </a:pPr>
            <a:r>
              <a:rPr sz="1200" b="1">
                <a:solidFill>
                  <a:srgbClr val="4CB86B"/>
                </a:solidFill>
                <a:latin typeface="Segoe UI"/>
              </a:rPr>
              <a:t>•  </a:t>
            </a:r>
            <a:r>
              <a:rPr sz="1200">
                <a:solidFill>
                  <a:srgbClr val="2B2A28"/>
                </a:solidFill>
                <a:latin typeface="Segoe UI"/>
              </a:rPr>
              <a:t>Baru: panel 'Cara membaca jejakmu' di jendela Jejak Fokus, dan tips saat sebagian besar waktumu dihitung netral: tandai aplikasi teratas sebagai Produktif atau Distraksi dengan sekali klik.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3577132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2.27.0</a:t>
                      </a:r>
                    </a:p>
                  </a:txBody>
                  <a:tcPr marL="73152" marR="73152" marT="36576" marB="36576">
                    <a:solidFill>
                      <a:srgbClr val="FFFDF8"/>
                    </a:solidFill>
                  </a:tcPr>
                </a:tc>
                <a:tc>
                  <a:txBody>
                    <a:bodyPr wrap="square"/>
                    <a:lstStyle/>
                    <a:p>
                      <a:r>
                        <a:rPr sz="1200" b="0">
                          <a:solidFill>
                            <a:srgbClr val="2B2A28"/>
                          </a:solidFill>
                          <a:latin typeface="Segoe UI"/>
                        </a:rPr>
                        <a:t>2026-11-01</a:t>
                      </a:r>
                    </a:p>
                  </a:txBody>
                  <a:tcPr marL="73152" marR="73152" marT="36576" marB="36576">
                    <a:solidFill>
                      <a:srgbClr val="FFFDF8"/>
                    </a:solidFill>
                  </a:tcPr>
                </a:tc>
                <a:tc>
                  <a:txBody>
                    <a:bodyPr wrap="square"/>
                    <a:lstStyle/>
                    <a:p>
                      <a:r>
                        <a:rPr sz="1200" b="0">
                          <a:solidFill>
                            <a:srgbClr val="2B2A28"/>
                          </a:solidFill>
                          <a:latin typeface="Segoe UI"/>
                        </a:rPr>
                        <a:t>Focus Trail you can read</a:t>
                      </a:r>
                    </a:p>
                    <a:p>
                      <a:r>
                        <a:rPr sz="1200" b="0">
                          <a:solidFill>
                            <a:srgbClr val="2B2A28"/>
                          </a:solidFill>
                          <a:latin typeface="Segoe UI"/>
                        </a:rPr>
                        <a:t>Every bend in your Focus Trail now means something: the trail turns clockwise through the day (direction = time of day), runs straight while you stay in one app and kinks when you switch apps. Grey loops are still distracting time.; Time markers on the trail (08:00, 10:00, 12:00 ... or Mon-Fri in the week view) and a one-line key on every sticker, so friends understand it too.; New 'How to read your trail' strip in the Focus Trail window, and a tip when most of your time counts as neutral: mark your top apps as Productive or Distracting with one click.</a:t>
                      </a:r>
                    </a:p>
                  </a:txBody>
                  <a:tcPr marL="73152" marR="73152" marT="36576" marB="36576">
                    <a:solidFill>
                      <a:srgbClr val="FFFDF8"/>
                    </a:solidFill>
                  </a:tcPr>
                </a:tc>
              </a:tr>
              <a:tr h="822960">
                <a:tc>
                  <a:txBody>
                    <a:bodyPr wrap="square"/>
                    <a:lstStyle/>
                    <a:p>
                      <a:r>
                        <a:rPr sz="1200" b="1">
                          <a:solidFill>
                            <a:srgbClr val="2B2A28"/>
                          </a:solidFill>
                          <a:latin typeface="Segoe UI"/>
                        </a:rPr>
                        <a:t>2.26.1</a:t>
                      </a:r>
                    </a:p>
                  </a:txBody>
                  <a:tcPr marL="73152" marR="73152" marT="36576" marB="36576">
                    <a:solidFill>
                      <a:srgbClr val="F7F4EC"/>
                    </a:solidFill>
                  </a:tcPr>
                </a:tc>
                <a:tc>
                  <a:txBody>
                    <a:bodyPr wrap="square"/>
                    <a:lstStyle/>
                    <a:p>
                      <a:r>
                        <a:rPr sz="1200" b="0">
                          <a:solidFill>
                            <a:srgbClr val="2B2A28"/>
                          </a:solidFill>
                          <a:latin typeface="Segoe UI"/>
                        </a:rPr>
                        <a:t>2026-10-31</a:t>
                      </a:r>
                    </a:p>
                  </a:txBody>
                  <a:tcPr marL="73152" marR="73152" marT="36576" marB="36576">
                    <a:solidFill>
                      <a:srgbClr val="F7F4EC"/>
                    </a:solidFill>
                  </a:tcPr>
                </a:tc>
                <a:tc>
                  <a:txBody>
                    <a:bodyPr wrap="square"/>
                    <a:lstStyle/>
                    <a:p>
                      <a:r>
                        <a:rPr sz="1200" b="0">
                          <a:solidFill>
                            <a:srgbClr val="2B2A28"/>
                          </a:solidFill>
                          <a:latin typeface="Segoe UI"/>
                        </a:rPr>
                        <a:t>Focus Trail follows your focus</a:t>
                      </a:r>
                    </a:p>
                    <a:p>
                      <a:r>
                        <a:rPr sz="1200" b="0">
                          <a:solidFill>
                            <a:srgbClr val="2B2A28"/>
                          </a:solidFill>
                          <a:latin typeface="Segoe UI"/>
                        </a:rPr>
                        <a:t>Your Focus Trail is now shaped by how productive your screen time was: productive time draws long, smooth strides in your colour (the distance you cover), neutral time takes shorter wobbly steps in a lighter shade, and distracting time goes in grey circles on the spot.; A small legend under the trail explains the colours (only the ones that appear that day). In the Neon style, your productive stretches glow.; Tip: mark your work apps as productive and your time-wasters as distracting - the trail (and your score) get much more telling.</a:t>
                      </a:r>
                    </a:p>
                  </a:txBody>
                  <a:tcPr marL="73152" marR="73152" marT="36576" marB="36576">
                    <a:solidFill>
                      <a:srgbClr val="F7F4EC"/>
                    </a:solidFill>
                  </a:tcPr>
                </a:tc>
              </a:tr>
              <a:tr h="822960">
                <a:tc>
                  <a:txBody>
                    <a:bodyPr wrap="square"/>
                    <a:lstStyle/>
                    <a:p>
                      <a:r>
                        <a:rPr sz="1200" b="1">
                          <a:solidFill>
                            <a:srgbClr val="2B2A28"/>
                          </a:solidFill>
                          <a:latin typeface="Segoe UI"/>
                        </a:rPr>
                        <a:t>2.26.0</a:t>
                      </a:r>
                    </a:p>
                  </a:txBody>
                  <a:tcPr marL="73152" marR="73152" marT="36576" marB="36576">
                    <a:solidFill>
                      <a:srgbClr val="FFFDF8"/>
                    </a:solidFill>
                  </a:tcPr>
                </a:tc>
                <a:tc>
                  <a:txBody>
                    <a:bodyPr wrap="square"/>
                    <a:lstStyle/>
                    <a:p>
                      <a:r>
                        <a:rPr sz="1200" b="0">
                          <a:solidFill>
                            <a:srgbClr val="2B2A28"/>
                          </a:solidFill>
                          <a:latin typeface="Segoe UI"/>
                        </a:rPr>
                        <a:t>2026-10-31</a:t>
                      </a:r>
                    </a:p>
                  </a:txBody>
                  <a:tcPr marL="73152" marR="73152" marT="36576" marB="36576">
                    <a:solidFill>
                      <a:srgbClr val="FFFDF8"/>
                    </a:solidFill>
                  </a:tcPr>
                </a:tc>
                <a:tc>
                  <a:txBody>
                    <a:bodyPr wrap="square"/>
                    <a:lstStyle/>
                    <a:p>
                      <a:r>
                        <a:rPr sz="1200" b="0">
                          <a:solidFill>
                            <a:srgbClr val="2B2A28"/>
                          </a:solidFill>
                          <a:latin typeface="Segoe UI"/>
                        </a:rPr>
                        <a:t>Focus Trail</a:t>
                      </a:r>
                    </a:p>
                    <a:p>
                      <a:r>
                        <a:rPr sz="1200" b="0">
                          <a:solidFill>
                            <a:srgbClr val="2B2A28"/>
                          </a:solidFill>
                          <a:latin typeface="Segoe UI"/>
                        </a:rPr>
                        <a:t>New Focus Trail: a Strava-style sticker of your work-hours focus - your day or week drawn as a route, with screen time, productive time and pomodoros.; Open it from the hub: Play -&gt; Games (Focus Trail row) or the Focus Trail button in the Pet Duel arena. Works even with Friends turned off.; 5 styles (Strava, Badge, Minimal, Bars, Neon) and colours. Save the PNG, copy it, or share it to X, LinkedIn, Facebook or Instagram - the sticker is copied so you just paste it.</a:t>
                      </a:r>
                    </a:p>
                  </a:txBody>
                  <a:tcPr marL="73152" marR="73152" marT="36576" marB="36576">
                    <a:solidFill>
                      <a:srgbClr val="FFFDF8"/>
                    </a:solidFill>
                  </a:tcPr>
                </a:tc>
              </a:tr>
              <a:tr h="822960">
                <a:tc>
                  <a:txBody>
                    <a:bodyPr wrap="square"/>
                    <a:lstStyle/>
                    <a:p>
                      <a:r>
                        <a:rPr sz="1200" b="1">
                          <a:solidFill>
                            <a:srgbClr val="2B2A28"/>
                          </a:solidFill>
                          <a:latin typeface="Segoe UI"/>
                        </a:rPr>
                        <a:t>2.25.2</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Updates find you</a:t>
                      </a:r>
                    </a:p>
                    <a:p>
                      <a:r>
                        <a:rPr sz="1200" b="0">
                          <a:solidFill>
                            <a:srgbClr val="2B2A28"/>
                          </a:solidFill>
                          <a:latin typeface="Segoe UI"/>
                        </a:rPr>
                        <a:t>No need to press "Check for updates" anymore - Pips checks by itself every 30 minutes.; When an update is ready, your pet keeps the update bubble on screen until you choose Update now, Later (hides it for an hour) or Skip this version. If another message pushes it away, it comes back a minute later.; "Check for updates automatically" is now switched on for everyone (you can still turn it off in Settings).</a:t>
                      </a:r>
                    </a:p>
                  </a:txBody>
                  <a:tcPr marL="73152" marR="73152" marT="36576" marB="36576">
                    <a:solidFill>
                      <a:srgbClr val="F7F4EC"/>
                    </a:solidFill>
                  </a:tcPr>
                </a:tc>
              </a:tr>
              <a:tr h="822960">
                <a:tc>
                  <a:txBody>
                    <a:bodyPr wrap="square"/>
                    <a:lstStyle/>
                    <a:p>
                      <a:r>
                        <a:rPr sz="1200" b="1">
                          <a:solidFill>
                            <a:srgbClr val="2B2A28"/>
                          </a:solidFill>
                          <a:latin typeface="Segoe UI"/>
                        </a:rPr>
                        <a:t>2.25.1</a:t>
                      </a:r>
                    </a:p>
                  </a:txBody>
                  <a:tcPr marL="73152" marR="73152" marT="36576" marB="36576">
                    <a:solidFill>
                      <a:srgbClr val="FFFDF8"/>
                    </a:solidFill>
                  </a:tcPr>
                </a:tc>
                <a:tc>
                  <a:txBody>
                    <a:bodyPr wrap="square"/>
                    <a:lstStyle/>
                    <a:p>
                      <a:r>
                        <a:rPr sz="1200" b="0">
                          <a:solidFill>
                            <a:srgbClr val="2B2A28"/>
                          </a:solidFill>
                          <a:latin typeface="Segoe UI"/>
                        </a:rPr>
                        <a:t>2026-10-30</a:t>
                      </a:r>
                    </a:p>
                  </a:txBody>
                  <a:tcPr marL="73152" marR="73152" marT="36576" marB="36576">
                    <a:solidFill>
                      <a:srgbClr val="FFFDF8"/>
                    </a:solidFill>
                  </a:tcPr>
                </a:tc>
                <a:tc>
                  <a:txBody>
                    <a:bodyPr wrap="square"/>
                    <a:lstStyle/>
                    <a:p>
                      <a:r>
                        <a:rPr sz="1200" b="0">
                          <a:solidFill>
                            <a:srgbClr val="2B2A28"/>
                          </a:solidFill>
                          <a:latin typeface="Segoe UI"/>
                        </a:rPr>
                        <a:t>Quiet hide</a:t>
                      </a:r>
                    </a:p>
                    <a:p>
                      <a:r>
                        <a:rPr sz="1200" b="0">
                          <a:solidFill>
                            <a:srgbClr val="2B2A28"/>
                          </a:solidFill>
                          <a:latin typeface="Segoe UI"/>
                        </a:rPr>
                        <a:t>Hiding your pet no longer opens the Pomodoro card - the pet just disappears. Bring it back with the tray icon or the shortcut (Ctrl+Alt+P).</a:t>
                      </a:r>
                    </a:p>
                  </a:txBody>
                  <a:tcPr marL="73152" marR="73152" marT="36576" marB="36576">
                    <a:solidFill>
                      <a:srgbClr val="FFFDF8"/>
                    </a:solidFill>
                  </a:tcPr>
                </a:tc>
              </a:tr>
              <a:tr h="822960">
                <a:tc>
                  <a:txBody>
                    <a:bodyPr wrap="square"/>
                    <a:lstStyle/>
                    <a:p>
                      <a:r>
                        <a:rPr sz="1200" b="1">
                          <a:solidFill>
                            <a:srgbClr val="2B2A28"/>
                          </a:solidFill>
                          <a:latin typeface="Segoe UI"/>
                        </a:rPr>
                        <a:t>2.25.0</a:t>
                      </a:r>
                    </a:p>
                  </a:txBody>
                  <a:tcPr marL="73152" marR="73152" marT="36576" marB="36576">
                    <a:solidFill>
                      <a:srgbClr val="F7F4EC"/>
                    </a:solidFill>
                  </a:tcPr>
                </a:tc>
                <a:tc>
                  <a:txBody>
                    <a:bodyPr wrap="square"/>
                    <a:lstStyle/>
                    <a:p>
                      <a:r>
                        <a:rPr sz="1200" b="0">
                          <a:solidFill>
                            <a:srgbClr val="2B2A28"/>
                          </a:solidFill>
                          <a:latin typeface="Segoe UI"/>
                        </a:rPr>
                        <a:t>2026-10-30</a:t>
                      </a:r>
                    </a:p>
                  </a:txBody>
                  <a:tcPr marL="73152" marR="73152" marT="36576" marB="36576">
                    <a:solidFill>
                      <a:srgbClr val="F7F4EC"/>
                    </a:solidFill>
                  </a:tcPr>
                </a:tc>
                <a:tc>
                  <a:txBody>
                    <a:bodyPr wrap="square"/>
                    <a:lstStyle/>
                    <a:p>
                      <a:r>
                        <a:rPr sz="1200" b="0">
                          <a:solidFill>
                            <a:srgbClr val="2B2A28"/>
                          </a:solidFill>
                          <a:latin typeface="Segoe UI"/>
                        </a:rPr>
                        <a:t>Play with friends</a:t>
                      </a:r>
                    </a:p>
                    <a:p>
                      <a:r>
                        <a:rPr sz="1200" b="0">
                          <a:solidFill>
                            <a:srgbClr val="2B2A28"/>
                          </a:solidFill>
                          <a:latin typeface="Segoe UI"/>
                        </a:rPr>
                        <a:t>All 5 minigames can now be played with friends: Hub → Play → Minigames → ＋ New game with friends, pick a game and up to 7 friends (8 players in total).; Everyone gets the same round at the same time (same treats, bugs, cards, pattern and obstacles) after a 3-2-1 countdown, and a live scoreboard shows how your friends are doing. Best score wins the round.; Friends get the invite from their pet (Join / Later) or in the Minigames page. The host can start the next round or switch game in the same room; round wins are counted with a 👑.; While you play a minigame your pet leaves the desktop and jumps into the game window - it plays, watches and cheers (or pouts) inside the game, and walks back onto the desktop when you close it.</a:t>
                      </a:r>
                    </a:p>
                  </a:txBody>
                  <a:tcPr marL="73152" marR="73152" marT="36576" marB="36576">
                    <a:solidFill>
                      <a:srgbClr val="F7F4EC"/>
                    </a:solidFill>
                  </a:tcPr>
                </a:tc>
              </a:tr>
              <a:tr h="822960">
                <a:tc>
                  <a:txBody>
                    <a:bodyPr wrap="square"/>
                    <a:lstStyle/>
                    <a:p>
                      <a:r>
                        <a:rPr sz="1200" b="1">
                          <a:solidFill>
                            <a:srgbClr val="2B2A28"/>
                          </a:solidFill>
                          <a:latin typeface="Segoe UI"/>
                        </a:rPr>
                        <a:t>2.24.2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Auto battle</a:t>
                      </a:r>
                    </a:p>
                    <a:p>
                      <a:r>
                        <a:rPr sz="1200" b="0">
                          <a:solidFill>
                            <a:srgbClr val="2B2A28"/>
                          </a:solidFill>
                          <a:latin typeface="Segoe UI"/>
                        </a:rPr>
                        <a:t>Arena battles can now play themselves: switch on 🤖 Auto (button in the battle, the A key, or the tick box before a fight) and your pet picks its skills - it finishes off a weak opponent, heals when low and saves Focus for long fights.; Prefer to play yourself? Leave Auto off and press the skill buttons (or keys 1-3) as before. You can switch any time, even mid-battle.; Your choice is remembered for the next fight.</a:t>
                      </a:r>
                    </a:p>
                  </a:txBody>
                  <a:tcPr marL="73152" marR="73152" marT="36576" marB="36576">
                    <a:solidFill>
                      <a:srgbClr val="FFFDF8"/>
                    </a:solidFill>
                  </a:tcPr>
                </a:tc>
              </a:tr>
              <a:tr h="822960">
                <a:tc>
                  <a:txBody>
                    <a:bodyPr wrap="square"/>
                    <a:lstStyle/>
                    <a:p>
                      <a:r>
                        <a:rPr sz="1200" b="1">
                          <a:solidFill>
                            <a:srgbClr val="2B2A28"/>
                          </a:solidFill>
                          <a:latin typeface="Segoe UI"/>
                        </a:rPr>
                        <a:t>2.24.1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No more surprise pop-ups</a:t>
                      </a:r>
                    </a:p>
                    <a:p>
                      <a:r>
                        <a:rPr sz="1200" b="0">
                          <a:solidFill>
                            <a:srgbClr val="2B2A28"/>
                          </a:solidFill>
                          <a:latin typeface="Segoe UI"/>
                        </a:rPr>
                        <a:t>Clicking your pet now only tickles it - no window pops up. Double-click the pet to open the hub (or use the right-click menu).; The focus card and the dashboard stay hidden when Pips starts; open them only when you want them.; Prefer the old way? Right-click → Settings → When I click the pet.</a:t>
                      </a:r>
                    </a:p>
                  </a:txBody>
                  <a:tcPr marL="73152" marR="73152" marT="36576" marB="36576">
                    <a:solidFill>
                      <a:srgbClr val="F7F4EC"/>
                    </a:solidFill>
                  </a:tcPr>
                </a:tc>
              </a:tr>
              <a:tr h="822960">
                <a:tc>
                  <a:txBody>
                    <a:bodyPr wrap="square"/>
                    <a:lstStyle/>
                    <a:p>
                      <a:r>
                        <a:rPr sz="1200" b="1">
                          <a:solidFill>
                            <a:srgbClr val="2B2A28"/>
                          </a:solidFill>
                          <a:latin typeface="Segoe UI"/>
                        </a:rPr>
                        <a:t>2.24.0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Skill battles, minigames &amp; a simpler Hub</a:t>
                      </a:r>
                    </a:p>
                    <a:p>
                      <a:r>
                        <a:rPr sz="1200" b="0">
                          <a:solidFill>
                            <a:srgbClr val="2B2A28"/>
                          </a:solidFill>
                          <a:latin typeface="Segoe UI"/>
                        </a:rPr>
                        <a:t>Arena battles are now turn-based: before a fight compare both pets' stats (level + gear), pick 3 skills, and the challenger chooses best of 1, 3 or 5 rounds. Take turns until one pet is knocked out - new skills unlock as you level up and with weapons and gadgets.; 5 new minigames to play with your pet: Treat Catch, Bonk the Bugs, Memory Match, Pet Says and Hop Hop. Best scores are saved and great scores earn a few coins (right-click → Games, or Hub → Play).; The Hub is simpler: 5 tabs - Friends, Chat (messages + groups), Play (arena, minigames, ranks), Shop and Me (profile + achievements).</a:t>
                      </a:r>
                    </a:p>
                  </a:txBody>
                  <a:tcPr marL="73152" marR="73152" marT="36576" marB="36576">
                    <a:solidFill>
                      <a:srgbClr val="FFFDF8"/>
                    </a:solidFill>
                  </a:tcPr>
                </a:tc>
              </a:tr>
              <a:tr h="822960">
                <a:tc>
                  <a:txBody>
                    <a:bodyPr wrap="square"/>
                    <a:lstStyle/>
                    <a:p>
                      <a:r>
                        <a:rPr sz="1200" b="1">
                          <a:solidFill>
                            <a:srgbClr val="2B2A28"/>
                          </a:solidFill>
                          <a:latin typeface="Segoe UI"/>
                        </a:rPr>
                        <a:t>2.23.0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Weather on your desktop</a:t>
                      </a:r>
                    </a:p>
                    <a:p>
                      <a:r>
                        <a:rPr sz="1200" b="0">
                          <a:solidFill>
                            <a:srgbClr val="2B2A28"/>
                          </a:solidFill>
                          <a:latin typeface="Segoe UI"/>
                        </a:rPr>
                        <a:t>Your pet now shows the live weather right on your desktop: its own little rain cloud with an umbrella when it rains, a dark storm cloud with lightning, snow piling up at its feet, the sun, the moon and twinkling stars at night, drifting fog and leaves blowing in the wind. Prefer more? Switch the animation to the whole screen - or turn it off.; New right-click menu → Weather &amp; location: Follow my exact location (Windows location; a laptop is followed as you move), Approximate (from your internet connection), or Pick a place - search a city or paste exact coordinates from Google Maps. The pet tells you when the weather changes.; Works without Pips Friends (weather from Open-Meteo, no account needed). With Friends on, your profile city follows you too - but a city you hid stays hidden. If Windows location is turned off on your PC, Pips explains how to turn it on and uses your internet location meanwhile.</a:t>
                      </a:r>
                    </a:p>
                  </a:txBody>
                  <a:tcPr marL="73152" marR="73152" marT="36576" marB="36576">
                    <a:solidFill>
                      <a:srgbClr val="F7F4EC"/>
                    </a:solidFill>
                  </a:tcPr>
                </a:tc>
              </a:tr>
              <a:tr h="822960">
                <a:tc>
                  <a:txBody>
                    <a:bodyPr wrap="square"/>
                    <a:lstStyle/>
                    <a:p>
                      <a:r>
                        <a:rPr sz="1200" b="1">
                          <a:solidFill>
                            <a:srgbClr val="2B2A28"/>
                          </a:solidFill>
                          <a:latin typeface="Segoe UI"/>
                        </a:rPr>
                        <a:t>2.22.0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Sing &amp; dance with music</a:t>
                      </a:r>
                    </a:p>
                    <a:p>
                      <a:r>
                        <a:rPr sz="1200" b="0">
                          <a:solidFill>
                            <a:srgbClr val="2B2A28"/>
                          </a:solidFill>
                          <a:latin typeface="Segoe UI"/>
                        </a:rPr>
                        <a:t>Sing, Dance, Moonwalk, Breakdance, Yoga, Rain dance and the show tricks now play real music. When your pet sings, it sings the melody in its own voice - a cat meows the tune, a frog ribbits it, a whale hums it - and when it dances, its animal call joins the beat.; Pick the song: right-click → Do a trick → Song for sing &amp; dance. Choose your animal's own song (every one of the 51 animals has its own tune), the song for its type (Meadow Hoedown for land, Ocean Calypso for water, Cloud Waltz for sky), Happy Pop, Disco Night, 8-bit Adventure, Lullaby, Lo-fi Chill, any other animal's song, Surprise me or No music.; Songs follow your sound settings (volume, sounds off, quiet during focus) and stop as soon as the trick is interrupted. Tricks your pet does by itself stay quiet.</a:t>
                      </a:r>
                    </a:p>
                  </a:txBody>
                  <a:tcPr marL="73152" marR="73152" marT="36576" marB="36576">
                    <a:solidFill>
                      <a:srgbClr val="FFFDF8"/>
                    </a:solidFill>
                  </a:tcPr>
                </a:tc>
              </a:tr>
              <a:tr h="822960">
                <a:tc>
                  <a:txBody>
                    <a:bodyPr wrap="square"/>
                    <a:lstStyle/>
                    <a:p>
                      <a:r>
                        <a:rPr sz="1200" b="1">
                          <a:solidFill>
                            <a:srgbClr val="2B2A28"/>
                          </a:solidFill>
                          <a:latin typeface="Segoe UI"/>
                        </a:rPr>
                        <a:t>2.21.0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Every animal has a voice</a:t>
                      </a:r>
                    </a:p>
                    <a:p>
                      <a:r>
                        <a:rPr sz="1200" b="0">
                          <a:solidFill>
                            <a:srgbClr val="2B2A28"/>
                          </a:solidFill>
                          <a:latin typeface="Segoe UI"/>
                        </a:rPr>
                        <a:t>All 51 animals now have their own sound. Before, more than half of them borrowed the cat's meow - now the dog woofs, the cow moos, the sheep baas, the lion roars, the duck quacks, the dolphin clicks and whistles, the dragon flaps and roars with a puff of fire, the ghost goes wooo... and so on.; Every mood sounds different too: happy, sad, sleepy, hungry or grumpy. Petting, eating and snoring sound right for each kind of animal - furry ones purr and crunch, birds trill and peck, sea animals blow bubbles, bugs hum and magic pets chime.; A friend's pet that comes to visit now talks in its own voice: it says hi when it arrives and answers when you wave, pet it or give it a snack (it follows your sound settings).</a:t>
                      </a:r>
                    </a:p>
                  </a:txBody>
                  <a:tcPr marL="73152" marR="73152" marT="36576" marB="36576">
                    <a:solidFill>
                      <a:srgbClr val="F7F4EC"/>
                    </a:solidFill>
                  </a:tcPr>
                </a:tc>
              </a:tr>
              <a:tr h="822960">
                <a:tc>
                  <a:txBody>
                    <a:bodyPr wrap="square"/>
                    <a:lstStyle/>
                    <a:p>
                      <a:r>
                        <a:rPr sz="1200" b="1">
                          <a:solidFill>
                            <a:srgbClr val="2B2A28"/>
                          </a:solidFill>
                          <a:latin typeface="Segoe UI"/>
                        </a:rPr>
                        <a:t>2.20.0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Come over</a:t>
                      </a:r>
                    </a:p>
                    <a:p>
                      <a:r>
                        <a:rPr sz="1200" b="0">
                          <a:solidFill>
                            <a:srgbClr val="2B2A28"/>
                          </a:solidFill>
                          <a:latin typeface="Segoe UI"/>
                        </a:rPr>
                        <a:t>When a friend's pet comes over it now wears a name tag: your friend's name (or the nickname you gave them), ♂/♀ and an online dot. It walks up to your pet, says hi, and looks at your mouse when you point at it.; Point at the visitor (or click its name tag) to open its card: whose pet it is, level, how close you two are, and buttons to wave, pet it, give it a snack, visit back or chat. It reacts to everything - hearts, crumbs, happy faces - and your friend sees it too.; Rub your mouse over the visitor to pet it. Playing with it makes it stay longer, and your pet comes down from a window or the sky to meet it.</a:t>
                      </a:r>
                    </a:p>
                  </a:txBody>
                  <a:tcPr marL="73152" marR="73152" marT="36576" marB="36576">
                    <a:solidFill>
                      <a:srgbClr val="FFFDF8"/>
                    </a:solidFill>
                  </a:tcPr>
                </a:tc>
              </a:tr>
              <a:tr h="822960">
                <a:tc>
                  <a:txBody>
                    <a:bodyPr wrap="square"/>
                    <a:lstStyle/>
                    <a:p>
                      <a:r>
                        <a:rPr sz="1200" b="1">
                          <a:solidFill>
                            <a:srgbClr val="2B2A28"/>
                          </a:solidFill>
                          <a:latin typeface="Segoe UI"/>
                        </a:rPr>
                        <a:t>2.19.0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Land, sea &amp; sky</a:t>
                      </a:r>
                    </a:p>
                    <a:p>
                      <a:r>
                        <a:rPr sz="1200" b="0">
                          <a:solidFill>
                            <a:srgbClr val="2B2A28"/>
                          </a:solidFill>
                          <a:latin typeface="Segoe UI"/>
                        </a:rPr>
                        <a:t>Land animals walk on the taskbar and on top of your open windows now: they jump up onto window edges, walk along them, ride along when you move the window and hop down when it closes, gets covered or is maximised. They always have gravity - let go of one in mid-air and it lands on the window below or on the taskbar.; Water animals swim along the taskbar (their water) and every now and then leap high out of it in a big arc, diving back in with a splash, ripples and spray. Drop one anywhere and it dives back into the water.; Flying animals fly anywhere on the screen: they flutter from place to place, hover, come say hi near your mouse, and sometimes perch on the taskbar or a window edge for a rest. Point at one and it waits for you; they glide down to a perch before a nap.; New menu moves: Jump onto a window, Splash jump!, Fly around / Rest on the taskbar. "Move around by myself" in Pet settings keeps your pet still if you prefer (the old Gravity option is gone - land animals always fall now).</a:t>
                      </a:r>
                    </a:p>
                  </a:txBody>
                  <a:tcPr marL="73152" marR="73152" marT="36576" marB="36576">
                    <a:solidFill>
                      <a:srgbClr val="F7F4EC"/>
                    </a:solidFill>
                  </a:tcPr>
                </a:tc>
              </a:tr>
              <a:tr h="822960">
                <a:tc>
                  <a:txBody>
                    <a:bodyPr wrap="square"/>
                    <a:lstStyle/>
                    <a:p>
                      <a:r>
                        <a:rPr sz="1200" b="1">
                          <a:solidFill>
                            <a:srgbClr val="2B2A28"/>
                          </a:solidFill>
                          <a:latin typeface="Segoe UI"/>
                        </a:rPr>
                        <a:t>2.18.0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Raise your pet</a:t>
                      </a:r>
                    </a:p>
                    <a:p>
                      <a:r>
                        <a:rPr sz="1200" b="0">
                          <a:solidFill>
                            <a:srgbClr val="2B2A28"/>
                          </a:solidFill>
                          <a:latin typeface="Segoe UI"/>
                        </a:rPr>
                        <a:t>Boy or girl? Pick your pet's gender in Settings: boys get a little hair tuft, girls a pink bow and eyelashes, and a ♂ / ♀ shows next to its name. You can add your own gender to your profile too - friends see a small ♂ / ♀ next to your name.; Pets grow up now: baby → child → teen → grown-up. Focus sessions, opening Pips each day, games and cuddles help them grow - no care mistakes, no bad endings. Already have a grown-up pet? It will ask whether you'd like to raise it again from a baby (coins, items and stats stay).; Sick days: work 2.5 hours without a 5-minute break and your pet catches a little cold (sneezes, thermometer, slow steps). A short break cures it - or give medicine from the menu. You can turn this off in Settings.; New mini-game Left or Right? (pet menu → Play): guess which way your pet will look - 3 out of 5 wins, with coins for your first wins each day.</a:t>
                      </a:r>
                    </a:p>
                  </a:txBody>
                  <a:tcPr marL="73152" marR="73152" marT="36576" marB="36576">
                    <a:solidFill>
                      <a:srgbClr val="FFFDF8"/>
                    </a:solidFill>
                  </a:tcPr>
                </a:tc>
              </a:tr>
              <a:tr h="822960">
                <a:tc>
                  <a:txBody>
                    <a:bodyPr wrap="square"/>
                    <a:lstStyle/>
                    <a:p>
                      <a:r>
                        <a:rPr sz="1200" b="1">
                          <a:solidFill>
                            <a:srgbClr val="2B2A28"/>
                          </a:solidFill>
                          <a:latin typeface="Segoe UI"/>
                        </a:rPr>
                        <a:t>2.17.0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Find your pet anytime</a:t>
                      </a:r>
                    </a:p>
                    <a:p>
                      <a:r>
                        <a:rPr sz="1200" b="0">
                          <a:solidFill>
                            <a:srgbClr val="2B2A28"/>
                          </a:solidFill>
                          <a:latin typeface="Segoe UI"/>
                        </a:rPr>
                        <a:t>Pips now has an icon next to the clock: click it to bring your pet back; right-click for the focus timer, Friends &amp; chat or Quit.; Press Ctrl+Alt+P anywhere to call your pet - it pops up on the screen you're using, even if it was hidden, asleep or behind a fullscreen app.; Opening Pips again from the Start menu or desktop does the same, and your pet walks back by itself if it ever ends up off-screen (e.g. after unplugging a monitor).; Hiding your pet now tells you how to bring it back.</a:t>
                      </a:r>
                    </a:p>
                  </a:txBody>
                  <a:tcPr marL="73152" marR="73152" marT="36576" marB="36576">
                    <a:solidFill>
                      <a:srgbClr val="F7F4EC"/>
                    </a:solidFill>
                  </a:tcPr>
                </a:tc>
              </a:tr>
              <a:tr h="822960">
                <a:tc>
                  <a:txBody>
                    <a:bodyPr wrap="square"/>
                    <a:lstStyle/>
                    <a:p>
                      <a:r>
                        <a:rPr sz="1200" b="1">
                          <a:solidFill>
                            <a:srgbClr val="2B2A28"/>
                          </a:solidFill>
                          <a:latin typeface="Segoe UI"/>
                        </a:rPr>
                        <a:t>2.16.0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Pips Community</a:t>
                      </a:r>
                    </a:p>
                    <a:p>
                      <a:r>
                        <a:rPr sz="1200" b="0">
                          <a:solidFill>
                            <a:srgbClr val="2B2A28"/>
                          </a:solidFill>
                          <a:latin typeface="Segoe UI"/>
                        </a:rPr>
                        <a:t>New Pips Community at the top of the Chat tab: a #general channel to chat with everyone who uses Pips, plus #announcements with news from the Pips team.; Every new Pips version is announced there automatically - see what's new and update with one click.; Type @name to ping someone in #general. Mute #general any time; owner and moderators can remove messages.; Open it from your pet's menu too (Pips Community). Fixed: chats no longer clear what you're typing when Pips refreshes in the background.</a:t>
                      </a:r>
                    </a:p>
                  </a:txBody>
                  <a:tcPr marL="73152" marR="73152" marT="36576" marB="36576">
                    <a:solidFill>
                      <a:srgbClr val="FFFDF8"/>
                    </a:solidFill>
                  </a:tcPr>
                </a:tc>
              </a:tr>
              <a:tr h="822960">
                <a:tc>
                  <a:txBody>
                    <a:bodyPr wrap="square"/>
                    <a:lstStyle/>
                    <a:p>
                      <a:r>
                        <a:rPr sz="1200" b="1">
                          <a:solidFill>
                            <a:srgbClr val="2B2A28"/>
                          </a:solidFill>
                          <a:latin typeface="Segoe UI"/>
                        </a:rPr>
                        <a:t>2.15.0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7F4EC"/>
                    </a:solidFill>
                  </a:tcPr>
                </a:tc>
              </a:tr>
              <a:tr h="822960">
                <a:tc>
                  <a:txBody>
                    <a:bodyPr wrap="square"/>
                    <a:lstStyle/>
                    <a:p>
                      <a:r>
                        <a:rPr sz="1200" b="1">
                          <a:solidFill>
                            <a:srgbClr val="2B2A28"/>
                          </a:solidFill>
                          <a:latin typeface="Segoe UI"/>
                        </a:rPr>
                        <a:t>2.14.3</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FFDF8"/>
                    </a:solidFill>
                  </a:tcPr>
                </a:tc>
              </a:tr>
              <a:tr h="822960">
                <a:tc>
                  <a:txBody>
                    <a:bodyPr wrap="square"/>
                    <a:lstStyle/>
                    <a:p>
                      <a:r>
                        <a:rPr sz="1200" b="1">
                          <a:solidFill>
                            <a:srgbClr val="2B2A28"/>
                          </a:solidFill>
                          <a:latin typeface="Segoe UI"/>
                        </a:rPr>
                        <a:t>2.14.2</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7F4EC"/>
                    </a:solidFill>
                  </a:tcPr>
                </a:tc>
              </a:tr>
              <a:tr h="822960">
                <a:tc>
                  <a:txBody>
                    <a:bodyPr wrap="square"/>
                    <a:lstStyle/>
                    <a:p>
                      <a:r>
                        <a:rPr sz="1200" b="1">
                          <a:solidFill>
                            <a:srgbClr val="2B2A28"/>
                          </a:solidFill>
                          <a:latin typeface="Segoe UI"/>
                        </a:rPr>
                        <a:t>2.14.1</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FFDF8"/>
                    </a:solidFill>
                  </a:tcPr>
                </a:tc>
              </a:tr>
              <a:tr h="822960">
                <a:tc>
                  <a:txBody>
                    <a:bodyPr wrap="square"/>
                    <a:lstStyle/>
                    <a:p>
                      <a:r>
                        <a:rPr sz="1200" b="1">
                          <a:solidFill>
                            <a:srgbClr val="2B2A28"/>
                          </a:solidFill>
                          <a:latin typeface="Segoe UI"/>
                        </a:rPr>
                        <a:t>2.14.0</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7F4EC"/>
                    </a:solidFill>
                  </a:tcPr>
                </a:tc>
              </a:tr>
              <a:tr h="822960">
                <a:tc>
                  <a:txBody>
                    <a:bodyPr wrap="square"/>
                    <a:lstStyle/>
                    <a:p>
                      <a:r>
                        <a:rPr sz="1200" b="1">
                          <a:solidFill>
                            <a:srgbClr val="2B2A28"/>
                          </a:solidFill>
                          <a:latin typeface="Segoe UI"/>
                        </a:rPr>
                        <a:t>2.13.1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FFDF8"/>
                    </a:solidFill>
                  </a:tcPr>
                </a:tc>
              </a:tr>
              <a:tr h="822960">
                <a:tc>
                  <a:txBody>
                    <a:bodyPr wrap="square"/>
                    <a:lstStyle/>
                    <a:p>
                      <a:r>
                        <a:rPr sz="1200" b="1">
                          <a:solidFill>
                            <a:srgbClr val="2B2A28"/>
                          </a:solidFill>
                          <a:latin typeface="Segoe UI"/>
                        </a:rPr>
                        <a:t>2.13.0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7F4EC"/>
                    </a:solidFill>
                  </a:tcPr>
                </a:tc>
              </a:tr>
              <a:tr h="822960">
                <a:tc>
                  <a:txBody>
                    <a:bodyPr wrap="square"/>
                    <a:lstStyle/>
                    <a:p>
                      <a:r>
                        <a:rPr sz="1200" b="1">
                          <a:solidFill>
                            <a:srgbClr val="2B2A28"/>
                          </a:solidFill>
                          <a:latin typeface="Segoe UI"/>
                        </a:rPr>
                        <a:t>2.12.0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FFDF8"/>
                    </a:solidFill>
                  </a:tcPr>
                </a:tc>
              </a:tr>
              <a:tr h="822960">
                <a:tc>
                  <a:txBody>
                    <a:bodyPr wrap="square"/>
                    <a:lstStyle/>
                    <a:p>
                      <a:r>
                        <a:rPr sz="1200" b="1">
                          <a:solidFill>
                            <a:srgbClr val="2B2A28"/>
                          </a:solidFill>
                          <a:latin typeface="Segoe UI"/>
                        </a:rPr>
                        <a:t>2.11.0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7F4EC"/>
                    </a:solidFill>
                  </a:tcPr>
                </a:tc>
              </a:tr>
              <a:tr h="822960">
                <a:tc>
                  <a:txBody>
                    <a:bodyPr wrap="square"/>
                    <a:lstStyle/>
                    <a:p>
                      <a:r>
                        <a:rPr sz="1200" b="1">
                          <a:solidFill>
                            <a:srgbClr val="2B2A28"/>
                          </a:solidFill>
                          <a:latin typeface="Segoe UI"/>
                        </a:rPr>
                        <a:t>2.10.0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FFDF8"/>
                    </a:solidFill>
                  </a:tcPr>
                </a:tc>
              </a:tr>
              <a:tr h="822960">
                <a:tc>
                  <a:txBody>
                    <a:bodyPr wrap="square"/>
                    <a:lstStyle/>
                    <a:p>
                      <a:r>
                        <a:rPr sz="1200" b="1">
                          <a:solidFill>
                            <a:srgbClr val="2B2A28"/>
                          </a:solidFill>
                          <a:latin typeface="Segoe UI"/>
                        </a:rPr>
                        <a:t>2.9.0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7F4EC"/>
                    </a:solidFill>
                  </a:tcPr>
                </a:tc>
              </a:tr>
              <a:tr h="822960">
                <a:tc>
                  <a:txBody>
                    <a:bodyPr wrap="square"/>
                    <a:lstStyle/>
                    <a:p>
                      <a:r>
                        <a:rPr sz="1200" b="1">
                          <a:solidFill>
                            <a:srgbClr val="2B2A28"/>
                          </a:solidFill>
                          <a:latin typeface="Segoe UI"/>
                        </a:rPr>
                        <a:t>2.8.0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FFDF8"/>
                    </a:solidFill>
                  </a:tcPr>
                </a:tc>
              </a:tr>
              <a:tr h="822960">
                <a:tc>
                  <a:txBody>
                    <a:bodyPr wrap="square"/>
                    <a:lstStyle/>
                    <a:p>
                      <a:r>
                        <a:rPr sz="1200" b="1">
                          <a:solidFill>
                            <a:srgbClr val="2B2A28"/>
                          </a:solidFill>
                          <a:latin typeface="Segoe UI"/>
                        </a:rPr>
                        <a:t>2.7.0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7F4EC"/>
                    </a:solidFill>
                  </a:tcPr>
                </a:tc>
              </a:tr>
              <a:tr h="822960">
                <a:tc>
                  <a:txBody>
                    <a:bodyPr wrap="square"/>
                    <a:lstStyle/>
                    <a:p>
                      <a:r>
                        <a:rPr sz="1200" b="1">
                          <a:solidFill>
                            <a:srgbClr val="2B2A28"/>
                          </a:solidFill>
                          <a:latin typeface="Segoe UI"/>
                        </a:rPr>
                        <a:t>2.6.1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FFDF8"/>
                    </a:solidFill>
                  </a:tcPr>
                </a:tc>
              </a:tr>
              <a:tr h="822960">
                <a:tc>
                  <a:txBody>
                    <a:bodyPr wrap="square"/>
                    <a:lstStyle/>
                    <a:p>
                      <a:r>
                        <a:rPr sz="1200" b="1">
                          <a:solidFill>
                            <a:srgbClr val="2B2A28"/>
                          </a:solidFill>
                          <a:latin typeface="Segoe UI"/>
                        </a:rPr>
                        <a:t>2.6.0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7F4EC"/>
                    </a:solidFill>
                  </a:tcPr>
                </a:tc>
              </a:tr>
              <a:tr h="822960">
                <a:tc>
                  <a:txBody>
                    <a:bodyPr wrap="square"/>
                    <a:lstStyle/>
                    <a:p>
                      <a:r>
                        <a:rPr sz="1200" b="1">
                          <a:solidFill>
                            <a:srgbClr val="2B2A28"/>
                          </a:solidFill>
                          <a:latin typeface="Segoe UI"/>
                        </a:rPr>
                        <a:t>2.5.1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FFDF8"/>
                    </a:solidFill>
                  </a:tcPr>
                </a:tc>
              </a:tr>
              <a:tr h="822960">
                <a:tc>
                  <a:txBody>
                    <a:bodyPr wrap="square"/>
                    <a:lstStyle/>
                    <a:p>
                      <a:r>
                        <a:rPr sz="1200" b="1">
                          <a:solidFill>
                            <a:srgbClr val="2B2A28"/>
                          </a:solidFill>
                          <a:latin typeface="Segoe UI"/>
                        </a:rPr>
                        <a:t>2.5.0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7F4EC"/>
                    </a:solidFill>
                  </a:tcPr>
                </a:tc>
              </a:tr>
              <a:tr h="822960">
                <a:tc>
                  <a:txBody>
                    <a:bodyPr wrap="square"/>
                    <a:lstStyle/>
                    <a:p>
                      <a:r>
                        <a:rPr sz="1200" b="1">
                          <a:solidFill>
                            <a:srgbClr val="2B2A28"/>
                          </a:solidFill>
                          <a:latin typeface="Segoe UI"/>
                        </a:rPr>
                        <a:t>2.4.0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FFDF8"/>
                    </a:solidFill>
                  </a:tcPr>
                </a:tc>
              </a:tr>
              <a:tr h="822960">
                <a:tc>
                  <a:txBody>
                    <a:bodyPr wrap="square"/>
                    <a:lstStyle/>
                    <a:p>
                      <a:r>
                        <a:rPr sz="1200" b="1">
                          <a:solidFill>
                            <a:srgbClr val="2B2A28"/>
                          </a:solidFill>
                          <a:latin typeface="Segoe UI"/>
                        </a:rPr>
                        <a:t>2.3.0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7F4EC"/>
                    </a:solidFill>
                  </a:tcPr>
                </a:tc>
              </a:tr>
              <a:tr h="822960">
                <a:tc>
                  <a:txBody>
                    <a:bodyPr wrap="square"/>
                    <a:lstStyle/>
                    <a:p>
                      <a:r>
                        <a:rPr sz="1200" b="1">
                          <a:solidFill>
                            <a:srgbClr val="2B2A28"/>
                          </a:solidFill>
                          <a:latin typeface="Segoe UI"/>
                        </a:rPr>
                        <a:t>2.2.0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FFDF8"/>
                    </a:solidFill>
                  </a:tcPr>
                </a:tc>
              </a:tr>
              <a:tr h="822960">
                <a:tc>
                  <a:txBody>
                    <a:bodyPr wrap="square"/>
                    <a:lstStyle/>
                    <a:p>
                      <a:r>
                        <a:rPr sz="1200" b="1">
                          <a:solidFill>
                            <a:srgbClr val="2B2A28"/>
                          </a:solidFill>
                          <a:latin typeface="Segoe UI"/>
                        </a:rPr>
                        <a:t>2.1.2</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7F4EC"/>
                    </a:solidFill>
                  </a:tcPr>
                </a:tc>
              </a:tr>
              <a:tr h="822960">
                <a:tc>
                  <a:txBody>
                    <a:bodyPr wrap="square"/>
                    <a:lstStyle/>
                    <a:p>
                      <a:r>
                        <a:rPr sz="1200" b="1">
                          <a:solidFill>
                            <a:srgbClr val="2B2A28"/>
                          </a:solidFill>
                          <a:latin typeface="Segoe UI"/>
                        </a:rPr>
                        <a:t>2.1.1</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FFDF8"/>
                    </a:solidFill>
                  </a:tcPr>
                </a:tc>
              </a:tr>
              <a:tr h="822960">
                <a:tc>
                  <a:txBody>
                    <a:bodyPr wrap="square"/>
                    <a:lstStyle/>
                    <a:p>
                      <a:r>
                        <a:rPr sz="1200" b="1">
                          <a:solidFill>
                            <a:srgbClr val="2B2A28"/>
                          </a:solidFill>
                          <a:latin typeface="Segoe UI"/>
                        </a:rPr>
                        <a:t>2.1.0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7F4EC"/>
                    </a:solidFill>
                  </a:tcPr>
                </a:tc>
              </a:tr>
              <a:tr h="822960">
                <a:tc>
                  <a:txBody>
                    <a:bodyPr wrap="square"/>
                    <a:lstStyle/>
                    <a:p>
                      <a:r>
                        <a:rPr sz="1200" b="1">
                          <a:solidFill>
                            <a:srgbClr val="2B2A28"/>
                          </a:solidFill>
                          <a:latin typeface="Segoe UI"/>
                        </a:rPr>
                        <a:t>2.0.0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FFDF8"/>
                    </a:solidFill>
                  </a:tcPr>
                </a:tc>
              </a:tr>
              <a:tr h="822960">
                <a:tc>
                  <a:txBody>
                    <a:bodyPr wrap="square"/>
                    <a:lstStyle/>
                    <a:p>
                      <a:r>
                        <a:rPr sz="1200" b="1">
                          <a:solidFill>
                            <a:srgbClr val="2B2A28"/>
                          </a:solidFill>
                          <a:latin typeface="Segoe UI"/>
                        </a:rPr>
                        <a:t>1.5.0</a:t>
                      </a:r>
                    </a:p>
                  </a:txBody>
                  <a:tcPr marL="73152" marR="73152" marT="36576" marB="36576">
                    <a:solidFill>
                      <a:srgbClr val="F7F4EC"/>
                    </a:solidFill>
                  </a:tcPr>
                </a:tc>
                <a:tc>
                  <a:txBody>
                    <a:bodyPr wrap="square"/>
                    <a:lstStyle/>
                    <a:p>
                      <a:r>
                        <a:rPr sz="1200" b="0">
                          <a:solidFill>
                            <a:srgbClr val="2B2A28"/>
                          </a:solidFill>
                          <a:latin typeface="Segoe UI"/>
                        </a:rPr>
                        <a:t>2026-10-24</a:t>
                      </a:r>
                    </a:p>
                  </a:txBody>
                  <a:tcPr marL="73152" marR="73152" marT="36576" marB="36576">
                    <a:solidFill>
                      <a:srgbClr val="F7F4EC"/>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7F4EC"/>
                    </a:solidFill>
                  </a:tcPr>
                </a:tc>
              </a:tr>
              <a:tr h="822960">
                <a:tc>
                  <a:txBody>
                    <a:bodyPr wrap="square"/>
                    <a:lstStyle/>
                    <a:p>
                      <a:r>
                        <a:rPr sz="1200" b="1">
                          <a:solidFill>
                            <a:srgbClr val="2B2A28"/>
                          </a:solidFill>
                          <a:latin typeface="Segoe UI"/>
                        </a:rPr>
                        <a:t>1.0.0</a:t>
                      </a:r>
                    </a:p>
                  </a:txBody>
                  <a:tcPr marL="73152" marR="73152" marT="36576" marB="36576">
                    <a:solidFill>
                      <a:srgbClr val="FFFDF8"/>
                    </a:solidFill>
                  </a:tcPr>
                </a:tc>
                <a:tc>
                  <a:txBody>
                    <a:bodyPr wrap="square"/>
                    <a:lstStyle/>
                    <a:p>
                      <a:r>
                        <a:rPr sz="1200" b="0">
                          <a:solidFill>
                            <a:srgbClr val="2B2A28"/>
                          </a:solidFill>
                          <a:latin typeface="Segoe UI"/>
                        </a:rPr>
                        <a:t>2026-10-21</a:t>
                      </a:r>
                    </a:p>
                  </a:txBody>
                  <a:tcPr marL="73152" marR="73152" marT="36576" marB="36576">
                    <a:solidFill>
                      <a:srgbClr val="FFFDF8"/>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2.27.0 -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